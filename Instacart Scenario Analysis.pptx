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4" autoAdjust="0"/>
    <p:restoredTop sz="94610"/>
  </p:normalViewPr>
  <p:slideViewPr>
    <p:cSldViewPr snapToGrid="0" snapToObjects="1">
      <p:cViewPr>
        <p:scale>
          <a:sx n="153" d="100"/>
          <a:sy n="153" d="100"/>
        </p:scale>
        <p:origin x="168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Zimmerman-Gibson, Joshua (Virginia Beach)" userId="d08658ba-7f2c-4f82-b12e-30c210e6c7f4" providerId="ADAL" clId="{B7577925-A160-4B5F-A00D-882CCE4A7982}"/>
    <pc:docChg chg="custSel modSld">
      <pc:chgData name="VB-Zimmerman-Gibson, Joshua (Virginia Beach)" userId="d08658ba-7f2c-4f82-b12e-30c210e6c7f4" providerId="ADAL" clId="{B7577925-A160-4B5F-A00D-882CCE4A7982}" dt="2026-06-11T23:03:53.551" v="155" actId="1076"/>
      <pc:docMkLst>
        <pc:docMk/>
      </pc:docMkLst>
      <pc:sldChg chg="delSp modSp mod">
        <pc:chgData name="VB-Zimmerman-Gibson, Joshua (Virginia Beach)" userId="d08658ba-7f2c-4f82-b12e-30c210e6c7f4" providerId="ADAL" clId="{B7577925-A160-4B5F-A00D-882CCE4A7982}" dt="2026-06-11T22:59:14.342" v="69" actId="478"/>
        <pc:sldMkLst>
          <pc:docMk/>
          <pc:sldMk cId="0" sldId="257"/>
        </pc:sldMkLst>
        <pc:spChg chg="del">
          <ac:chgData name="VB-Zimmerman-Gibson, Joshua (Virginia Beach)" userId="d08658ba-7f2c-4f82-b12e-30c210e6c7f4" providerId="ADAL" clId="{B7577925-A160-4B5F-A00D-882CCE4A7982}" dt="2026-06-11T22:59:14.342" v="69" actId="478"/>
          <ac:spMkLst>
            <pc:docMk/>
            <pc:sldMk cId="0" sldId="257"/>
            <ac:spMk id="49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2:59:12.990" v="68" actId="478"/>
          <ac:spMkLst>
            <pc:docMk/>
            <pc:sldMk cId="0" sldId="257"/>
            <ac:spMk id="50" creationId="{00000000-0000-0000-0000-000000000000}"/>
          </ac:spMkLst>
        </pc:spChg>
      </pc:sldChg>
      <pc:sldChg chg="delSp modSp mod">
        <pc:chgData name="VB-Zimmerman-Gibson, Joshua (Virginia Beach)" userId="d08658ba-7f2c-4f82-b12e-30c210e6c7f4" providerId="ADAL" clId="{B7577925-A160-4B5F-A00D-882CCE4A7982}" dt="2026-06-11T22:59:43.558" v="71" actId="478"/>
        <pc:sldMkLst>
          <pc:docMk/>
          <pc:sldMk cId="0" sldId="259"/>
        </pc:sldMkLst>
        <pc:spChg chg="del mod">
          <ac:chgData name="VB-Zimmerman-Gibson, Joshua (Virginia Beach)" userId="d08658ba-7f2c-4f82-b12e-30c210e6c7f4" providerId="ADAL" clId="{B7577925-A160-4B5F-A00D-882CCE4A7982}" dt="2026-06-11T22:59:43.558" v="71" actId="478"/>
          <ac:spMkLst>
            <pc:docMk/>
            <pc:sldMk cId="0" sldId="259"/>
            <ac:spMk id="54" creationId="{00000000-0000-0000-0000-000000000000}"/>
          </ac:spMkLst>
        </pc:spChg>
      </pc:sldChg>
      <pc:sldChg chg="delSp modSp mod">
        <pc:chgData name="VB-Zimmerman-Gibson, Joshua (Virginia Beach)" userId="d08658ba-7f2c-4f82-b12e-30c210e6c7f4" providerId="ADAL" clId="{B7577925-A160-4B5F-A00D-882CCE4A7982}" dt="2026-06-11T23:00:06.942" v="73" actId="478"/>
        <pc:sldMkLst>
          <pc:docMk/>
          <pc:sldMk cId="0" sldId="260"/>
        </pc:sldMkLst>
        <pc:spChg chg="del">
          <ac:chgData name="VB-Zimmerman-Gibson, Joshua (Virginia Beach)" userId="d08658ba-7f2c-4f82-b12e-30c210e6c7f4" providerId="ADAL" clId="{B7577925-A160-4B5F-A00D-882CCE4A7982}" dt="2026-06-11T22:47:19.086" v="0" actId="478"/>
          <ac:spMkLst>
            <pc:docMk/>
            <pc:sldMk cId="0" sldId="260"/>
            <ac:spMk id="64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3:00:06.942" v="73" actId="478"/>
          <ac:spMkLst>
            <pc:docMk/>
            <pc:sldMk cId="0" sldId="260"/>
            <ac:spMk id="65" creationId="{00000000-0000-0000-0000-000000000000}"/>
          </ac:spMkLst>
        </pc:spChg>
      </pc:sldChg>
      <pc:sldChg chg="addSp delSp modSp mod">
        <pc:chgData name="VB-Zimmerman-Gibson, Joshua (Virginia Beach)" userId="d08658ba-7f2c-4f82-b12e-30c210e6c7f4" providerId="ADAL" clId="{B7577925-A160-4B5F-A00D-882CCE4A7982}" dt="2026-06-11T23:00:25.518" v="125" actId="20577"/>
        <pc:sldMkLst>
          <pc:docMk/>
          <pc:sldMk cId="0" sldId="261"/>
        </pc:sldMkLst>
        <pc:spChg chg="mod">
          <ac:chgData name="VB-Zimmerman-Gibson, Joshua (Virginia Beach)" userId="d08658ba-7f2c-4f82-b12e-30c210e6c7f4" providerId="ADAL" clId="{B7577925-A160-4B5F-A00D-882CCE4A7982}" dt="2026-06-11T22:50:10.382" v="8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0:02.782" v="7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0:34.933" v="11" actId="1076"/>
          <ac:spMkLst>
            <pc:docMk/>
            <pc:sldMk cId="0" sldId="261"/>
            <ac:spMk id="30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0:30.661" v="10" actId="107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1:34.278" v="21" actId="107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1:39.678" v="23" actId="107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3:00:25.518" v="125" actId="20577"/>
          <ac:spMkLst>
            <pc:docMk/>
            <pc:sldMk cId="0" sldId="261"/>
            <ac:spMk id="47" creationId="{00000000-0000-0000-0000-000000000000}"/>
          </ac:spMkLst>
        </pc:spChg>
        <pc:picChg chg="del">
          <ac:chgData name="VB-Zimmerman-Gibson, Joshua (Virginia Beach)" userId="d08658ba-7f2c-4f82-b12e-30c210e6c7f4" providerId="ADAL" clId="{B7577925-A160-4B5F-A00D-882CCE4A7982}" dt="2026-06-11T22:50:38.456" v="12" actId="478"/>
          <ac:picMkLst>
            <pc:docMk/>
            <pc:sldMk cId="0" sldId="261"/>
            <ac:picMk id="29" creationId="{00000000-0000-0000-0000-000000000000}"/>
          </ac:picMkLst>
        </pc:picChg>
        <pc:picChg chg="del">
          <ac:chgData name="VB-Zimmerman-Gibson, Joshua (Virginia Beach)" userId="d08658ba-7f2c-4f82-b12e-30c210e6c7f4" providerId="ADAL" clId="{B7577925-A160-4B5F-A00D-882CCE4A7982}" dt="2026-06-11T22:51:42.737" v="24" actId="478"/>
          <ac:picMkLst>
            <pc:docMk/>
            <pc:sldMk cId="0" sldId="261"/>
            <ac:picMk id="41" creationId="{00000000-0000-0000-0000-000000000000}"/>
          </ac:picMkLst>
        </pc:picChg>
        <pc:picChg chg="add mod">
          <ac:chgData name="VB-Zimmerman-Gibson, Joshua (Virginia Beach)" userId="d08658ba-7f2c-4f82-b12e-30c210e6c7f4" providerId="ADAL" clId="{B7577925-A160-4B5F-A00D-882CCE4A7982}" dt="2026-06-11T22:50:16.239" v="9" actId="14100"/>
          <ac:picMkLst>
            <pc:docMk/>
            <pc:sldMk cId="0" sldId="261"/>
            <ac:picMk id="50" creationId="{A4A55DA6-A5AF-100E-7549-C8185DF143DD}"/>
          </ac:picMkLst>
        </pc:picChg>
        <pc:picChg chg="add mod">
          <ac:chgData name="VB-Zimmerman-Gibson, Joshua (Virginia Beach)" userId="d08658ba-7f2c-4f82-b12e-30c210e6c7f4" providerId="ADAL" clId="{B7577925-A160-4B5F-A00D-882CCE4A7982}" dt="2026-06-11T22:51:09.110" v="19" actId="14100"/>
          <ac:picMkLst>
            <pc:docMk/>
            <pc:sldMk cId="0" sldId="261"/>
            <ac:picMk id="52" creationId="{D55EB750-A25C-499E-AABA-47AE4F7628E9}"/>
          </ac:picMkLst>
        </pc:picChg>
        <pc:picChg chg="add mod">
          <ac:chgData name="VB-Zimmerman-Gibson, Joshua (Virginia Beach)" userId="d08658ba-7f2c-4f82-b12e-30c210e6c7f4" providerId="ADAL" clId="{B7577925-A160-4B5F-A00D-882CCE4A7982}" dt="2026-06-11T22:51:58.255" v="29" actId="14100"/>
          <ac:picMkLst>
            <pc:docMk/>
            <pc:sldMk cId="0" sldId="261"/>
            <ac:picMk id="54" creationId="{068DC599-F554-915F-DD84-C09E6FC2F9D8}"/>
          </ac:picMkLst>
        </pc:picChg>
      </pc:sldChg>
      <pc:sldChg chg="delSp modSp mod">
        <pc:chgData name="VB-Zimmerman-Gibson, Joshua (Virginia Beach)" userId="d08658ba-7f2c-4f82-b12e-30c210e6c7f4" providerId="ADAL" clId="{B7577925-A160-4B5F-A00D-882CCE4A7982}" dt="2026-06-11T22:54:09.582" v="33" actId="478"/>
        <pc:sldMkLst>
          <pc:docMk/>
          <pc:sldMk cId="0" sldId="263"/>
        </pc:sldMkLst>
        <pc:spChg chg="mod">
          <ac:chgData name="VB-Zimmerman-Gibson, Joshua (Virginia Beach)" userId="d08658ba-7f2c-4f82-b12e-30c210e6c7f4" providerId="ADAL" clId="{B7577925-A160-4B5F-A00D-882CCE4A7982}" dt="2026-06-11T22:52:57.703" v="30" actId="1076"/>
          <ac:spMkLst>
            <pc:docMk/>
            <pc:sldMk cId="0" sldId="263"/>
            <ac:spMk id="84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2:54:03.830" v="31" actId="478"/>
          <ac:spMkLst>
            <pc:docMk/>
            <pc:sldMk cId="0" sldId="263"/>
            <ac:spMk id="87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2:54:05.454" v="32" actId="478"/>
          <ac:spMkLst>
            <pc:docMk/>
            <pc:sldMk cId="0" sldId="263"/>
            <ac:spMk id="88" creationId="{00000000-0000-0000-0000-000000000000}"/>
          </ac:spMkLst>
        </pc:spChg>
        <pc:picChg chg="del">
          <ac:chgData name="VB-Zimmerman-Gibson, Joshua (Virginia Beach)" userId="d08658ba-7f2c-4f82-b12e-30c210e6c7f4" providerId="ADAL" clId="{B7577925-A160-4B5F-A00D-882CCE4A7982}" dt="2026-06-11T22:54:09.582" v="33" actId="478"/>
          <ac:picMkLst>
            <pc:docMk/>
            <pc:sldMk cId="0" sldId="263"/>
            <ac:picMk id="86" creationId="{00000000-0000-0000-0000-000000000000}"/>
          </ac:picMkLst>
        </pc:picChg>
      </pc:sldChg>
      <pc:sldChg chg="modSp mod">
        <pc:chgData name="VB-Zimmerman-Gibson, Joshua (Virginia Beach)" userId="d08658ba-7f2c-4f82-b12e-30c210e6c7f4" providerId="ADAL" clId="{B7577925-A160-4B5F-A00D-882CCE4A7982}" dt="2026-06-11T22:54:37.167" v="35" actId="1076"/>
        <pc:sldMkLst>
          <pc:docMk/>
          <pc:sldMk cId="0" sldId="264"/>
        </pc:sldMkLst>
        <pc:spChg chg="mod">
          <ac:chgData name="VB-Zimmerman-Gibson, Joshua (Virginia Beach)" userId="d08658ba-7f2c-4f82-b12e-30c210e6c7f4" providerId="ADAL" clId="{B7577925-A160-4B5F-A00D-882CCE4A7982}" dt="2026-06-11T22:54:34.750" v="34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4:37.167" v="35" actId="1076"/>
          <ac:spMkLst>
            <pc:docMk/>
            <pc:sldMk cId="0" sldId="264"/>
            <ac:spMk id="35" creationId="{00000000-0000-0000-0000-000000000000}"/>
          </ac:spMkLst>
        </pc:spChg>
      </pc:sldChg>
      <pc:sldChg chg="modSp mod">
        <pc:chgData name="VB-Zimmerman-Gibson, Joshua (Virginia Beach)" userId="d08658ba-7f2c-4f82-b12e-30c210e6c7f4" providerId="ADAL" clId="{B7577925-A160-4B5F-A00D-882CCE4A7982}" dt="2026-06-11T22:56:32.742" v="50" actId="1076"/>
        <pc:sldMkLst>
          <pc:docMk/>
          <pc:sldMk cId="0" sldId="265"/>
        </pc:sldMkLst>
        <pc:spChg chg="mod">
          <ac:chgData name="VB-Zimmerman-Gibson, Joshua (Virginia Beach)" userId="d08658ba-7f2c-4f82-b12e-30c210e6c7f4" providerId="ADAL" clId="{B7577925-A160-4B5F-A00D-882CCE4A7982}" dt="2026-06-11T22:54:53.383" v="36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5:50.487" v="42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6:06.126" v="45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5:55.550" v="43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5:59.863" v="44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6:13.198" v="46" actId="1410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6:19.391" v="47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6:29.790" v="49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6:32.742" v="50" actId="1076"/>
          <ac:spMkLst>
            <pc:docMk/>
            <pc:sldMk cId="0" sldId="265"/>
            <ac:spMk id="26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5:36.974" v="41" actId="14100"/>
          <ac:spMkLst>
            <pc:docMk/>
            <pc:sldMk cId="0" sldId="265"/>
            <ac:spMk id="27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5:08.430" v="38" actId="1076"/>
          <ac:spMkLst>
            <pc:docMk/>
            <pc:sldMk cId="0" sldId="265"/>
            <ac:spMk id="43" creationId="{00000000-0000-0000-0000-000000000000}"/>
          </ac:spMkLst>
        </pc:spChg>
      </pc:sldChg>
      <pc:sldChg chg="addSp modSp mod">
        <pc:chgData name="VB-Zimmerman-Gibson, Joshua (Virginia Beach)" userId="d08658ba-7f2c-4f82-b12e-30c210e6c7f4" providerId="ADAL" clId="{B7577925-A160-4B5F-A00D-882CCE4A7982}" dt="2026-06-11T22:58:47.838" v="66" actId="20577"/>
        <pc:sldMkLst>
          <pc:docMk/>
          <pc:sldMk cId="0" sldId="266"/>
        </pc:sldMkLst>
        <pc:spChg chg="mod">
          <ac:chgData name="VB-Zimmerman-Gibson, Joshua (Virginia Beach)" userId="d08658ba-7f2c-4f82-b12e-30c210e6c7f4" providerId="ADAL" clId="{B7577925-A160-4B5F-A00D-882CCE4A7982}" dt="2026-06-11T22:58:44.798" v="6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2:58:47.838" v="66" actId="20577"/>
          <ac:spMkLst>
            <pc:docMk/>
            <pc:sldMk cId="0" sldId="266"/>
            <ac:spMk id="155" creationId="{00000000-0000-0000-0000-000000000000}"/>
          </ac:spMkLst>
        </pc:spChg>
        <pc:picChg chg="add mod">
          <ac:chgData name="VB-Zimmerman-Gibson, Joshua (Virginia Beach)" userId="d08658ba-7f2c-4f82-b12e-30c210e6c7f4" providerId="ADAL" clId="{B7577925-A160-4B5F-A00D-882CCE4A7982}" dt="2026-06-11T22:57:27.230" v="54" actId="14100"/>
          <ac:picMkLst>
            <pc:docMk/>
            <pc:sldMk cId="0" sldId="266"/>
            <ac:picMk id="158" creationId="{670CC7B0-A9CC-874E-2B38-90AC8CBBB58B}"/>
          </ac:picMkLst>
        </pc:picChg>
        <pc:picChg chg="add mod">
          <ac:chgData name="VB-Zimmerman-Gibson, Joshua (Virginia Beach)" userId="d08658ba-7f2c-4f82-b12e-30c210e6c7f4" providerId="ADAL" clId="{B7577925-A160-4B5F-A00D-882CCE4A7982}" dt="2026-06-11T22:58:00.255" v="59" actId="14100"/>
          <ac:picMkLst>
            <pc:docMk/>
            <pc:sldMk cId="0" sldId="266"/>
            <ac:picMk id="160" creationId="{86BEA743-9A4C-C0FA-A011-0F6ED32C1176}"/>
          </ac:picMkLst>
        </pc:picChg>
        <pc:picChg chg="add mod">
          <ac:chgData name="VB-Zimmerman-Gibson, Joshua (Virginia Beach)" userId="d08658ba-7f2c-4f82-b12e-30c210e6c7f4" providerId="ADAL" clId="{B7577925-A160-4B5F-A00D-882CCE4A7982}" dt="2026-06-11T22:58:35.182" v="64" actId="14100"/>
          <ac:picMkLst>
            <pc:docMk/>
            <pc:sldMk cId="0" sldId="266"/>
            <ac:picMk id="162" creationId="{0BA14770-8769-D85D-DEC6-8E99B3FC9EDD}"/>
          </ac:picMkLst>
        </pc:picChg>
      </pc:sldChg>
      <pc:sldChg chg="delSp modSp mod">
        <pc:chgData name="VB-Zimmerman-Gibson, Joshua (Virginia Beach)" userId="d08658ba-7f2c-4f82-b12e-30c210e6c7f4" providerId="ADAL" clId="{B7577925-A160-4B5F-A00D-882CCE4A7982}" dt="2026-06-11T23:01:56.702" v="128" actId="478"/>
        <pc:sldMkLst>
          <pc:docMk/>
          <pc:sldMk cId="0" sldId="269"/>
        </pc:sldMkLst>
        <pc:spChg chg="del">
          <ac:chgData name="VB-Zimmerman-Gibson, Joshua (Virginia Beach)" userId="d08658ba-7f2c-4f82-b12e-30c210e6c7f4" providerId="ADAL" clId="{B7577925-A160-4B5F-A00D-882CCE4A7982}" dt="2026-06-11T23:01:56.702" v="128" actId="478"/>
          <ac:spMkLst>
            <pc:docMk/>
            <pc:sldMk cId="0" sldId="269"/>
            <ac:spMk id="35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3:01:55.662" v="127" actId="478"/>
          <ac:spMkLst>
            <pc:docMk/>
            <pc:sldMk cId="0" sldId="269"/>
            <ac:spMk id="36" creationId="{00000000-0000-0000-0000-000000000000}"/>
          </ac:spMkLst>
        </pc:spChg>
      </pc:sldChg>
      <pc:sldChg chg="delSp modSp mod">
        <pc:chgData name="VB-Zimmerman-Gibson, Joshua (Virginia Beach)" userId="d08658ba-7f2c-4f82-b12e-30c210e6c7f4" providerId="ADAL" clId="{B7577925-A160-4B5F-A00D-882CCE4A7982}" dt="2026-06-11T23:03:53.551" v="155" actId="1076"/>
        <pc:sldMkLst>
          <pc:docMk/>
          <pc:sldMk cId="0" sldId="270"/>
        </pc:sldMkLst>
        <pc:spChg chg="del">
          <ac:chgData name="VB-Zimmerman-Gibson, Joshua (Virginia Beach)" userId="d08658ba-7f2c-4f82-b12e-30c210e6c7f4" providerId="ADAL" clId="{B7577925-A160-4B5F-A00D-882CCE4A7982}" dt="2026-06-11T23:03:30.413" v="149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28.933" v="148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13.975" v="145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08.374" v="144" actId="478"/>
          <ac:spMkLst>
            <pc:docMk/>
            <pc:sldMk cId="0" sldId="270"/>
            <ac:spMk id="8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21.350" v="147" actId="478"/>
          <ac:spMkLst>
            <pc:docMk/>
            <pc:sldMk cId="0" sldId="270"/>
            <ac:spMk id="18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17.677" v="146" actId="47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37.966" v="153" actId="478"/>
          <ac:spMkLst>
            <pc:docMk/>
            <pc:sldMk cId="0" sldId="270"/>
            <ac:spMk id="20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3:36.934" v="152" actId="478"/>
          <ac:spMkLst>
            <pc:docMk/>
            <pc:sldMk cId="0" sldId="270"/>
            <ac:spMk id="21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3:03:33.934" v="151" actId="478"/>
          <ac:spMkLst>
            <pc:docMk/>
            <pc:sldMk cId="0" sldId="270"/>
            <ac:spMk id="22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2:28.022" v="131" actId="478"/>
          <ac:spMkLst>
            <pc:docMk/>
            <pc:sldMk cId="0" sldId="270"/>
            <ac:spMk id="33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2:32.438" v="133" actId="478"/>
          <ac:spMkLst>
            <pc:docMk/>
            <pc:sldMk cId="0" sldId="270"/>
            <ac:spMk id="35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3:02:38.173" v="135" actId="478"/>
          <ac:spMkLst>
            <pc:docMk/>
            <pc:sldMk cId="0" sldId="270"/>
            <ac:spMk id="36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2:42.182" v="138" actId="478"/>
          <ac:spMkLst>
            <pc:docMk/>
            <pc:sldMk cId="0" sldId="270"/>
            <ac:spMk id="37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3:02:40.550" v="137" actId="478"/>
          <ac:spMkLst>
            <pc:docMk/>
            <pc:sldMk cId="0" sldId="270"/>
            <ac:spMk id="38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2:43.725" v="139" actId="478"/>
          <ac:spMkLst>
            <pc:docMk/>
            <pc:sldMk cId="0" sldId="270"/>
            <ac:spMk id="39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2:45.558" v="140" actId="478"/>
          <ac:spMkLst>
            <pc:docMk/>
            <pc:sldMk cId="0" sldId="270"/>
            <ac:spMk id="40" creationId="{00000000-0000-0000-0000-000000000000}"/>
          </ac:spMkLst>
        </pc:spChg>
        <pc:spChg chg="del">
          <ac:chgData name="VB-Zimmerman-Gibson, Joshua (Virginia Beach)" userId="d08658ba-7f2c-4f82-b12e-30c210e6c7f4" providerId="ADAL" clId="{B7577925-A160-4B5F-A00D-882CCE4A7982}" dt="2026-06-11T23:02:46.958" v="141" actId="478"/>
          <ac:spMkLst>
            <pc:docMk/>
            <pc:sldMk cId="0" sldId="270"/>
            <ac:spMk id="41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3:03:49.494" v="154" actId="1076"/>
          <ac:spMkLst>
            <pc:docMk/>
            <pc:sldMk cId="0" sldId="270"/>
            <ac:spMk id="43" creationId="{00000000-0000-0000-0000-000000000000}"/>
          </ac:spMkLst>
        </pc:spChg>
        <pc:spChg chg="mod">
          <ac:chgData name="VB-Zimmerman-Gibson, Joshua (Virginia Beach)" userId="d08658ba-7f2c-4f82-b12e-30c210e6c7f4" providerId="ADAL" clId="{B7577925-A160-4B5F-A00D-882CCE4A7982}" dt="2026-06-11T23:03:53.551" v="155" actId="1076"/>
          <ac:spMkLst>
            <pc:docMk/>
            <pc:sldMk cId="0" sldId="270"/>
            <ac:spMk id="44" creationId="{00000000-0000-0000-0000-000000000000}"/>
          </ac:spMkLst>
        </pc:spChg>
        <pc:spChg chg="del mod">
          <ac:chgData name="VB-Zimmerman-Gibson, Joshua (Virginia Beach)" userId="d08658ba-7f2c-4f82-b12e-30c210e6c7f4" providerId="ADAL" clId="{B7577925-A160-4B5F-A00D-882CCE4A7982}" dt="2026-06-11T23:02:22.167" v="130" actId="478"/>
          <ac:spMkLst>
            <pc:docMk/>
            <pc:sldMk cId="0" sldId="270"/>
            <ac:spMk id="47" creationId="{00000000-0000-0000-0000-000000000000}"/>
          </ac:spMkLst>
        </pc:spChg>
        <pc:picChg chg="del">
          <ac:chgData name="VB-Zimmerman-Gibson, Joshua (Virginia Beach)" userId="d08658ba-7f2c-4f82-b12e-30c210e6c7f4" providerId="ADAL" clId="{B7577925-A160-4B5F-A00D-882CCE4A7982}" dt="2026-06-11T23:02:30.686" v="132" actId="478"/>
          <ac:picMkLst>
            <pc:docMk/>
            <pc:sldMk cId="0" sldId="270"/>
            <ac:picMk id="3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96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svg"/><Relationship Id="rId10" Type="http://schemas.openxmlformats.org/officeDocument/2006/relationships/image" Target="../media/image64.png"/><Relationship Id="rId4" Type="http://schemas.openxmlformats.org/officeDocument/2006/relationships/image" Target="../media/image58.svg"/><Relationship Id="rId9" Type="http://schemas.openxmlformats.org/officeDocument/2006/relationships/image" Target="../media/image6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83.svg"/><Relationship Id="rId3" Type="http://schemas.openxmlformats.org/officeDocument/2006/relationships/image" Target="../media/image73.svg"/><Relationship Id="rId7" Type="http://schemas.openxmlformats.org/officeDocument/2006/relationships/image" Target="../media/image77.svg"/><Relationship Id="rId12" Type="http://schemas.openxmlformats.org/officeDocument/2006/relationships/image" Target="../media/image8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svg"/><Relationship Id="rId11" Type="http://schemas.openxmlformats.org/officeDocument/2006/relationships/image" Target="../media/image81.svg"/><Relationship Id="rId5" Type="http://schemas.openxmlformats.org/officeDocument/2006/relationships/image" Target="../media/image75.svg"/><Relationship Id="rId15" Type="http://schemas.openxmlformats.org/officeDocument/2006/relationships/image" Target="../media/image85.sv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9.svg"/><Relationship Id="rId14" Type="http://schemas.openxmlformats.org/officeDocument/2006/relationships/image" Target="../media/image8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svg"/><Relationship Id="rId4" Type="http://schemas.openxmlformats.org/officeDocument/2006/relationships/image" Target="../media/image8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29716" y="2571750"/>
            <a:ext cx="4714284" cy="2571750"/>
          </a:xfrm>
          <a:prstGeom prst="ellipse">
            <a:avLst/>
          </a:prstGeom>
          <a:gradFill rotWithShape="1">
            <a:gsLst>
              <a:gs pos="0">
                <a:srgbClr val="F37324">
                  <a:alpha val="18000"/>
                </a:srgbClr>
              </a:gs>
              <a:gs pos="35000">
                <a:srgbClr val="F37324">
                  <a:alpha val="9000"/>
                </a:srgbClr>
              </a:gs>
              <a:gs pos="60000">
                <a:srgbClr val="F37324">
                  <a:alpha val="3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14284" y="0"/>
            <a:ext cx="3000966" cy="2285955"/>
          </a:xfrm>
          <a:prstGeom prst="ellipse">
            <a:avLst/>
          </a:prstGeom>
          <a:gradFill rotWithShape="1">
            <a:gsLst>
              <a:gs pos="0">
                <a:srgbClr val="F3B42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alphaModFix amt="9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5780" y="785515"/>
            <a:ext cx="2679353" cy="26793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F33">
                  <a:alpha val="98000"/>
                </a:srgbClr>
              </a:gs>
              <a:gs pos="42000">
                <a:srgbClr val="0D1F33">
                  <a:alpha val="97000"/>
                </a:srgbClr>
              </a:gs>
              <a:gs pos="58000">
                <a:srgbClr val="0D1F33">
                  <a:alpha val="88000"/>
                </a:srgbClr>
              </a:gs>
              <a:gs pos="72000">
                <a:srgbClr val="0D1F33">
                  <a:alpha val="55000"/>
                </a:srgbClr>
              </a:gs>
              <a:gs pos="85000">
                <a:srgbClr val="0D1F33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60000">
                <a:srgbClr val="F37324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4350" y="836563"/>
            <a:ext cx="3354735" cy="228898"/>
          </a:xfrm>
          <a:prstGeom prst="roundRect">
            <a:avLst>
              <a:gd name="adj" fmla="val 12761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470" y="884643"/>
            <a:ext cx="132588" cy="132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6493" y="881509"/>
            <a:ext cx="33030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486L  ·  AI/ML &amp; ADVANCED DATA ANALYTICS LAB</a:t>
            </a:r>
            <a:endParaRPr lang="en-US" sz="730" dirty="0"/>
          </a:p>
        </p:txBody>
      </p:sp>
      <p:sp>
        <p:nvSpPr>
          <p:cNvPr id="13" name="Text 9"/>
          <p:cNvSpPr/>
          <p:nvPr/>
        </p:nvSpPr>
        <p:spPr>
          <a:xfrm>
            <a:off x="514350" y="1236911"/>
            <a:ext cx="4721733" cy="134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5"/>
              </a:lnSpc>
              <a:buNone/>
            </a:pPr>
            <a:r>
              <a:rPr lang="en-US" sz="2140" kern="0" spc="-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</a:t>
            </a:r>
            <a:r>
              <a:rPr lang="en-US" sz="2140" kern="0" spc="-21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Buying Behavior</a:t>
            </a:r>
            <a:br/>
            <a:r>
              <a:rPr lang="en-US" sz="2140" kern="0" spc="-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Online Grocery Shopping</a:t>
            </a:r>
            <a:br/>
            <a:r>
              <a:rPr lang="en-US" sz="2140" kern="0" spc="-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Using Instacart Data</a:t>
            </a:r>
            <a:endParaRPr lang="en-US" sz="2140" dirty="0"/>
          </a:p>
        </p:txBody>
      </p:sp>
      <p:sp>
        <p:nvSpPr>
          <p:cNvPr id="14" name="Text 10"/>
          <p:cNvSpPr/>
          <p:nvPr/>
        </p:nvSpPr>
        <p:spPr>
          <a:xfrm>
            <a:off x="514350" y="2633514"/>
            <a:ext cx="5143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37324"/>
              </a:gs>
              <a:gs pos="100000">
                <a:srgbClr val="F37324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14350" y="2798564"/>
            <a:ext cx="5092065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230"/>
              </a:spcAft>
              <a:buNone/>
            </a:pPr>
            <a:r>
              <a:rPr lang="en-US" sz="960" kern="0" spc="19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Scenario Analysis Project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514350" y="3010495"/>
            <a:ext cx="50920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kern="0" spc="18" dirty="0">
                <a:solidFill>
                  <a:srgbClr val="B8C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 (2026)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14350" y="3339405"/>
            <a:ext cx="4629150" cy="7590"/>
          </a:xfrm>
          <a:prstGeom prst="rect">
            <a:avLst/>
          </a:prstGeom>
          <a:gradFill rotWithShape="1">
            <a:gsLst>
              <a:gs pos="0">
                <a:srgbClr val="94AFC8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14350" y="3504456"/>
            <a:ext cx="509206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 Zimmerman-Gibson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514350" y="3686026"/>
            <a:ext cx="50920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D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ECPI University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B.S. Computer Information Science</a:t>
            </a:r>
            <a:endParaRPr lang="en-US" sz="730" dirty="0"/>
          </a:p>
        </p:txBody>
      </p:sp>
      <p:sp>
        <p:nvSpPr>
          <p:cNvPr id="20" name="Text 16"/>
          <p:cNvSpPr/>
          <p:nvPr/>
        </p:nvSpPr>
        <p:spPr>
          <a:xfrm>
            <a:off x="514350" y="3846612"/>
            <a:ext cx="50920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Concentration: AI, Machine Learning &amp; Data Analytics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514350" y="4007197"/>
            <a:ext cx="50920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730" b="1" dirty="0">
                <a:solidFill>
                  <a:srgbClr val="AD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486L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AI/ML and Advanced Data Analytics Lab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514350" y="4167783"/>
            <a:ext cx="509206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William Thorne  ·  Date: June 11, 2026</a:t>
            </a:r>
            <a:endParaRPr lang="en-US" sz="73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9066" y="4890055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20891" y="4897338"/>
            <a:ext cx="412682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>
                    <a:alpha val="6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code: github.com/Jepsum30/SDC486L-AI-ML-and-Advanced-Data-Analytics-Lab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514350" y="4919365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628501" y="4882009"/>
            <a:ext cx="42515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DATASET 2017  ·  3M+ ORDERS  ·  NEURAL NETWORK &amp; SCENARIO ANALYSIS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2120"/>
          </a:xfrm>
          <a:prstGeom prst="rect">
            <a:avLst/>
          </a:prstGeom>
          <a:solidFill>
            <a:srgbClr val="0D1F3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63711"/>
            <a:ext cx="25517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7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400050" y="324743"/>
            <a:ext cx="2482169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33"/>
              </a:lnSpc>
              <a:buNone/>
            </a:pPr>
            <a:r>
              <a:rPr lang="en-US" sz="203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Presentation Agenda</a:t>
            </a:r>
            <a:endParaRPr lang="en-US" sz="2030" dirty="0"/>
          </a:p>
        </p:txBody>
      </p:sp>
      <p:sp>
        <p:nvSpPr>
          <p:cNvPr id="5" name="Text 3"/>
          <p:cNvSpPr/>
          <p:nvPr/>
        </p:nvSpPr>
        <p:spPr>
          <a:xfrm>
            <a:off x="400050" y="807541"/>
            <a:ext cx="9178290" cy="115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i="1" dirty="0">
                <a:solidFill>
                  <a:srgbClr val="7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Slide structure follows APA 7th edition (American Psychological Association, 2020).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342900" y="980331"/>
            <a:ext cx="845820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F3732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6060" y="1116062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051" y="1216968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742652" y="118080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244" y="1243393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00733" y="1184077"/>
            <a:ext cx="1690193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2017 — 3M+ anonymized orders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5160" y="1116062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EEF1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86151" y="1216968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4971752" y="118080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4344" y="1243393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29833" y="1184077"/>
            <a:ext cx="1556605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prediction &amp; behavior analysis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86060" y="1546473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7051" y="1647379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742652" y="1611213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244" y="1673804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00733" y="1614488"/>
            <a:ext cx="1675165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 &amp; patterns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615160" y="1546473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EEF1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686151" y="1647379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80" dirty="0"/>
          </a:p>
        </p:txBody>
      </p:sp>
      <p:sp>
        <p:nvSpPr>
          <p:cNvPr id="24" name="Text 19"/>
          <p:cNvSpPr/>
          <p:nvPr/>
        </p:nvSpPr>
        <p:spPr>
          <a:xfrm>
            <a:off x="4971752" y="1611213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4344" y="1673804"/>
            <a:ext cx="132588" cy="132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29833" y="1614488"/>
            <a:ext cx="1491329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encoding &amp; normalization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86060" y="1976884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457051" y="2077789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80" dirty="0"/>
          </a:p>
        </p:txBody>
      </p:sp>
      <p:sp>
        <p:nvSpPr>
          <p:cNvPr id="29" name="Text 23"/>
          <p:cNvSpPr/>
          <p:nvPr/>
        </p:nvSpPr>
        <p:spPr>
          <a:xfrm>
            <a:off x="742652" y="204162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244" y="2104215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00733" y="2044898"/>
            <a:ext cx="1229163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benchmark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615160" y="1976884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EEF1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686151" y="2077789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80" dirty="0"/>
          </a:p>
        </p:txBody>
      </p:sp>
      <p:sp>
        <p:nvSpPr>
          <p:cNvPr id="34" name="Text 27"/>
          <p:cNvSpPr/>
          <p:nvPr/>
        </p:nvSpPr>
        <p:spPr>
          <a:xfrm>
            <a:off x="4971752" y="204162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4344" y="2104215"/>
            <a:ext cx="132588" cy="132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29833" y="2044898"/>
            <a:ext cx="1983328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 &amp; Metrics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 and performance results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386060" y="2407295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57051" y="2508200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80" dirty="0"/>
          </a:p>
        </p:txBody>
      </p:sp>
      <p:sp>
        <p:nvSpPr>
          <p:cNvPr id="39" name="Text 31"/>
          <p:cNvSpPr/>
          <p:nvPr/>
        </p:nvSpPr>
        <p:spPr>
          <a:xfrm>
            <a:off x="742652" y="247203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5244" y="2534626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00733" y="2475309"/>
            <a:ext cx="1355312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Results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 outcomes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4615160" y="2407295"/>
            <a:ext cx="4142780" cy="387251"/>
          </a:xfrm>
          <a:prstGeom prst="roundRect">
            <a:avLst>
              <a:gd name="adj" fmla="val 14758"/>
            </a:avLst>
          </a:prstGeom>
          <a:solidFill>
            <a:srgbClr val="EEF1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4686151" y="2508200"/>
            <a:ext cx="185291" cy="203820"/>
          </a:xfrm>
          <a:prstGeom prst="ellipse">
            <a:avLst/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80" dirty="0"/>
          </a:p>
        </p:txBody>
      </p:sp>
      <p:sp>
        <p:nvSpPr>
          <p:cNvPr id="44" name="Text 35"/>
          <p:cNvSpPr/>
          <p:nvPr/>
        </p:nvSpPr>
        <p:spPr>
          <a:xfrm>
            <a:off x="4971752" y="2472035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FFF4ED"/>
          </a:solidFill>
          <a:ln w="9525">
            <a:solidFill>
              <a:srgbClr val="FDE0C8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4344" y="2534626"/>
            <a:ext cx="132588" cy="1325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329833" y="2475309"/>
            <a:ext cx="1889209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4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Insights
</a:t>
            </a: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dashboards, KPIs &amp; recommendations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0D1F3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400050" y="4948535"/>
            <a:ext cx="37787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 (2026). Instacart scenario analysis [Course project]. ECPI University.</a:t>
            </a:r>
            <a:endParaRPr lang="en-US" sz="620" dirty="0"/>
          </a:p>
        </p:txBody>
      </p:sp>
      <p:sp>
        <p:nvSpPr>
          <p:cNvPr id="51" name="Text 41"/>
          <p:cNvSpPr/>
          <p:nvPr/>
        </p:nvSpPr>
        <p:spPr>
          <a:xfrm>
            <a:off x="8401050" y="214610"/>
            <a:ext cx="342900" cy="342900"/>
          </a:xfrm>
          <a:prstGeom prst="ellipse">
            <a:avLst/>
          </a:prstGeom>
          <a:noFill/>
          <a:ln w="9525">
            <a:solidFill>
              <a:srgbClr val="F37324">
                <a:alpha val="25000"/>
              </a:srgbClr>
            </a:solidFill>
          </a:ln>
          <a:effectLst>
            <a:outerShdw blurRad="101600" dist="50800" dir="16200000" algn="bl" rotWithShape="0">
              <a:srgbClr val="F37324">
                <a:alpha val="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6858000" y="0"/>
            <a:ext cx="2286000" cy="772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37324">
                  <a:alpha val="1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37324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60000">
                <a:srgbClr val="F3732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57983" y="891629"/>
            <a:ext cx="429220" cy="429220"/>
          </a:xfrm>
          <a:prstGeom prst="rect">
            <a:avLst/>
          </a:prstGeom>
          <a:gradFill rotWithShape="1">
            <a:gsLst>
              <a:gs pos="0">
                <a:srgbClr val="F3732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83103" y="891629"/>
            <a:ext cx="429220" cy="429220"/>
          </a:xfrm>
          <a:prstGeom prst="rect">
            <a:avLst/>
          </a:prstGeom>
          <a:gradFill rotWithShape="1">
            <a:gsLst>
              <a:gs pos="0">
                <a:srgbClr val="F3732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08068" y="891629"/>
            <a:ext cx="429220" cy="429220"/>
          </a:xfrm>
          <a:prstGeom prst="rect">
            <a:avLst/>
          </a:prstGeom>
          <a:gradFill rotWithShape="1">
            <a:gsLst>
              <a:gs pos="0">
                <a:srgbClr val="F3732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33188" y="891629"/>
            <a:ext cx="429220" cy="429220"/>
          </a:xfrm>
          <a:prstGeom prst="rect">
            <a:avLst/>
          </a:prstGeom>
          <a:gradFill rotWithShape="1">
            <a:gsLst>
              <a:gs pos="0">
                <a:srgbClr val="F37324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t="100000" r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2070" y="311944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572" y="395445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1971" y="257770"/>
            <a:ext cx="2311616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</a:t>
            </a:r>
            <a:r>
              <a:rPr lang="en-US" sz="1690" b="1" kern="0" spc="-2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Overview</a:t>
            </a:r>
            <a:endParaRPr lang="en-US" sz="1690" dirty="0"/>
          </a:p>
        </p:txBody>
      </p:sp>
      <p:sp>
        <p:nvSpPr>
          <p:cNvPr id="11" name="Text 8"/>
          <p:cNvSpPr/>
          <p:nvPr/>
        </p:nvSpPr>
        <p:spPr>
          <a:xfrm>
            <a:off x="771971" y="515392"/>
            <a:ext cx="237642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Online Grocery Shopping Dataset 2017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372070" y="736848"/>
            <a:ext cx="8399859" cy="759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40000">
                <a:srgbClr val="94AFC8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72070" y="872579"/>
            <a:ext cx="2024658" cy="1035100"/>
          </a:xfrm>
          <a:prstGeom prst="roundRect">
            <a:avLst>
              <a:gd name="adj" fmla="val 5521"/>
            </a:avLst>
          </a:prstGeom>
          <a:solidFill>
            <a:srgbClr val="11274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72070" y="872579"/>
            <a:ext cx="2024658" cy="19050"/>
          </a:xfrm>
          <a:custGeom>
            <a:avLst/>
            <a:gdLst/>
            <a:ahLst/>
            <a:cxnLst/>
            <a:rect l="l" t="t" r="r" b="b"/>
            <a:pathLst>
              <a:path w="2024658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10105" y="19050"/>
                </a:lnTo>
                <a:lnTo>
                  <a:pt x="2007849" y="16669"/>
                </a:lnTo>
                <a:lnTo>
                  <a:pt x="2005309" y="14288"/>
                </a:lnTo>
                <a:lnTo>
                  <a:pt x="2002424" y="11906"/>
                </a:lnTo>
                <a:lnTo>
                  <a:pt x="1999099" y="9525"/>
                </a:lnTo>
                <a:lnTo>
                  <a:pt x="1995175" y="7144"/>
                </a:lnTo>
                <a:lnTo>
                  <a:pt x="1990348" y="4763"/>
                </a:lnTo>
                <a:lnTo>
                  <a:pt x="1983833" y="2381"/>
                </a:lnTo>
                <a:lnTo>
                  <a:pt x="1967508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403" y="979447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5895" y="1142702"/>
            <a:ext cx="1901398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0"/>
              </a:lnSpc>
              <a:buNone/>
            </a:pPr>
            <a:r>
              <a:rPr lang="en-US" sz="1910" b="1" kern="0" spc="-6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1910" dirty="0"/>
          </a:p>
        </p:txBody>
      </p:sp>
      <p:sp>
        <p:nvSpPr>
          <p:cNvPr id="17" name="Text 13"/>
          <p:cNvSpPr/>
          <p:nvPr/>
        </p:nvSpPr>
        <p:spPr>
          <a:xfrm>
            <a:off x="495895" y="1414463"/>
            <a:ext cx="195470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495895" y="1588889"/>
            <a:ext cx="1812548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grocery transactions from the platform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2497038" y="872579"/>
            <a:ext cx="2024807" cy="1035100"/>
          </a:xfrm>
          <a:prstGeom prst="roundRect">
            <a:avLst>
              <a:gd name="adj" fmla="val 5521"/>
            </a:avLst>
          </a:prstGeom>
          <a:solidFill>
            <a:srgbClr val="11274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497038" y="872579"/>
            <a:ext cx="2024807" cy="19050"/>
          </a:xfrm>
          <a:custGeom>
            <a:avLst/>
            <a:gdLst/>
            <a:ahLst/>
            <a:cxnLst/>
            <a:rect l="l" t="t" r="r" b="b"/>
            <a:pathLst>
              <a:path w="2024807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10254" y="19050"/>
                </a:lnTo>
                <a:lnTo>
                  <a:pt x="2007998" y="16669"/>
                </a:lnTo>
                <a:lnTo>
                  <a:pt x="2005458" y="14288"/>
                </a:lnTo>
                <a:lnTo>
                  <a:pt x="2002573" y="11906"/>
                </a:lnTo>
                <a:lnTo>
                  <a:pt x="1999247" y="9525"/>
                </a:lnTo>
                <a:lnTo>
                  <a:pt x="1995324" y="7144"/>
                </a:lnTo>
                <a:lnTo>
                  <a:pt x="1990497" y="4763"/>
                </a:lnTo>
                <a:lnTo>
                  <a:pt x="1983982" y="2381"/>
                </a:lnTo>
                <a:lnTo>
                  <a:pt x="1967657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371" y="979447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20863" y="1142702"/>
            <a:ext cx="1901558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0"/>
              </a:lnSpc>
              <a:buNone/>
            </a:pPr>
            <a:r>
              <a:rPr lang="en-US" sz="1910" b="1" kern="0" spc="-6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</a:t>
            </a:r>
            <a:endParaRPr lang="en-US" sz="1910" dirty="0"/>
          </a:p>
        </p:txBody>
      </p:sp>
      <p:sp>
        <p:nvSpPr>
          <p:cNvPr id="23" name="Text 18"/>
          <p:cNvSpPr/>
          <p:nvPr/>
        </p:nvSpPr>
        <p:spPr>
          <a:xfrm>
            <a:off x="2620863" y="1414463"/>
            <a:ext cx="195487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730" dirty="0"/>
          </a:p>
        </p:txBody>
      </p:sp>
      <p:sp>
        <p:nvSpPr>
          <p:cNvPr id="24" name="Text 19"/>
          <p:cNvSpPr/>
          <p:nvPr/>
        </p:nvSpPr>
        <p:spPr>
          <a:xfrm>
            <a:off x="2620863" y="1588889"/>
            <a:ext cx="1812700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shopper demographics across the platform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4622155" y="872579"/>
            <a:ext cx="2024658" cy="1035100"/>
          </a:xfrm>
          <a:prstGeom prst="roundRect">
            <a:avLst>
              <a:gd name="adj" fmla="val 5521"/>
            </a:avLst>
          </a:prstGeom>
          <a:solidFill>
            <a:srgbClr val="11274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622155" y="872579"/>
            <a:ext cx="2024658" cy="19050"/>
          </a:xfrm>
          <a:custGeom>
            <a:avLst/>
            <a:gdLst/>
            <a:ahLst/>
            <a:cxnLst/>
            <a:rect l="l" t="t" r="r" b="b"/>
            <a:pathLst>
              <a:path w="2024658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10105" y="19050"/>
                </a:lnTo>
                <a:lnTo>
                  <a:pt x="2007849" y="16669"/>
                </a:lnTo>
                <a:lnTo>
                  <a:pt x="2005309" y="14288"/>
                </a:lnTo>
                <a:lnTo>
                  <a:pt x="2002424" y="11906"/>
                </a:lnTo>
                <a:lnTo>
                  <a:pt x="1999099" y="9525"/>
                </a:lnTo>
                <a:lnTo>
                  <a:pt x="1995175" y="7144"/>
                </a:lnTo>
                <a:lnTo>
                  <a:pt x="1990348" y="4763"/>
                </a:lnTo>
                <a:lnTo>
                  <a:pt x="1983833" y="2381"/>
                </a:lnTo>
                <a:lnTo>
                  <a:pt x="1967508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487" y="979447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45980" y="1142702"/>
            <a:ext cx="1901398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0"/>
              </a:lnSpc>
              <a:buNone/>
            </a:pPr>
            <a:r>
              <a:rPr lang="en-US" sz="1910" b="1" kern="0" spc="-6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49,000</a:t>
            </a:r>
            <a:endParaRPr lang="en-US" sz="1910" dirty="0"/>
          </a:p>
        </p:txBody>
      </p:sp>
      <p:sp>
        <p:nvSpPr>
          <p:cNvPr id="29" name="Text 23"/>
          <p:cNvSpPr/>
          <p:nvPr/>
        </p:nvSpPr>
        <p:spPr>
          <a:xfrm>
            <a:off x="4745980" y="1414463"/>
            <a:ext cx="195470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4745980" y="1588889"/>
            <a:ext cx="1954709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aisles and departments</a:t>
            </a:r>
            <a:endParaRPr lang="en-US" sz="650" dirty="0"/>
          </a:p>
        </p:txBody>
      </p:sp>
      <p:sp>
        <p:nvSpPr>
          <p:cNvPr id="31" name="Text 25"/>
          <p:cNvSpPr/>
          <p:nvPr/>
        </p:nvSpPr>
        <p:spPr>
          <a:xfrm>
            <a:off x="6747123" y="872579"/>
            <a:ext cx="2024807" cy="1035100"/>
          </a:xfrm>
          <a:prstGeom prst="roundRect">
            <a:avLst>
              <a:gd name="adj" fmla="val 5521"/>
            </a:avLst>
          </a:prstGeom>
          <a:solidFill>
            <a:srgbClr val="11274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6747123" y="872579"/>
            <a:ext cx="2024807" cy="19050"/>
          </a:xfrm>
          <a:custGeom>
            <a:avLst/>
            <a:gdLst/>
            <a:ahLst/>
            <a:cxnLst/>
            <a:rect l="l" t="t" r="r" b="b"/>
            <a:pathLst>
              <a:path w="2024807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10254" y="19050"/>
                </a:lnTo>
                <a:lnTo>
                  <a:pt x="2007998" y="16669"/>
                </a:lnTo>
                <a:lnTo>
                  <a:pt x="2005458" y="14288"/>
                </a:lnTo>
                <a:lnTo>
                  <a:pt x="2002573" y="11906"/>
                </a:lnTo>
                <a:lnTo>
                  <a:pt x="1999247" y="9525"/>
                </a:lnTo>
                <a:lnTo>
                  <a:pt x="1995324" y="7144"/>
                </a:lnTo>
                <a:lnTo>
                  <a:pt x="1990497" y="4763"/>
                </a:lnTo>
                <a:lnTo>
                  <a:pt x="1983982" y="2381"/>
                </a:lnTo>
                <a:lnTo>
                  <a:pt x="1967657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455" y="979447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70948" y="1142702"/>
            <a:ext cx="1901558" cy="24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0"/>
              </a:lnSpc>
              <a:buNone/>
            </a:pPr>
            <a:r>
              <a:rPr lang="en-US" sz="1910" b="1" kern="0" spc="-6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10" dirty="0"/>
          </a:p>
        </p:txBody>
      </p:sp>
      <p:sp>
        <p:nvSpPr>
          <p:cNvPr id="35" name="Text 28"/>
          <p:cNvSpPr/>
          <p:nvPr/>
        </p:nvSpPr>
        <p:spPr>
          <a:xfrm>
            <a:off x="6870948" y="1414463"/>
            <a:ext cx="195487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FILES</a:t>
            </a:r>
            <a:endParaRPr lang="en-US" sz="730" dirty="0"/>
          </a:p>
        </p:txBody>
      </p:sp>
      <p:sp>
        <p:nvSpPr>
          <p:cNvPr id="36" name="Text 29"/>
          <p:cNvSpPr/>
          <p:nvPr/>
        </p:nvSpPr>
        <p:spPr>
          <a:xfrm>
            <a:off x="6870948" y="1588889"/>
            <a:ext cx="1812700" cy="23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8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order_products_prior/train, products, aisles, departments</a:t>
            </a:r>
            <a:endParaRPr lang="en-US" sz="650" dirty="0"/>
          </a:p>
        </p:txBody>
      </p:sp>
      <p:sp>
        <p:nvSpPr>
          <p:cNvPr id="37" name="Text 30"/>
          <p:cNvSpPr/>
          <p:nvPr/>
        </p:nvSpPr>
        <p:spPr>
          <a:xfrm>
            <a:off x="372070" y="2021979"/>
            <a:ext cx="4149775" cy="2680543"/>
          </a:xfrm>
          <a:prstGeom prst="roundRect">
            <a:avLst>
              <a:gd name="adj" fmla="val 2132"/>
            </a:avLst>
          </a:prstGeom>
          <a:solidFill>
            <a:srgbClr val="0A1A28"/>
          </a:solidFill>
          <a:ln w="9525">
            <a:solidFill>
              <a:srgbClr val="94AFC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509736" y="2131814"/>
            <a:ext cx="3951931" cy="205680"/>
          </a:xfrm>
          <a:prstGeom prst="rect">
            <a:avLst/>
          </a:prstGeom>
          <a:noFill/>
          <a:ln/>
        </p:spPr>
        <p:txBody>
          <a:bodyPr wrap="none" lIns="137071" tIns="0" rIns="0" bIns="57150" rtlCol="0" anchor="ctr"/>
          <a:lstStyle/>
          <a:p>
            <a:pPr marL="0" indent="0" algn="l">
              <a:buNone/>
            </a:pPr>
            <a:r>
              <a:rPr lang="en-US" sz="730" b="1" kern="0" spc="6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730" dirty="0"/>
          </a:p>
        </p:txBody>
      </p:sp>
      <p:sp>
        <p:nvSpPr>
          <p:cNvPr id="39" name="Text 32"/>
          <p:cNvSpPr/>
          <p:nvPr/>
        </p:nvSpPr>
        <p:spPr>
          <a:xfrm>
            <a:off x="509736" y="2327970"/>
            <a:ext cx="3874443" cy="9525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403" y="2134948"/>
            <a:ext cx="132588" cy="13258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9736" y="2443907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614205" y="2408486"/>
            <a:ext cx="987641" cy="153293"/>
          </a:xfrm>
          <a:prstGeom prst="roundRect">
            <a:avLst>
              <a:gd name="adj" fmla="val 14084"/>
            </a:avLst>
          </a:prstGeom>
          <a:solidFill>
            <a:srgbClr val="F3732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BB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order_hour_of_day</a:t>
            </a:r>
            <a:endParaRPr lang="en-US" sz="680" dirty="0"/>
          </a:p>
        </p:txBody>
      </p:sp>
      <p:sp>
        <p:nvSpPr>
          <p:cNvPr id="43" name="Text 35"/>
          <p:cNvSpPr/>
          <p:nvPr/>
        </p:nvSpPr>
        <p:spPr>
          <a:xfrm>
            <a:off x="1663154" y="2408486"/>
            <a:ext cx="974899" cy="1346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time patterns</a:t>
            </a:r>
            <a:endParaRPr lang="en-US" sz="680" dirty="0"/>
          </a:p>
        </p:txBody>
      </p:sp>
      <p:sp>
        <p:nvSpPr>
          <p:cNvPr id="44" name="Text 36"/>
          <p:cNvSpPr/>
          <p:nvPr/>
        </p:nvSpPr>
        <p:spPr>
          <a:xfrm>
            <a:off x="509736" y="2646611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7"/>
          <p:cNvSpPr/>
          <p:nvPr/>
        </p:nvSpPr>
        <p:spPr>
          <a:xfrm>
            <a:off x="618354" y="2611189"/>
            <a:ext cx="564410" cy="153293"/>
          </a:xfrm>
          <a:prstGeom prst="roundRect">
            <a:avLst>
              <a:gd name="adj" fmla="val 14084"/>
            </a:avLst>
          </a:prstGeom>
          <a:solidFill>
            <a:srgbClr val="F3732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BB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order_dow</a:t>
            </a:r>
            <a:endParaRPr lang="en-US" sz="680" dirty="0"/>
          </a:p>
        </p:txBody>
      </p:sp>
      <p:sp>
        <p:nvSpPr>
          <p:cNvPr id="46" name="Text 38"/>
          <p:cNvSpPr/>
          <p:nvPr/>
        </p:nvSpPr>
        <p:spPr>
          <a:xfrm>
            <a:off x="1248221" y="2611189"/>
            <a:ext cx="922020" cy="1346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behavior</a:t>
            </a:r>
            <a:endParaRPr lang="en-US" sz="680" dirty="0"/>
          </a:p>
        </p:txBody>
      </p:sp>
      <p:sp>
        <p:nvSpPr>
          <p:cNvPr id="47" name="Text 39"/>
          <p:cNvSpPr/>
          <p:nvPr/>
        </p:nvSpPr>
        <p:spPr>
          <a:xfrm>
            <a:off x="509736" y="2849314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611611" y="2813893"/>
            <a:ext cx="1252237" cy="153293"/>
          </a:xfrm>
          <a:prstGeom prst="roundRect">
            <a:avLst>
              <a:gd name="adj" fmla="val 14084"/>
            </a:avLst>
          </a:prstGeom>
          <a:solidFill>
            <a:srgbClr val="F3732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BB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</a:t>
            </a:r>
            <a:endParaRPr lang="en-US" sz="680" dirty="0"/>
          </a:p>
        </p:txBody>
      </p:sp>
      <p:sp>
        <p:nvSpPr>
          <p:cNvPr id="49" name="Text 41"/>
          <p:cNvSpPr/>
          <p:nvPr/>
        </p:nvSpPr>
        <p:spPr>
          <a:xfrm>
            <a:off x="1922562" y="2813893"/>
            <a:ext cx="943139" cy="1346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Inter-purchase interval</a:t>
            </a:r>
            <a:endParaRPr lang="en-US" sz="680" dirty="0"/>
          </a:p>
        </p:txBody>
      </p:sp>
      <p:sp>
        <p:nvSpPr>
          <p:cNvPr id="50" name="Text 42"/>
          <p:cNvSpPr/>
          <p:nvPr/>
        </p:nvSpPr>
        <p:spPr>
          <a:xfrm>
            <a:off x="509736" y="3052018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614205" y="3016597"/>
            <a:ext cx="987641" cy="153293"/>
          </a:xfrm>
          <a:prstGeom prst="roundRect">
            <a:avLst>
              <a:gd name="adj" fmla="val 14084"/>
            </a:avLst>
          </a:prstGeom>
          <a:solidFill>
            <a:srgbClr val="F3732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BB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add_to_cart_order</a:t>
            </a:r>
            <a:endParaRPr lang="en-US" sz="680" dirty="0"/>
          </a:p>
        </p:txBody>
      </p:sp>
      <p:sp>
        <p:nvSpPr>
          <p:cNvPr id="52" name="Text 44"/>
          <p:cNvSpPr/>
          <p:nvPr/>
        </p:nvSpPr>
        <p:spPr>
          <a:xfrm>
            <a:off x="1663154" y="3016597"/>
            <a:ext cx="1328023" cy="1346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purchasing behavior</a:t>
            </a:r>
            <a:endParaRPr lang="en-US" sz="680" dirty="0"/>
          </a:p>
        </p:txBody>
      </p:sp>
      <p:sp>
        <p:nvSpPr>
          <p:cNvPr id="53" name="Text 45"/>
          <p:cNvSpPr/>
          <p:nvPr/>
        </p:nvSpPr>
        <p:spPr>
          <a:xfrm>
            <a:off x="509736" y="3254722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618354" y="3219301"/>
            <a:ext cx="564410" cy="153293"/>
          </a:xfrm>
          <a:prstGeom prst="roundRect">
            <a:avLst>
              <a:gd name="adj" fmla="val 14084"/>
            </a:avLst>
          </a:prstGeom>
          <a:solidFill>
            <a:srgbClr val="F37324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FBB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reordered</a:t>
            </a:r>
            <a:endParaRPr lang="en-US" sz="680" dirty="0"/>
          </a:p>
        </p:txBody>
      </p:sp>
      <p:sp>
        <p:nvSpPr>
          <p:cNvPr id="55" name="Text 47"/>
          <p:cNvSpPr/>
          <p:nvPr/>
        </p:nvSpPr>
        <p:spPr>
          <a:xfrm>
            <a:off x="1248221" y="3219301"/>
            <a:ext cx="2084695" cy="1346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binary (0/1) classification label</a:t>
            </a:r>
            <a:endParaRPr lang="en-US" sz="680" dirty="0"/>
          </a:p>
        </p:txBody>
      </p:sp>
      <p:sp>
        <p:nvSpPr>
          <p:cNvPr id="56" name="Text 48"/>
          <p:cNvSpPr/>
          <p:nvPr/>
        </p:nvSpPr>
        <p:spPr>
          <a:xfrm>
            <a:off x="4622155" y="2021979"/>
            <a:ext cx="4149775" cy="2680543"/>
          </a:xfrm>
          <a:prstGeom prst="roundRect">
            <a:avLst>
              <a:gd name="adj" fmla="val 2132"/>
            </a:avLst>
          </a:prstGeom>
          <a:solidFill>
            <a:srgbClr val="0A1A28"/>
          </a:solidFill>
          <a:ln w="9525">
            <a:solidFill>
              <a:srgbClr val="94AFC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4759821" y="2131814"/>
            <a:ext cx="3951931" cy="205680"/>
          </a:xfrm>
          <a:prstGeom prst="rect">
            <a:avLst/>
          </a:prstGeom>
          <a:noFill/>
          <a:ln/>
        </p:spPr>
        <p:txBody>
          <a:bodyPr wrap="none" lIns="137071" tIns="0" rIns="0" bIns="57150" rtlCol="0" anchor="ctr"/>
          <a:lstStyle/>
          <a:p>
            <a:pPr marL="0" indent="0" algn="l">
              <a:buNone/>
            </a:pPr>
            <a:r>
              <a:rPr lang="en-US" sz="730" b="1" kern="0" spc="6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STAR SCHEMA</a:t>
            </a:r>
            <a:endParaRPr lang="en-US" sz="730" dirty="0"/>
          </a:p>
        </p:txBody>
      </p:sp>
      <p:sp>
        <p:nvSpPr>
          <p:cNvPr id="58" name="Text 50"/>
          <p:cNvSpPr/>
          <p:nvPr/>
        </p:nvSpPr>
        <p:spPr>
          <a:xfrm>
            <a:off x="4759821" y="2327970"/>
            <a:ext cx="3874443" cy="9525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33487" y="2134948"/>
            <a:ext cx="132588" cy="132588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4759821" y="2408486"/>
            <a:ext cx="3874443" cy="238571"/>
          </a:xfrm>
          <a:prstGeom prst="roundRect">
            <a:avLst>
              <a:gd name="adj" fmla="val 18099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11622" y="2461477"/>
            <a:ext cx="132588" cy="13258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4986486" y="2461171"/>
            <a:ext cx="353124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373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700" dirty="0"/>
          </a:p>
        </p:txBody>
      </p:sp>
      <p:sp>
        <p:nvSpPr>
          <p:cNvPr id="63" name="Text 53"/>
          <p:cNvSpPr/>
          <p:nvPr/>
        </p:nvSpPr>
        <p:spPr>
          <a:xfrm>
            <a:off x="5378500" y="2468761"/>
            <a:ext cx="104742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fact table (center of star)</a:t>
            </a:r>
            <a:endParaRPr lang="en-US" sz="620" dirty="0"/>
          </a:p>
        </p:txBody>
      </p:sp>
      <p:sp>
        <p:nvSpPr>
          <p:cNvPr id="64" name="Text 54"/>
          <p:cNvSpPr/>
          <p:nvPr/>
        </p:nvSpPr>
        <p:spPr>
          <a:xfrm>
            <a:off x="4788991" y="2713286"/>
            <a:ext cx="1018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30" dirty="0"/>
          </a:p>
        </p:txBody>
      </p:sp>
      <p:sp>
        <p:nvSpPr>
          <p:cNvPr id="65" name="Text 55"/>
          <p:cNvSpPr/>
          <p:nvPr/>
        </p:nvSpPr>
        <p:spPr>
          <a:xfrm>
            <a:off x="4938713" y="2704207"/>
            <a:ext cx="825252" cy="172879"/>
          </a:xfrm>
          <a:prstGeom prst="roundRect">
            <a:avLst>
              <a:gd name="adj" fmla="val 12489"/>
            </a:avLst>
          </a:prstGeom>
          <a:solidFill>
            <a:srgbClr val="A8D4F5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8D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order_products</a:t>
            </a:r>
            <a:endParaRPr lang="en-US" sz="680" dirty="0"/>
          </a:p>
        </p:txBody>
      </p:sp>
      <p:sp>
        <p:nvSpPr>
          <p:cNvPr id="66" name="Text 56"/>
          <p:cNvSpPr/>
          <p:nvPr/>
        </p:nvSpPr>
        <p:spPr>
          <a:xfrm>
            <a:off x="5821114" y="2723704"/>
            <a:ext cx="46346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order_id</a:t>
            </a:r>
            <a:endParaRPr lang="en-US" sz="620" dirty="0"/>
          </a:p>
        </p:txBody>
      </p:sp>
      <p:sp>
        <p:nvSpPr>
          <p:cNvPr id="68" name="Text 58"/>
          <p:cNvSpPr/>
          <p:nvPr/>
        </p:nvSpPr>
        <p:spPr>
          <a:xfrm>
            <a:off x="4788991" y="2913608"/>
            <a:ext cx="1018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30" dirty="0"/>
          </a:p>
        </p:txBody>
      </p:sp>
      <p:sp>
        <p:nvSpPr>
          <p:cNvPr id="69" name="Text 59"/>
          <p:cNvSpPr/>
          <p:nvPr/>
        </p:nvSpPr>
        <p:spPr>
          <a:xfrm>
            <a:off x="4938713" y="2904530"/>
            <a:ext cx="513904" cy="172879"/>
          </a:xfrm>
          <a:prstGeom prst="roundRect">
            <a:avLst>
              <a:gd name="adj" fmla="val 12489"/>
            </a:avLst>
          </a:prstGeom>
          <a:solidFill>
            <a:srgbClr val="A8D4F5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8D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680" dirty="0"/>
          </a:p>
        </p:txBody>
      </p:sp>
      <p:sp>
        <p:nvSpPr>
          <p:cNvPr id="70" name="Text 60"/>
          <p:cNvSpPr/>
          <p:nvPr/>
        </p:nvSpPr>
        <p:spPr>
          <a:xfrm>
            <a:off x="5509766" y="2924026"/>
            <a:ext cx="54122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product_id</a:t>
            </a:r>
            <a:endParaRPr lang="en-US" sz="620" dirty="0"/>
          </a:p>
        </p:txBody>
      </p:sp>
      <p:sp>
        <p:nvSpPr>
          <p:cNvPr id="72" name="Text 62"/>
          <p:cNvSpPr/>
          <p:nvPr/>
        </p:nvSpPr>
        <p:spPr>
          <a:xfrm>
            <a:off x="4788991" y="3113931"/>
            <a:ext cx="1018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30" dirty="0"/>
          </a:p>
        </p:txBody>
      </p:sp>
      <p:sp>
        <p:nvSpPr>
          <p:cNvPr id="73" name="Text 63"/>
          <p:cNvSpPr/>
          <p:nvPr/>
        </p:nvSpPr>
        <p:spPr>
          <a:xfrm>
            <a:off x="4938713" y="3104852"/>
            <a:ext cx="410170" cy="172879"/>
          </a:xfrm>
          <a:prstGeom prst="roundRect">
            <a:avLst>
              <a:gd name="adj" fmla="val 12489"/>
            </a:avLst>
          </a:prstGeom>
          <a:solidFill>
            <a:srgbClr val="A8D4F5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8D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aisles</a:t>
            </a:r>
            <a:endParaRPr lang="en-US" sz="680" dirty="0"/>
          </a:p>
        </p:txBody>
      </p:sp>
      <p:sp>
        <p:nvSpPr>
          <p:cNvPr id="74" name="Text 64"/>
          <p:cNvSpPr/>
          <p:nvPr/>
        </p:nvSpPr>
        <p:spPr>
          <a:xfrm>
            <a:off x="5406033" y="3124349"/>
            <a:ext cx="44054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aisle_id</a:t>
            </a:r>
            <a:endParaRPr lang="en-US" sz="620" dirty="0"/>
          </a:p>
        </p:txBody>
      </p:sp>
      <p:sp>
        <p:nvSpPr>
          <p:cNvPr id="76" name="Text 66"/>
          <p:cNvSpPr/>
          <p:nvPr/>
        </p:nvSpPr>
        <p:spPr>
          <a:xfrm>
            <a:off x="4788991" y="3314254"/>
            <a:ext cx="1018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730" dirty="0"/>
          </a:p>
        </p:txBody>
      </p:sp>
      <p:sp>
        <p:nvSpPr>
          <p:cNvPr id="77" name="Text 67"/>
          <p:cNvSpPr/>
          <p:nvPr/>
        </p:nvSpPr>
        <p:spPr>
          <a:xfrm>
            <a:off x="4938713" y="3305175"/>
            <a:ext cx="669578" cy="172879"/>
          </a:xfrm>
          <a:prstGeom prst="roundRect">
            <a:avLst>
              <a:gd name="adj" fmla="val 12489"/>
            </a:avLst>
          </a:prstGeom>
          <a:solidFill>
            <a:srgbClr val="A8D4F5">
              <a:alpha val="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8D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680" dirty="0"/>
          </a:p>
        </p:txBody>
      </p:sp>
      <p:sp>
        <p:nvSpPr>
          <p:cNvPr id="78" name="Text 68"/>
          <p:cNvSpPr/>
          <p:nvPr/>
        </p:nvSpPr>
        <p:spPr>
          <a:xfrm>
            <a:off x="5665440" y="3324671"/>
            <a:ext cx="66008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department_id</a:t>
            </a:r>
            <a:endParaRPr lang="en-US" sz="620" dirty="0"/>
          </a:p>
        </p:txBody>
      </p:sp>
      <p:sp>
        <p:nvSpPr>
          <p:cNvPr id="80" name="Text 70"/>
          <p:cNvSpPr/>
          <p:nvPr/>
        </p:nvSpPr>
        <p:spPr>
          <a:xfrm>
            <a:off x="372070" y="4773513"/>
            <a:ext cx="8567857" cy="184696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Data sourced from Instacart (2017) via Kaggle (McNeil, n.d.; Yasser, n.d.).</a:t>
            </a:r>
            <a:endParaRPr lang="en-US" sz="620" dirty="0"/>
          </a:p>
        </p:txBody>
      </p:sp>
      <p:sp>
        <p:nvSpPr>
          <p:cNvPr id="81" name="Text 71"/>
          <p:cNvSpPr/>
          <p:nvPr/>
        </p:nvSpPr>
        <p:spPr>
          <a:xfrm>
            <a:off x="372070" y="4773513"/>
            <a:ext cx="8399859" cy="9525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100000">
                <a:srgbClr val="E85D0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49411"/>
          </a:xfrm>
          <a:prstGeom prst="rect">
            <a:avLst/>
          </a:prstGeom>
          <a:solidFill>
            <a:srgbClr val="0D1F3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9901" y="278011"/>
            <a:ext cx="285750" cy="21580"/>
          </a:xfrm>
          <a:prstGeom prst="roundRect">
            <a:avLst>
              <a:gd name="adj" fmla="val 64736"/>
            </a:avLst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342751"/>
            <a:ext cx="8958071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spcAft>
                <a:spcPts val="170"/>
              </a:spcAft>
              <a:buNone/>
            </a:pPr>
            <a:r>
              <a:rPr lang="en-US" sz="1690" kern="0" spc="-17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Definition &amp; Research Questions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4302919" y="423863"/>
            <a:ext cx="57150" cy="5715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9901" y="600373"/>
            <a:ext cx="920923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kern="0" spc="29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 (2026)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399901" y="839688"/>
            <a:ext cx="8372029" cy="685373"/>
          </a:xfrm>
          <a:prstGeom prst="rect">
            <a:avLst/>
          </a:prstGeom>
          <a:gradFill rotWithShape="1">
            <a:gsLst>
              <a:gs pos="0">
                <a:srgbClr val="F0F4F8"/>
              </a:gs>
              <a:gs pos="100000">
                <a:srgbClr val="E8EEF5"/>
              </a:gs>
            </a:gsLst>
            <a:lin ang="2700000" scaled="1"/>
          </a:gradFill>
          <a:ln/>
        </p:spPr>
        <p:txBody>
          <a:bodyPr wrap="square" lIns="143510" tIns="92710" rIns="143510" bIns="9271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620" b="1" i="1" kern="0" spc="5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r>
              <a:rPr lang="en-US" sz="82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"Online grocery platforms depend on predicting what customers will reorder. Turning large transactional datasets into actionable intelligence is a core data science challenge (Instacart, 2017)."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399901" y="839688"/>
            <a:ext cx="28575" cy="665411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9901" y="1633240"/>
            <a:ext cx="128758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1656755" y="1694111"/>
            <a:ext cx="5485805" cy="7590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28880" y="1638895"/>
            <a:ext cx="16973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hypotheses · binary classification target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399901" y="1863030"/>
            <a:ext cx="2705249" cy="2866579"/>
          </a:xfrm>
          <a:prstGeom prst="roundRect">
            <a:avLst>
              <a:gd name="adj" fmla="val 2629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D1F33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9901" y="1863030"/>
            <a:ext cx="9525" cy="2866579"/>
          </a:xfrm>
          <a:custGeom>
            <a:avLst/>
            <a:gdLst/>
            <a:ahLst/>
            <a:cxnLst/>
            <a:rect l="l" t="t" r="r" b="b"/>
            <a:pathLst>
              <a:path w="9525" h="2866579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831013"/>
                </a:lnTo>
                <a:lnTo>
                  <a:pt x="8334" y="2828865"/>
                </a:lnTo>
                <a:lnTo>
                  <a:pt x="7144" y="2826524"/>
                </a:lnTo>
                <a:lnTo>
                  <a:pt x="5953" y="2823942"/>
                </a:lnTo>
                <a:lnTo>
                  <a:pt x="4763" y="2821046"/>
                </a:lnTo>
                <a:lnTo>
                  <a:pt x="3572" y="2817714"/>
                </a:lnTo>
                <a:lnTo>
                  <a:pt x="2381" y="2813708"/>
                </a:lnTo>
                <a:lnTo>
                  <a:pt x="1191" y="2808418"/>
                </a:lnTo>
                <a:lnTo>
                  <a:pt x="0" y="279545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95625" y="1863030"/>
            <a:ext cx="9525" cy="2866579"/>
          </a:xfrm>
          <a:custGeom>
            <a:avLst/>
            <a:gdLst/>
            <a:ahLst/>
            <a:cxnLst/>
            <a:rect l="l" t="t" r="r" b="b"/>
            <a:pathLst>
              <a:path w="9525" h="2866579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795458"/>
                </a:lnTo>
                <a:lnTo>
                  <a:pt x="8334" y="2808418"/>
                </a:lnTo>
                <a:lnTo>
                  <a:pt x="7144" y="2813708"/>
                </a:lnTo>
                <a:lnTo>
                  <a:pt x="5953" y="2817714"/>
                </a:lnTo>
                <a:lnTo>
                  <a:pt x="4763" y="2821046"/>
                </a:lnTo>
                <a:lnTo>
                  <a:pt x="3572" y="2823942"/>
                </a:lnTo>
                <a:lnTo>
                  <a:pt x="2381" y="2826524"/>
                </a:lnTo>
                <a:lnTo>
                  <a:pt x="1191" y="2828865"/>
                </a:lnTo>
                <a:lnTo>
                  <a:pt x="0" y="2831013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9901" y="1863030"/>
            <a:ext cx="2705249" cy="28575"/>
          </a:xfrm>
          <a:custGeom>
            <a:avLst/>
            <a:gdLst/>
            <a:ahLst/>
            <a:cxnLst/>
            <a:rect l="l" t="t" r="r" b="b"/>
            <a:pathLst>
              <a:path w="2705249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691120" y="28575"/>
                </a:lnTo>
                <a:lnTo>
                  <a:pt x="2688270" y="25003"/>
                </a:lnTo>
                <a:lnTo>
                  <a:pt x="2685012" y="21431"/>
                </a:lnTo>
                <a:lnTo>
                  <a:pt x="2681260" y="17859"/>
                </a:lnTo>
                <a:lnTo>
                  <a:pt x="2676885" y="14288"/>
                </a:lnTo>
                <a:lnTo>
                  <a:pt x="2671670" y="10716"/>
                </a:lnTo>
                <a:lnTo>
                  <a:pt x="2665195" y="7144"/>
                </a:lnTo>
                <a:lnTo>
                  <a:pt x="2656384" y="3572"/>
                </a:lnTo>
                <a:lnTo>
                  <a:pt x="2634129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3174" y="2049066"/>
            <a:ext cx="2418704" cy="149870"/>
          </a:xfrm>
          <a:prstGeom prst="roundRect">
            <a:avLst>
              <a:gd name="adj" fmla="val 14406"/>
            </a:avLst>
          </a:prstGeom>
          <a:solidFill>
            <a:srgbClr val="F37324"/>
          </a:solidFill>
          <a:ln/>
        </p:spPr>
        <p:txBody>
          <a:bodyPr wrap="none" lIns="64770" tIns="21590" rIns="64770" bIns="21590" rtlCol="0" anchor="ctr"/>
          <a:lstStyle/>
          <a:p>
            <a:pPr marL="0" indent="0" algn="ctr">
              <a:buNone/>
            </a:pPr>
            <a:r>
              <a:rPr lang="en-US" sz="56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1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566886" y="2256086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DE8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839" y="2351038"/>
            <a:ext cx="139005" cy="13900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6886" y="2671316"/>
            <a:ext cx="260840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Purchasing Patterns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566886" y="2888456"/>
            <a:ext cx="2371279" cy="1498592"/>
          </a:xfrm>
          <a:prstGeom prst="rect">
            <a:avLst/>
          </a:prstGeom>
          <a:gradFill rotWithShape="1">
            <a:gsLst>
              <a:gs pos="0">
                <a:srgbClr val="FFF7F0"/>
              </a:gs>
              <a:gs pos="100000">
                <a:srgbClr val="FDEEE0"/>
              </a:gs>
            </a:gsLst>
            <a:lin ang="2700000" scaled="1"/>
          </a:gradFill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730" dirty="0"/>
          </a:p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Customers order more frequently during peak hours (10 AM–6 PM) and on weekends, reflecting daily routine and restocking behavior.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566886" y="2888456"/>
            <a:ext cx="19050" cy="1454944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66886" y="4471392"/>
            <a:ext cx="4212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560" dirty="0"/>
          </a:p>
        </p:txBody>
      </p:sp>
      <p:sp>
        <p:nvSpPr>
          <p:cNvPr id="24" name="Text 21"/>
          <p:cNvSpPr/>
          <p:nvPr/>
        </p:nvSpPr>
        <p:spPr>
          <a:xfrm>
            <a:off x="992981" y="4457551"/>
            <a:ext cx="865138" cy="147831"/>
          </a:xfrm>
          <a:prstGeom prst="roundRect">
            <a:avLst>
              <a:gd name="adj" fmla="val 19759"/>
            </a:avLst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order_hour_of_day</a:t>
            </a:r>
            <a:endParaRPr lang="en-US" sz="560" dirty="0"/>
          </a:p>
        </p:txBody>
      </p:sp>
      <p:sp>
        <p:nvSpPr>
          <p:cNvPr id="25" name="Text 22"/>
          <p:cNvSpPr/>
          <p:nvPr/>
        </p:nvSpPr>
        <p:spPr>
          <a:xfrm>
            <a:off x="1901279" y="4457551"/>
            <a:ext cx="511820" cy="147831"/>
          </a:xfrm>
          <a:prstGeom prst="roundRect">
            <a:avLst>
              <a:gd name="adj" fmla="val 19759"/>
            </a:avLst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order_dow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3233291" y="1863030"/>
            <a:ext cx="2705249" cy="2866579"/>
          </a:xfrm>
          <a:prstGeom prst="roundRect">
            <a:avLst>
              <a:gd name="adj" fmla="val 2629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D1F33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233291" y="1863030"/>
            <a:ext cx="9525" cy="2866579"/>
          </a:xfrm>
          <a:custGeom>
            <a:avLst/>
            <a:gdLst/>
            <a:ahLst/>
            <a:cxnLst/>
            <a:rect l="l" t="t" r="r" b="b"/>
            <a:pathLst>
              <a:path w="9525" h="2866579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831013"/>
                </a:lnTo>
                <a:lnTo>
                  <a:pt x="8334" y="2828865"/>
                </a:lnTo>
                <a:lnTo>
                  <a:pt x="7144" y="2826524"/>
                </a:lnTo>
                <a:lnTo>
                  <a:pt x="5953" y="2823942"/>
                </a:lnTo>
                <a:lnTo>
                  <a:pt x="4763" y="2821046"/>
                </a:lnTo>
                <a:lnTo>
                  <a:pt x="3572" y="2817714"/>
                </a:lnTo>
                <a:lnTo>
                  <a:pt x="2381" y="2813708"/>
                </a:lnTo>
                <a:lnTo>
                  <a:pt x="1191" y="2808418"/>
                </a:lnTo>
                <a:lnTo>
                  <a:pt x="0" y="279545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929015" y="1863030"/>
            <a:ext cx="9525" cy="2866579"/>
          </a:xfrm>
          <a:custGeom>
            <a:avLst/>
            <a:gdLst/>
            <a:ahLst/>
            <a:cxnLst/>
            <a:rect l="l" t="t" r="r" b="b"/>
            <a:pathLst>
              <a:path w="9525" h="2866579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795458"/>
                </a:lnTo>
                <a:lnTo>
                  <a:pt x="8334" y="2808418"/>
                </a:lnTo>
                <a:lnTo>
                  <a:pt x="7144" y="2813708"/>
                </a:lnTo>
                <a:lnTo>
                  <a:pt x="5953" y="2817714"/>
                </a:lnTo>
                <a:lnTo>
                  <a:pt x="4763" y="2821046"/>
                </a:lnTo>
                <a:lnTo>
                  <a:pt x="3572" y="2823942"/>
                </a:lnTo>
                <a:lnTo>
                  <a:pt x="2381" y="2826524"/>
                </a:lnTo>
                <a:lnTo>
                  <a:pt x="1191" y="2828865"/>
                </a:lnTo>
                <a:lnTo>
                  <a:pt x="0" y="2831013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233291" y="1863030"/>
            <a:ext cx="2705249" cy="28575"/>
          </a:xfrm>
          <a:custGeom>
            <a:avLst/>
            <a:gdLst/>
            <a:ahLst/>
            <a:cxnLst/>
            <a:rect l="l" t="t" r="r" b="b"/>
            <a:pathLst>
              <a:path w="2705249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691120" y="28575"/>
                </a:lnTo>
                <a:lnTo>
                  <a:pt x="2688270" y="25003"/>
                </a:lnTo>
                <a:lnTo>
                  <a:pt x="2685012" y="21431"/>
                </a:lnTo>
                <a:lnTo>
                  <a:pt x="2681260" y="17859"/>
                </a:lnTo>
                <a:lnTo>
                  <a:pt x="2676885" y="14288"/>
                </a:lnTo>
                <a:lnTo>
                  <a:pt x="2671670" y="10716"/>
                </a:lnTo>
                <a:lnTo>
                  <a:pt x="2665195" y="7144"/>
                </a:lnTo>
                <a:lnTo>
                  <a:pt x="2656384" y="3572"/>
                </a:lnTo>
                <a:lnTo>
                  <a:pt x="2634129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376563" y="2049066"/>
            <a:ext cx="2418704" cy="149870"/>
          </a:xfrm>
          <a:prstGeom prst="roundRect">
            <a:avLst>
              <a:gd name="adj" fmla="val 14406"/>
            </a:avLst>
          </a:prstGeom>
          <a:solidFill>
            <a:srgbClr val="F37324"/>
          </a:solidFill>
          <a:ln/>
        </p:spPr>
        <p:txBody>
          <a:bodyPr wrap="none" lIns="64770" tIns="21590" rIns="64770" bIns="21590" rtlCol="0" anchor="ctr"/>
          <a:lstStyle/>
          <a:p>
            <a:pPr marL="0" indent="0" algn="ctr">
              <a:buNone/>
            </a:pPr>
            <a:r>
              <a:rPr lang="en-US" sz="56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2</a:t>
            </a:r>
            <a:endParaRPr lang="en-US" sz="560" dirty="0"/>
          </a:p>
        </p:txBody>
      </p:sp>
      <p:sp>
        <p:nvSpPr>
          <p:cNvPr id="31" name="Text 28"/>
          <p:cNvSpPr/>
          <p:nvPr/>
        </p:nvSpPr>
        <p:spPr>
          <a:xfrm>
            <a:off x="3400276" y="2256086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DE8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5229" y="2351038"/>
            <a:ext cx="139005" cy="139005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400276" y="2671316"/>
            <a:ext cx="260840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Reorder Behavior</a:t>
            </a:r>
            <a:endParaRPr lang="en-US" sz="960" dirty="0"/>
          </a:p>
        </p:txBody>
      </p:sp>
      <p:sp>
        <p:nvSpPr>
          <p:cNvPr id="34" name="Text 30"/>
          <p:cNvSpPr/>
          <p:nvPr/>
        </p:nvSpPr>
        <p:spPr>
          <a:xfrm>
            <a:off x="3400276" y="2888456"/>
            <a:ext cx="2371279" cy="1315714"/>
          </a:xfrm>
          <a:prstGeom prst="rect">
            <a:avLst/>
          </a:prstGeom>
          <a:gradFill rotWithShape="1">
            <a:gsLst>
              <a:gs pos="0">
                <a:srgbClr val="FFF7F0"/>
              </a:gs>
              <a:gs pos="100000">
                <a:srgbClr val="FDEEE0"/>
              </a:gs>
            </a:gsLst>
            <a:lin ang="2700000" scaled="1"/>
          </a:gradFill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730" dirty="0"/>
          </a:p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Frequently purchased and recently ordered products have higher reorder probability, indicating habitual consumer patterns across the platform.</a:t>
            </a:r>
            <a:endParaRPr lang="en-US" sz="730" dirty="0"/>
          </a:p>
        </p:txBody>
      </p:sp>
      <p:sp>
        <p:nvSpPr>
          <p:cNvPr id="35" name="Text 31"/>
          <p:cNvSpPr/>
          <p:nvPr/>
        </p:nvSpPr>
        <p:spPr>
          <a:xfrm>
            <a:off x="3400276" y="2888456"/>
            <a:ext cx="19050" cy="1277392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3400276" y="4293840"/>
            <a:ext cx="4212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560" dirty="0"/>
          </a:p>
        </p:txBody>
      </p:sp>
      <p:sp>
        <p:nvSpPr>
          <p:cNvPr id="37" name="Text 33"/>
          <p:cNvSpPr/>
          <p:nvPr/>
        </p:nvSpPr>
        <p:spPr>
          <a:xfrm>
            <a:off x="3826371" y="4279999"/>
            <a:ext cx="909340" cy="147831"/>
          </a:xfrm>
          <a:prstGeom prst="roundRect">
            <a:avLst>
              <a:gd name="adj" fmla="val 19759"/>
            </a:avLst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reordered (binary)</a:t>
            </a:r>
            <a:endParaRPr lang="en-US" sz="560" dirty="0"/>
          </a:p>
        </p:txBody>
      </p:sp>
      <p:sp>
        <p:nvSpPr>
          <p:cNvPr id="38" name="Text 34"/>
          <p:cNvSpPr/>
          <p:nvPr/>
        </p:nvSpPr>
        <p:spPr>
          <a:xfrm>
            <a:off x="3400276" y="4457551"/>
            <a:ext cx="1085999" cy="147831"/>
          </a:xfrm>
          <a:prstGeom prst="roundRect">
            <a:avLst>
              <a:gd name="adj" fmla="val 19759"/>
            </a:avLst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</a:t>
            </a:r>
            <a:endParaRPr lang="en-US" sz="560" dirty="0"/>
          </a:p>
        </p:txBody>
      </p:sp>
      <p:sp>
        <p:nvSpPr>
          <p:cNvPr id="39" name="Text 35"/>
          <p:cNvSpPr/>
          <p:nvPr/>
        </p:nvSpPr>
        <p:spPr>
          <a:xfrm>
            <a:off x="6066681" y="1863030"/>
            <a:ext cx="2705249" cy="2866579"/>
          </a:xfrm>
          <a:prstGeom prst="roundRect">
            <a:avLst>
              <a:gd name="adj" fmla="val 2629"/>
            </a:avLst>
          </a:prstGeom>
          <a:solidFill>
            <a:srgbClr val="F8FAFC"/>
          </a:solidFill>
          <a:ln/>
          <a:effectLst>
            <a:outerShdw blurRad="86360" dist="13970" dir="5400000" algn="bl" rotWithShape="0">
              <a:srgbClr val="0D1F33">
                <a:alpha val="6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066681" y="1863030"/>
            <a:ext cx="9525" cy="2866579"/>
          </a:xfrm>
          <a:custGeom>
            <a:avLst/>
            <a:gdLst/>
            <a:ahLst/>
            <a:cxnLst/>
            <a:rect l="l" t="t" r="r" b="b"/>
            <a:pathLst>
              <a:path w="9525" h="2866579">
                <a:moveTo>
                  <a:pt x="0" y="71120"/>
                </a:moveTo>
                <a:lnTo>
                  <a:pt x="1191" y="58161"/>
                </a:lnTo>
                <a:lnTo>
                  <a:pt x="2381" y="52871"/>
                </a:lnTo>
                <a:lnTo>
                  <a:pt x="3572" y="48865"/>
                </a:lnTo>
                <a:lnTo>
                  <a:pt x="4763" y="45532"/>
                </a:lnTo>
                <a:lnTo>
                  <a:pt x="5953" y="42636"/>
                </a:lnTo>
                <a:lnTo>
                  <a:pt x="7144" y="40054"/>
                </a:lnTo>
                <a:lnTo>
                  <a:pt x="8334" y="37713"/>
                </a:lnTo>
                <a:lnTo>
                  <a:pt x="9525" y="35566"/>
                </a:lnTo>
                <a:lnTo>
                  <a:pt x="9525" y="2831013"/>
                </a:lnTo>
                <a:lnTo>
                  <a:pt x="8334" y="2828865"/>
                </a:lnTo>
                <a:lnTo>
                  <a:pt x="7144" y="2826524"/>
                </a:lnTo>
                <a:lnTo>
                  <a:pt x="5953" y="2823942"/>
                </a:lnTo>
                <a:lnTo>
                  <a:pt x="4763" y="2821046"/>
                </a:lnTo>
                <a:lnTo>
                  <a:pt x="3572" y="2817714"/>
                </a:lnTo>
                <a:lnTo>
                  <a:pt x="2381" y="2813708"/>
                </a:lnTo>
                <a:lnTo>
                  <a:pt x="1191" y="2808418"/>
                </a:lnTo>
                <a:lnTo>
                  <a:pt x="0" y="2795458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8762405" y="1863030"/>
            <a:ext cx="9525" cy="2866579"/>
          </a:xfrm>
          <a:custGeom>
            <a:avLst/>
            <a:gdLst/>
            <a:ahLst/>
            <a:cxnLst/>
            <a:rect l="l" t="t" r="r" b="b"/>
            <a:pathLst>
              <a:path w="9525" h="2866579">
                <a:moveTo>
                  <a:pt x="0" y="35566"/>
                </a:moveTo>
                <a:lnTo>
                  <a:pt x="1191" y="37713"/>
                </a:lnTo>
                <a:lnTo>
                  <a:pt x="2381" y="40054"/>
                </a:lnTo>
                <a:lnTo>
                  <a:pt x="3572" y="42636"/>
                </a:lnTo>
                <a:lnTo>
                  <a:pt x="4763" y="45532"/>
                </a:lnTo>
                <a:lnTo>
                  <a:pt x="5953" y="48865"/>
                </a:lnTo>
                <a:lnTo>
                  <a:pt x="7144" y="52871"/>
                </a:lnTo>
                <a:lnTo>
                  <a:pt x="8334" y="58161"/>
                </a:lnTo>
                <a:lnTo>
                  <a:pt x="9525" y="71120"/>
                </a:lnTo>
                <a:lnTo>
                  <a:pt x="9525" y="2795458"/>
                </a:lnTo>
                <a:lnTo>
                  <a:pt x="8334" y="2808418"/>
                </a:lnTo>
                <a:lnTo>
                  <a:pt x="7144" y="2813708"/>
                </a:lnTo>
                <a:lnTo>
                  <a:pt x="5953" y="2817714"/>
                </a:lnTo>
                <a:lnTo>
                  <a:pt x="4763" y="2821046"/>
                </a:lnTo>
                <a:lnTo>
                  <a:pt x="3572" y="2823942"/>
                </a:lnTo>
                <a:lnTo>
                  <a:pt x="2381" y="2826524"/>
                </a:lnTo>
                <a:lnTo>
                  <a:pt x="1191" y="2828865"/>
                </a:lnTo>
                <a:lnTo>
                  <a:pt x="0" y="2831013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066681" y="1863030"/>
            <a:ext cx="2705249" cy="28575"/>
          </a:xfrm>
          <a:custGeom>
            <a:avLst/>
            <a:gdLst/>
            <a:ahLst/>
            <a:cxnLst/>
            <a:rect l="l" t="t" r="r" b="b"/>
            <a:pathLst>
              <a:path w="2705249" h="28575">
                <a:moveTo>
                  <a:pt x="71120" y="0"/>
                </a:moveTo>
                <a:lnTo>
                  <a:pt x="48865" y="3572"/>
                </a:lnTo>
                <a:lnTo>
                  <a:pt x="40054" y="7144"/>
                </a:lnTo>
                <a:lnTo>
                  <a:pt x="33579" y="10716"/>
                </a:lnTo>
                <a:lnTo>
                  <a:pt x="28363" y="14288"/>
                </a:lnTo>
                <a:lnTo>
                  <a:pt x="23989" y="17859"/>
                </a:lnTo>
                <a:lnTo>
                  <a:pt x="20237" y="21431"/>
                </a:lnTo>
                <a:lnTo>
                  <a:pt x="16979" y="25003"/>
                </a:lnTo>
                <a:lnTo>
                  <a:pt x="14129" y="28575"/>
                </a:lnTo>
                <a:lnTo>
                  <a:pt x="2691120" y="28575"/>
                </a:lnTo>
                <a:lnTo>
                  <a:pt x="2688270" y="25003"/>
                </a:lnTo>
                <a:lnTo>
                  <a:pt x="2685012" y="21431"/>
                </a:lnTo>
                <a:lnTo>
                  <a:pt x="2681260" y="17859"/>
                </a:lnTo>
                <a:lnTo>
                  <a:pt x="2676885" y="14288"/>
                </a:lnTo>
                <a:lnTo>
                  <a:pt x="2671670" y="10716"/>
                </a:lnTo>
                <a:lnTo>
                  <a:pt x="2665195" y="7144"/>
                </a:lnTo>
                <a:lnTo>
                  <a:pt x="2656384" y="3572"/>
                </a:lnTo>
                <a:lnTo>
                  <a:pt x="2634129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209953" y="2049066"/>
            <a:ext cx="2418704" cy="149870"/>
          </a:xfrm>
          <a:prstGeom prst="roundRect">
            <a:avLst>
              <a:gd name="adj" fmla="val 14406"/>
            </a:avLst>
          </a:prstGeom>
          <a:solidFill>
            <a:srgbClr val="F37324"/>
          </a:solidFill>
          <a:ln/>
        </p:spPr>
        <p:txBody>
          <a:bodyPr wrap="none" lIns="64770" tIns="21590" rIns="64770" bIns="21590" rtlCol="0" anchor="ctr"/>
          <a:lstStyle/>
          <a:p>
            <a:pPr marL="0" indent="0" algn="ctr">
              <a:buNone/>
            </a:pPr>
            <a:r>
              <a:rPr lang="en-US" sz="560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3</a:t>
            </a:r>
            <a:endParaRPr lang="en-US" sz="560" dirty="0"/>
          </a:p>
        </p:txBody>
      </p:sp>
      <p:sp>
        <p:nvSpPr>
          <p:cNvPr id="44" name="Text 40"/>
          <p:cNvSpPr/>
          <p:nvPr/>
        </p:nvSpPr>
        <p:spPr>
          <a:xfrm>
            <a:off x="6233666" y="2256086"/>
            <a:ext cx="328910" cy="328910"/>
          </a:xfrm>
          <a:prstGeom prst="roundRect">
            <a:avLst>
              <a:gd name="adj" fmla="val 21623"/>
            </a:avLst>
          </a:prstGeom>
          <a:solidFill>
            <a:srgbClr val="FDE8D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8618" y="2351038"/>
            <a:ext cx="139005" cy="139005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233666" y="2671316"/>
            <a:ext cx="2608406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Co-Purchase Relationships</a:t>
            </a:r>
            <a:endParaRPr lang="en-US" sz="960" dirty="0"/>
          </a:p>
        </p:txBody>
      </p:sp>
      <p:sp>
        <p:nvSpPr>
          <p:cNvPr id="47" name="Text 42"/>
          <p:cNvSpPr/>
          <p:nvPr/>
        </p:nvSpPr>
        <p:spPr>
          <a:xfrm>
            <a:off x="6233666" y="2888456"/>
            <a:ext cx="2371279" cy="1498592"/>
          </a:xfrm>
          <a:prstGeom prst="rect">
            <a:avLst/>
          </a:prstGeom>
          <a:gradFill rotWithShape="1">
            <a:gsLst>
              <a:gs pos="0">
                <a:srgbClr val="FFF7F0"/>
              </a:gs>
              <a:gs pos="100000">
                <a:srgbClr val="FDEEE0"/>
              </a:gs>
            </a:gsLst>
            <a:lin ang="2700000" scaled="1"/>
          </a:gradFill>
          <a:ln/>
        </p:spPr>
        <p:txBody>
          <a:bodyPr wrap="square" lIns="86360" tIns="64770" rIns="86360" bIns="6477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730" dirty="0"/>
          </a:p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2D3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 and dairy items are commonly purchased together, reflecting household staple bundling behavior and aisle-level affinity patterns.</a:t>
            </a:r>
            <a:endParaRPr lang="en-US" sz="730" dirty="0"/>
          </a:p>
        </p:txBody>
      </p:sp>
      <p:sp>
        <p:nvSpPr>
          <p:cNvPr id="48" name="Text 43"/>
          <p:cNvSpPr/>
          <p:nvPr/>
        </p:nvSpPr>
        <p:spPr>
          <a:xfrm>
            <a:off x="6233666" y="2888456"/>
            <a:ext cx="19050" cy="1454944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6233666" y="4471392"/>
            <a:ext cx="42122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7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</a:t>
            </a:r>
            <a:endParaRPr lang="en-US" sz="560" dirty="0"/>
          </a:p>
        </p:txBody>
      </p:sp>
      <p:sp>
        <p:nvSpPr>
          <p:cNvPr id="50" name="Text 45"/>
          <p:cNvSpPr/>
          <p:nvPr/>
        </p:nvSpPr>
        <p:spPr>
          <a:xfrm>
            <a:off x="6659761" y="4457551"/>
            <a:ext cx="865138" cy="147831"/>
          </a:xfrm>
          <a:prstGeom prst="roundRect">
            <a:avLst>
              <a:gd name="adj" fmla="val 19759"/>
            </a:avLst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add_to_cart_order</a:t>
            </a:r>
            <a:endParaRPr lang="en-US" sz="560" dirty="0"/>
          </a:p>
        </p:txBody>
      </p:sp>
      <p:sp>
        <p:nvSpPr>
          <p:cNvPr id="51" name="Text 46"/>
          <p:cNvSpPr/>
          <p:nvPr/>
        </p:nvSpPr>
        <p:spPr>
          <a:xfrm>
            <a:off x="7568059" y="4457551"/>
            <a:ext cx="997595" cy="147831"/>
          </a:xfrm>
          <a:prstGeom prst="roundRect">
            <a:avLst>
              <a:gd name="adj" fmla="val 19759"/>
            </a:avLst>
          </a:prstGeom>
          <a:solidFill>
            <a:srgbClr val="0D1F3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groupings</a:t>
            </a:r>
            <a:endParaRPr lang="en-US" sz="560" dirty="0"/>
          </a:p>
        </p:txBody>
      </p:sp>
      <p:sp>
        <p:nvSpPr>
          <p:cNvPr id="52" name="Text 47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solidFill>
            <a:srgbClr val="0D1F3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372070" y="4963269"/>
            <a:ext cx="332104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Research questions adapted from Zimmerman-Gibson (2026) project proposal.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94AFC8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429470"/>
          </a:xfrm>
          <a:prstGeom prst="rect">
            <a:avLst/>
          </a:prstGeom>
          <a:gradFill rotWithShape="1">
            <a:gsLst>
              <a:gs pos="0">
                <a:srgbClr val="F3732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0" y="3143250"/>
            <a:ext cx="2000250" cy="2000250"/>
          </a:xfrm>
          <a:prstGeom prst="rect">
            <a:avLst/>
          </a:prstGeom>
          <a:gradFill rotWithShape="1">
            <a:gsLst>
              <a:gs pos="0">
                <a:srgbClr val="6366F1">
                  <a:alpha val="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91827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914900"/>
            <a:ext cx="9144000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074" y="4967669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1247" y="4977854"/>
            <a:ext cx="3873892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EDA conducted using Python libraries Pandas, Matplotlib, and Seaborn (Zimmerman-Gibson, 2026).</a:t>
            </a:r>
            <a:endParaRPr lang="en-US" sz="590" dirty="0"/>
          </a:p>
        </p:txBody>
      </p:sp>
      <p:sp>
        <p:nvSpPr>
          <p:cNvPr id="10" name="Text 7"/>
          <p:cNvSpPr/>
          <p:nvPr/>
        </p:nvSpPr>
        <p:spPr>
          <a:xfrm>
            <a:off x="0" y="0"/>
            <a:ext cx="9144000" cy="814685"/>
          </a:xfrm>
          <a:prstGeom prst="rect">
            <a:avLst/>
          </a:prstGeom>
          <a:gradFill rotWithShape="1">
            <a:gsLst>
              <a:gs pos="0">
                <a:srgbClr val="F37324">
                  <a:alpha val="18000"/>
                </a:srgbClr>
              </a:gs>
              <a:gs pos="100000">
                <a:srgbClr val="11274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0" y="805160"/>
            <a:ext cx="9144000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2900" y="114300"/>
            <a:ext cx="472976" cy="198254"/>
          </a:xfrm>
          <a:prstGeom prst="roundRect">
            <a:avLst>
              <a:gd name="adj" fmla="val 72387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62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092" y="138047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02196" y="145405"/>
            <a:ext cx="7399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Pipeline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342900" y="323701"/>
            <a:ext cx="3021217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38"/>
              </a:lnSpc>
              <a:buNone/>
            </a:pPr>
            <a:r>
              <a:rPr lang="en-US" sz="1580" kern="0" spc="-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Data Analysis </a:t>
            </a:r>
            <a:r>
              <a:rPr lang="en-US" sz="1580" kern="0" spc="-16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(EDA)</a:t>
            </a:r>
            <a:endParaRPr lang="en-US" sz="1580" dirty="0"/>
          </a:p>
        </p:txBody>
      </p:sp>
      <p:sp>
        <p:nvSpPr>
          <p:cNvPr id="16" name="Text 12"/>
          <p:cNvSpPr/>
          <p:nvPr/>
        </p:nvSpPr>
        <p:spPr>
          <a:xfrm>
            <a:off x="342900" y="565845"/>
            <a:ext cx="310592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70"/>
              </a:spcBef>
              <a:buNone/>
            </a:pPr>
            <a:r>
              <a:rPr lang="en-US" sz="730" kern="0" spc="15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Statistical Findings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6538466" y="193328"/>
            <a:ext cx="577007" cy="445469"/>
          </a:xfrm>
          <a:prstGeom prst="roundRect">
            <a:avLst>
              <a:gd name="adj" fmla="val 12829"/>
            </a:avLst>
          </a:prstGeom>
          <a:solidFill>
            <a:srgbClr val="112740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lIns="114300" tIns="57150" rIns="114300" bIns="5715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3M+</a:t>
            </a:r>
            <a:endParaRPr lang="en-US" sz="1010" dirty="0"/>
          </a:p>
          <a:p>
            <a:pPr marL="0" indent="0" algn="ctr">
              <a:buNone/>
            </a:pPr>
            <a:r>
              <a:rPr lang="en-US" sz="560" kern="0" spc="3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10" dirty="0"/>
          </a:p>
        </p:txBody>
      </p:sp>
      <p:sp>
        <p:nvSpPr>
          <p:cNvPr id="18" name="Text 14"/>
          <p:cNvSpPr/>
          <p:nvPr/>
        </p:nvSpPr>
        <p:spPr>
          <a:xfrm>
            <a:off x="7201793" y="193328"/>
            <a:ext cx="857696" cy="445469"/>
          </a:xfrm>
          <a:prstGeom prst="roundRect">
            <a:avLst>
              <a:gd name="adj" fmla="val 12829"/>
            </a:avLst>
          </a:prstGeom>
          <a:solidFill>
            <a:srgbClr val="112740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lIns="114300" tIns="57150" rIns="114300" bIns="5715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7ECFB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59%</a:t>
            </a:r>
            <a:endParaRPr lang="en-US" sz="1010" dirty="0"/>
          </a:p>
          <a:p>
            <a:pPr marL="0" indent="0" algn="ctr">
              <a:buNone/>
            </a:pPr>
            <a:r>
              <a:rPr lang="en-US" sz="560" kern="0" spc="3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010" dirty="0"/>
          </a:p>
        </p:txBody>
      </p:sp>
      <p:sp>
        <p:nvSpPr>
          <p:cNvPr id="19" name="Text 15"/>
          <p:cNvSpPr/>
          <p:nvPr/>
        </p:nvSpPr>
        <p:spPr>
          <a:xfrm>
            <a:off x="8145810" y="193328"/>
            <a:ext cx="655290" cy="445469"/>
          </a:xfrm>
          <a:prstGeom prst="roundRect">
            <a:avLst>
              <a:gd name="adj" fmla="val 12829"/>
            </a:avLst>
          </a:prstGeom>
          <a:solidFill>
            <a:srgbClr val="112740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lIns="114300" tIns="57150" rIns="114300" bIns="57150" rtlCol="0" anchor="t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010" dirty="0"/>
          </a:p>
          <a:p>
            <a:pPr marL="0" indent="0" algn="ctr">
              <a:buNone/>
            </a:pPr>
            <a:r>
              <a:rPr lang="en-US" sz="560" kern="0" spc="34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10" dirty="0"/>
          </a:p>
        </p:txBody>
      </p:sp>
      <p:sp>
        <p:nvSpPr>
          <p:cNvPr id="20" name="Text 16"/>
          <p:cNvSpPr/>
          <p:nvPr/>
        </p:nvSpPr>
        <p:spPr>
          <a:xfrm>
            <a:off x="342900" y="901005"/>
            <a:ext cx="4387900" cy="3185071"/>
          </a:xfrm>
          <a:prstGeom prst="roundRect">
            <a:avLst>
              <a:gd name="adj" fmla="val 2233"/>
            </a:avLst>
          </a:prstGeom>
          <a:solidFill>
            <a:srgbClr val="112740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0566" y="1024830"/>
            <a:ext cx="4194819" cy="205680"/>
          </a:xfrm>
          <a:prstGeom prst="rect">
            <a:avLst/>
          </a:prstGeom>
          <a:noFill/>
          <a:ln/>
        </p:spPr>
        <p:txBody>
          <a:bodyPr wrap="none" lIns="124688" tIns="0" rIns="0" bIns="57150" rtlCol="0" anchor="ctr"/>
          <a:lstStyle/>
          <a:p>
            <a:pPr marL="0" indent="0" algn="l">
              <a:buNone/>
            </a:pPr>
            <a:r>
              <a:rPr lang="en-US" sz="730" b="1" kern="0" spc="51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STATISTICAL FINDINGS</a:t>
            </a:r>
            <a:endParaRPr lang="en-US" sz="730" dirty="0"/>
          </a:p>
        </p:txBody>
      </p:sp>
      <p:sp>
        <p:nvSpPr>
          <p:cNvPr id="22" name="Text 18"/>
          <p:cNvSpPr/>
          <p:nvPr/>
        </p:nvSpPr>
        <p:spPr>
          <a:xfrm>
            <a:off x="480566" y="1220986"/>
            <a:ext cx="4112568" cy="9525"/>
          </a:xfrm>
          <a:prstGeom prst="rect">
            <a:avLst/>
          </a:prstGeom>
          <a:solidFill>
            <a:srgbClr val="F37324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1851" y="1027965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0566" y="1789807"/>
            <a:ext cx="411256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80566" y="1366242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508" y="1400184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5927" y="1358652"/>
            <a:ext cx="42319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50" b="1" dirty="0">
                <a:solidFill>
                  <a:srgbClr val="F373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order_hour_of_day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45927" y="1490067"/>
            <a:ext cx="3924151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Unimodal distribution; peak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AM–6 PM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slight right skew; majority of orders occur during business hours.</a:t>
            </a:r>
            <a:endParaRPr lang="en-US" sz="680" dirty="0"/>
          </a:p>
        </p:txBody>
      </p:sp>
      <p:sp>
        <p:nvSpPr>
          <p:cNvPr id="29" name="Text 23"/>
          <p:cNvSpPr/>
          <p:nvPr/>
        </p:nvSpPr>
        <p:spPr>
          <a:xfrm>
            <a:off x="480566" y="2279898"/>
            <a:ext cx="411256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80566" y="1856333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508" y="1890275"/>
            <a:ext cx="132588" cy="1325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5927" y="1848743"/>
            <a:ext cx="42319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50" b="1" dirty="0">
                <a:solidFill>
                  <a:srgbClr val="F373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order_dow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45927" y="1980158"/>
            <a:ext cx="3924151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balanced across days;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show slightly higher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ordering volume (Sun &amp; Mon elevated).</a:t>
            </a:r>
            <a:endParaRPr lang="en-US" sz="680" dirty="0"/>
          </a:p>
        </p:txBody>
      </p:sp>
      <p:sp>
        <p:nvSpPr>
          <p:cNvPr id="34" name="Text 27"/>
          <p:cNvSpPr/>
          <p:nvPr/>
        </p:nvSpPr>
        <p:spPr>
          <a:xfrm>
            <a:off x="480566" y="2644825"/>
            <a:ext cx="411256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480566" y="2346424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4508" y="2380366"/>
            <a:ext cx="132588" cy="132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5927" y="2338834"/>
            <a:ext cx="42319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50" b="1" dirty="0">
                <a:solidFill>
                  <a:srgbClr val="F373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45927" y="2470249"/>
            <a:ext cx="4231928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most values cluster at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1–15 days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long tail indicates infrequent shoppers.</a:t>
            </a:r>
            <a:endParaRPr lang="en-US" sz="680" dirty="0"/>
          </a:p>
        </p:txBody>
      </p:sp>
      <p:sp>
        <p:nvSpPr>
          <p:cNvPr id="39" name="Text 31"/>
          <p:cNvSpPr/>
          <p:nvPr/>
        </p:nvSpPr>
        <p:spPr>
          <a:xfrm>
            <a:off x="480566" y="3134916"/>
            <a:ext cx="411256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480566" y="2711351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508" y="2745293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45927" y="2703761"/>
            <a:ext cx="423192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50" b="1" dirty="0">
                <a:solidFill>
                  <a:srgbClr val="F373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add_to_cart_order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745927" y="2835176"/>
            <a:ext cx="3924151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increase within orders;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values → habitual early-cart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items; reflects ingrained purchasing sequences.</a:t>
            </a:r>
            <a:endParaRPr lang="en-US" sz="680" dirty="0"/>
          </a:p>
        </p:txBody>
      </p:sp>
      <p:sp>
        <p:nvSpPr>
          <p:cNvPr id="44" name="Text 35"/>
          <p:cNvSpPr/>
          <p:nvPr/>
        </p:nvSpPr>
        <p:spPr>
          <a:xfrm>
            <a:off x="480566" y="3201442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7ECFB3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4508" y="3235384"/>
            <a:ext cx="132588" cy="1325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45927" y="3279577"/>
            <a:ext cx="49146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7ECF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reordered</a:t>
            </a:r>
            <a:endParaRPr lang="en-US" sz="650" dirty="0"/>
          </a:p>
        </p:txBody>
      </p:sp>
      <p:sp>
        <p:nvSpPr>
          <p:cNvPr id="47" name="Text 37"/>
          <p:cNvSpPr/>
          <p:nvPr/>
        </p:nvSpPr>
        <p:spPr>
          <a:xfrm>
            <a:off x="1272027" y="3260527"/>
            <a:ext cx="638339" cy="137071"/>
          </a:xfrm>
          <a:prstGeom prst="roundRect">
            <a:avLst>
              <a:gd name="adj" fmla="val 21310"/>
            </a:avLst>
          </a:prstGeom>
          <a:solidFill>
            <a:srgbClr val="F37324">
              <a:alpha val="20000"/>
            </a:srgbClr>
          </a:solidFill>
          <a:ln w="9525">
            <a:solidFill>
              <a:srgbClr val="F37324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≈ 0.59</a:t>
            </a:r>
            <a:endParaRPr lang="en-US" sz="620" dirty="0"/>
          </a:p>
        </p:txBody>
      </p:sp>
      <p:sp>
        <p:nvSpPr>
          <p:cNvPr id="48" name="Text 38"/>
          <p:cNvSpPr/>
          <p:nvPr/>
        </p:nvSpPr>
        <p:spPr>
          <a:xfrm>
            <a:off x="745927" y="3430042"/>
            <a:ext cx="3924151" cy="26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training items are reorders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confirms a meaningful, learnable supervised classification target.</a:t>
            </a:r>
            <a:endParaRPr lang="en-US" sz="680" dirty="0"/>
          </a:p>
        </p:txBody>
      </p:sp>
      <p:sp>
        <p:nvSpPr>
          <p:cNvPr id="49" name="Text 39"/>
          <p:cNvSpPr/>
          <p:nvPr/>
        </p:nvSpPr>
        <p:spPr>
          <a:xfrm>
            <a:off x="4831110" y="901005"/>
            <a:ext cx="3969990" cy="3185071"/>
          </a:xfrm>
          <a:prstGeom prst="roundRect">
            <a:avLst>
              <a:gd name="adj" fmla="val 2233"/>
            </a:avLst>
          </a:prstGeom>
          <a:solidFill>
            <a:srgbClr val="0A1C2E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4968776" y="1024830"/>
            <a:ext cx="3768551" cy="205680"/>
          </a:xfrm>
          <a:prstGeom prst="rect">
            <a:avLst/>
          </a:prstGeom>
          <a:noFill/>
          <a:ln/>
        </p:spPr>
        <p:txBody>
          <a:bodyPr wrap="none" lIns="124688" tIns="0" rIns="0" bIns="57150" rtlCol="0" anchor="ctr"/>
          <a:lstStyle/>
          <a:p>
            <a:pPr marL="0" indent="0" algn="l">
              <a:buNone/>
            </a:pPr>
            <a:r>
              <a:rPr lang="en-US" sz="730" b="1" kern="0" spc="51" dirty="0">
                <a:solidFill>
                  <a:srgbClr val="A5B4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CORRELATION MATRIX FINDINGS</a:t>
            </a:r>
            <a:endParaRPr lang="en-US" sz="730" dirty="0"/>
          </a:p>
        </p:txBody>
      </p:sp>
      <p:sp>
        <p:nvSpPr>
          <p:cNvPr id="51" name="Text 41"/>
          <p:cNvSpPr/>
          <p:nvPr/>
        </p:nvSpPr>
        <p:spPr>
          <a:xfrm>
            <a:off x="4968776" y="1220986"/>
            <a:ext cx="3694658" cy="9525"/>
          </a:xfrm>
          <a:prstGeom prst="rect">
            <a:avLst/>
          </a:prstGeom>
          <a:solidFill>
            <a:srgbClr val="A5B4FC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40061" y="1027965"/>
            <a:ext cx="132588" cy="13258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4968776" y="1524298"/>
            <a:ext cx="369465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4968776" y="1387822"/>
            <a:ext cx="49411" cy="49411"/>
          </a:xfrm>
          <a:prstGeom prst="ellipse">
            <a:avLst/>
          </a:prstGeom>
          <a:solidFill>
            <a:srgbClr val="94AFC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5075337" y="1352401"/>
            <a:ext cx="3812009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correlations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among all numerical features — no dominant single predictor.</a:t>
            </a:r>
            <a:endParaRPr lang="en-US" sz="700" dirty="0"/>
          </a:p>
        </p:txBody>
      </p:sp>
      <p:sp>
        <p:nvSpPr>
          <p:cNvPr id="56" name="Text 45"/>
          <p:cNvSpPr/>
          <p:nvPr/>
        </p:nvSpPr>
        <p:spPr>
          <a:xfrm>
            <a:off x="4968776" y="1868537"/>
            <a:ext cx="369465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6"/>
          <p:cNvSpPr/>
          <p:nvPr/>
        </p:nvSpPr>
        <p:spPr>
          <a:xfrm>
            <a:off x="4968776" y="1612404"/>
            <a:ext cx="49411" cy="49411"/>
          </a:xfrm>
          <a:prstGeom prst="ellipse">
            <a:avLst/>
          </a:prstGeom>
          <a:solidFill>
            <a:srgbClr val="7ECFB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7"/>
          <p:cNvSpPr/>
          <p:nvPr/>
        </p:nvSpPr>
        <p:spPr>
          <a:xfrm>
            <a:off x="5075337" y="1576983"/>
            <a:ext cx="2263560" cy="260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positive: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7ECF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add_to_cart_order ↑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620" dirty="0">
                <a:solidFill>
                  <a:srgbClr val="7ECF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reordered ↑</a:t>
            </a:r>
            <a:br/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cart position correlates with habitual repurchase.</a:t>
            </a:r>
            <a:endParaRPr lang="en-US" sz="700" dirty="0"/>
          </a:p>
        </p:txBody>
      </p:sp>
      <p:sp>
        <p:nvSpPr>
          <p:cNvPr id="59" name="Text 48"/>
          <p:cNvSpPr/>
          <p:nvPr/>
        </p:nvSpPr>
        <p:spPr>
          <a:xfrm>
            <a:off x="4968776" y="2212777"/>
            <a:ext cx="3694658" cy="9525"/>
          </a:xfrm>
          <a:prstGeom prst="rect">
            <a:avLst/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9"/>
          <p:cNvSpPr/>
          <p:nvPr/>
        </p:nvSpPr>
        <p:spPr>
          <a:xfrm>
            <a:off x="4968776" y="1956643"/>
            <a:ext cx="49411" cy="49411"/>
          </a:xfrm>
          <a:prstGeom prst="ellipse">
            <a:avLst/>
          </a:prstGeom>
          <a:solidFill>
            <a:srgbClr val="F39C7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0"/>
          <p:cNvSpPr/>
          <p:nvPr/>
        </p:nvSpPr>
        <p:spPr>
          <a:xfrm>
            <a:off x="5075337" y="1921222"/>
            <a:ext cx="2530129" cy="260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negative: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F39C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 ↑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620" dirty="0">
                <a:solidFill>
                  <a:srgbClr val="F39C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reordered ↓</a:t>
            </a:r>
            <a:br/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inter-order gaps reduce reorder probability.</a:t>
            </a:r>
            <a:endParaRPr lang="en-US" sz="700" dirty="0"/>
          </a:p>
        </p:txBody>
      </p:sp>
      <p:sp>
        <p:nvSpPr>
          <p:cNvPr id="62" name="Text 51"/>
          <p:cNvSpPr/>
          <p:nvPr/>
        </p:nvSpPr>
        <p:spPr>
          <a:xfrm>
            <a:off x="4968776" y="2300883"/>
            <a:ext cx="49411" cy="49411"/>
          </a:xfrm>
          <a:prstGeom prst="ellipse">
            <a:avLst/>
          </a:prstGeom>
          <a:solidFill>
            <a:srgbClr val="A5B4F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2"/>
          <p:cNvSpPr/>
          <p:nvPr/>
        </p:nvSpPr>
        <p:spPr>
          <a:xfrm>
            <a:off x="7411045" y="2267396"/>
            <a:ext cx="846088" cy="151105"/>
          </a:xfrm>
          <a:prstGeom prst="roundRect">
            <a:avLst>
              <a:gd name="adj" fmla="val 19331"/>
            </a:avLst>
          </a:prstGeom>
          <a:solidFill>
            <a:srgbClr val="6366F1">
              <a:alpha val="18000"/>
            </a:srgbClr>
          </a:solidFill>
          <a:ln w="9525">
            <a:solidFill>
              <a:srgbClr val="6366F1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5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0D1F33"/>
              </a:gs>
              <a:gs pos="60000">
                <a:srgbClr val="F37324"/>
              </a:gs>
              <a:gs pos="100000">
                <a:srgbClr val="FBBF8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F3732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15250" y="3714750"/>
            <a:ext cx="1428750" cy="1428750"/>
          </a:xfrm>
          <a:prstGeom prst="ellipse">
            <a:avLst/>
          </a:prstGeom>
          <a:gradFill rotWithShape="1">
            <a:gsLst>
              <a:gs pos="0">
                <a:srgbClr val="0D1F33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185291"/>
            <a:ext cx="271760" cy="271760"/>
          </a:xfrm>
          <a:prstGeom prst="roundRect">
            <a:avLst>
              <a:gd name="adj" fmla="val 26170"/>
            </a:avLst>
          </a:prstGeom>
          <a:gradFill rotWithShape="1">
            <a:gsLst>
              <a:gs pos="0">
                <a:srgbClr val="F37324"/>
              </a:gs>
              <a:gs pos="100000">
                <a:srgbClr val="FFB347"/>
              </a:gs>
            </a:gsLst>
            <a:lin ang="2700000" scaled="1"/>
          </a:gradFill>
          <a:ln/>
          <a:effectLst>
            <a:outerShdw blurRad="86360" dist="29210" dir="5400000" algn="bl" rotWithShape="0">
              <a:srgbClr val="F37324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732" y="25480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1291" y="203150"/>
            <a:ext cx="2676608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b="1" kern="0" spc="-2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Visualization Panels</a:t>
            </a:r>
            <a:endParaRPr lang="en-US" sz="1690" dirty="0"/>
          </a:p>
        </p:txBody>
      </p:sp>
      <p:sp>
        <p:nvSpPr>
          <p:cNvPr id="8" name="Text 5"/>
          <p:cNvSpPr/>
          <p:nvPr/>
        </p:nvSpPr>
        <p:spPr>
          <a:xfrm>
            <a:off x="429220" y="470892"/>
            <a:ext cx="9114115" cy="139005"/>
          </a:xfrm>
          <a:prstGeom prst="rect">
            <a:avLst/>
          </a:prstGeom>
          <a:noFill/>
          <a:ln/>
        </p:spPr>
        <p:txBody>
          <a:bodyPr wrap="none" lIns="37211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kern="0" spc="7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references follow APA 7th edition figure formatting</a:t>
            </a:r>
            <a:endParaRPr lang="en-US" sz="730" dirty="0"/>
          </a:p>
        </p:txBody>
      </p:sp>
      <p:sp>
        <p:nvSpPr>
          <p:cNvPr id="9" name="Text 6"/>
          <p:cNvSpPr/>
          <p:nvPr/>
        </p:nvSpPr>
        <p:spPr>
          <a:xfrm>
            <a:off x="801291" y="653058"/>
            <a:ext cx="50036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37324"/>
              </a:gs>
              <a:gs pos="100000">
                <a:srgbClr val="F37324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2900" y="800100"/>
            <a:ext cx="2723704" cy="391418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F37324"/>
            </a:solidFill>
          </a:ln>
          <a:effectLst>
            <a:outerShdw blurRad="171450" dist="29210" dir="5400000" algn="bl" rotWithShape="0">
              <a:srgbClr val="F3732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2425" y="809625"/>
            <a:ext cx="2704654" cy="216843"/>
          </a:xfrm>
          <a:prstGeom prst="rect">
            <a:avLst/>
          </a:prstGeom>
          <a:gradFill rotWithShape="1">
            <a:gsLst>
              <a:gs pos="0">
                <a:srgbClr val="0D1F33"/>
              </a:gs>
              <a:gs pos="100000">
                <a:srgbClr val="1A3A5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66725" y="859036"/>
            <a:ext cx="16407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HISTOGRAM PANEL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2587526" y="864691"/>
            <a:ext cx="39077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560" dirty="0"/>
          </a:p>
        </p:txBody>
      </p:sp>
      <p:sp>
        <p:nvSpPr>
          <p:cNvPr id="14" name="Text 11"/>
          <p:cNvSpPr/>
          <p:nvPr/>
        </p:nvSpPr>
        <p:spPr>
          <a:xfrm>
            <a:off x="352425" y="1026468"/>
            <a:ext cx="2704654" cy="3341936"/>
          </a:xfrm>
          <a:prstGeom prst="rect">
            <a:avLst/>
          </a:prstGeom>
          <a:solidFill>
            <a:srgbClr val="FDF9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52425" y="4358878"/>
            <a:ext cx="2704654" cy="9525"/>
          </a:xfrm>
          <a:prstGeom prst="rect">
            <a:avLst/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427536" y="1083618"/>
            <a:ext cx="614407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i="1" dirty="0">
                <a:solidFill>
                  <a:srgbClr val="F3732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Figure 1 ]</a:t>
            </a:r>
            <a:endParaRPr lang="en-US" sz="53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825" y="2152650"/>
            <a:ext cx="1167705" cy="5362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30742" y="3899758"/>
            <a:ext cx="84851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kern="0" spc="-1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 Panel</a:t>
            </a:r>
            <a:endParaRPr lang="en-US" sz="790" dirty="0"/>
          </a:p>
        </p:txBody>
      </p:sp>
      <p:sp>
        <p:nvSpPr>
          <p:cNvPr id="19" name="Text 15"/>
          <p:cNvSpPr/>
          <p:nvPr/>
        </p:nvSpPr>
        <p:spPr>
          <a:xfrm>
            <a:off x="429220" y="4070092"/>
            <a:ext cx="2525575" cy="263783"/>
          </a:xfrm>
          <a:prstGeom prst="rect">
            <a:avLst/>
          </a:prstGeom>
          <a:noFill/>
          <a:ln/>
        </p:spPr>
        <p:txBody>
          <a:bodyPr wrap="square" lIns="29210" tIns="0" rIns="29210" bIns="0" rtlCol="0" anchor="t"/>
          <a:lstStyle/>
          <a:p>
            <a:pPr marL="0" indent="0" algn="ctr">
              <a:lnSpc>
                <a:spcPts val="943"/>
              </a:lnSpc>
              <a:buNone/>
            </a:pP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</a:t>
            </a:r>
            <a:r>
              <a:rPr lang="en-US" sz="590" b="1" kern="0" spc="12" dirty="0">
                <a:solidFill>
                  <a:srgbClr val="F37324"/>
                </a:solidFill>
                <a:highlight>
                  <a:srgbClr val="F37324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order_hour_of_day</a:t>
            </a: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590" b="1" kern="0" spc="12" dirty="0">
                <a:solidFill>
                  <a:srgbClr val="F37324"/>
                </a:solidFill>
                <a:highlight>
                  <a:srgbClr val="F37324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order_dow</a:t>
            </a: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590" b="1" kern="0" spc="12" dirty="0">
                <a:solidFill>
                  <a:srgbClr val="F37324"/>
                </a:solidFill>
                <a:highlight>
                  <a:srgbClr val="F37324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days_since_prior_order</a:t>
            </a: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Peak activity: 10 AM–6 PM.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352425" y="4368403"/>
            <a:ext cx="2704654" cy="34644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330" tIns="49530" rIns="100330" bIns="5715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b="1" i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</a:t>
            </a:r>
            <a:r>
              <a:rPr lang="en-US" sz="62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Univariate histograms of numerical features (Zimmerman-Gibson, 2026).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352425" y="4368403"/>
            <a:ext cx="2704654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210074" y="800100"/>
            <a:ext cx="2723704" cy="391418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F37324"/>
            </a:solidFill>
          </a:ln>
          <a:effectLst>
            <a:outerShdw blurRad="171450" dist="29210" dir="5400000" algn="bl" rotWithShape="0">
              <a:srgbClr val="F3732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219599" y="809625"/>
            <a:ext cx="2704654" cy="216843"/>
          </a:xfrm>
          <a:prstGeom prst="rect">
            <a:avLst/>
          </a:prstGeom>
          <a:gradFill rotWithShape="1">
            <a:gsLst>
              <a:gs pos="0">
                <a:srgbClr val="0D1F33"/>
              </a:gs>
              <a:gs pos="100000">
                <a:srgbClr val="1A3A5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333899" y="859036"/>
            <a:ext cx="16814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BOXPLOT ANALYSIS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5220742" y="864691"/>
            <a:ext cx="6481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560" dirty="0"/>
          </a:p>
        </p:txBody>
      </p:sp>
      <p:sp>
        <p:nvSpPr>
          <p:cNvPr id="26" name="Text 22"/>
          <p:cNvSpPr/>
          <p:nvPr/>
        </p:nvSpPr>
        <p:spPr>
          <a:xfrm>
            <a:off x="3219599" y="1026468"/>
            <a:ext cx="2704654" cy="3341936"/>
          </a:xfrm>
          <a:prstGeom prst="rect">
            <a:avLst/>
          </a:prstGeom>
          <a:solidFill>
            <a:srgbClr val="FDF9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219599" y="4358878"/>
            <a:ext cx="2704654" cy="9525"/>
          </a:xfrm>
          <a:prstGeom prst="rect">
            <a:avLst/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294709" y="1083618"/>
            <a:ext cx="614407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i="1" dirty="0">
                <a:solidFill>
                  <a:srgbClr val="F3732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Figure 2 ]</a:t>
            </a:r>
            <a:endParaRPr lang="en-US" sz="530" dirty="0"/>
          </a:p>
        </p:txBody>
      </p:sp>
      <p:sp>
        <p:nvSpPr>
          <p:cNvPr id="30" name="Text 25"/>
          <p:cNvSpPr/>
          <p:nvPr/>
        </p:nvSpPr>
        <p:spPr>
          <a:xfrm>
            <a:off x="3841969" y="3866621"/>
            <a:ext cx="134930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kern="0" spc="-1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Boxplot &amp; Outlier Analysis</a:t>
            </a:r>
            <a:endParaRPr lang="en-US" sz="790" dirty="0"/>
          </a:p>
        </p:txBody>
      </p:sp>
      <p:sp>
        <p:nvSpPr>
          <p:cNvPr id="31" name="Text 26"/>
          <p:cNvSpPr/>
          <p:nvPr/>
        </p:nvSpPr>
        <p:spPr>
          <a:xfrm>
            <a:off x="3220326" y="4074087"/>
            <a:ext cx="2525575" cy="257532"/>
          </a:xfrm>
          <a:prstGeom prst="rect">
            <a:avLst/>
          </a:prstGeom>
          <a:noFill/>
          <a:ln/>
        </p:spPr>
        <p:txBody>
          <a:bodyPr wrap="square" lIns="29210" tIns="0" rIns="29210" bIns="0" rtlCol="0" anchor="t"/>
          <a:lstStyle/>
          <a:p>
            <a:pPr marL="0" indent="0" algn="ctr">
              <a:lnSpc>
                <a:spcPts val="943"/>
              </a:lnSpc>
              <a:buNone/>
            </a:pP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</a:t>
            </a:r>
            <a:r>
              <a:rPr lang="en-US" sz="590" b="1" kern="0" spc="12" dirty="0">
                <a:solidFill>
                  <a:srgbClr val="F37324"/>
                </a:solidFill>
                <a:highlight>
                  <a:srgbClr val="F37324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days_since_prior_order</a:t>
            </a: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590" b="1" kern="0" spc="12" dirty="0">
                <a:solidFill>
                  <a:srgbClr val="F37324"/>
                </a:solidFill>
                <a:highlight>
                  <a:srgbClr val="F37324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add_to_cart_order</a:t>
            </a: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Median imputation applied to right-skewed features.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3219599" y="4368403"/>
            <a:ext cx="2704654" cy="34644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330" tIns="49530" rIns="100330" bIns="5715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b="1" i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</a:t>
            </a:r>
            <a:r>
              <a:rPr lang="en-US" sz="62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Boxplots identifying outliers across key features (Zimmerman-Gibson, 2026).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3219599" y="4368403"/>
            <a:ext cx="2704654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077248" y="800100"/>
            <a:ext cx="2723852" cy="3914180"/>
          </a:xfrm>
          <a:prstGeom prst="roundRect">
            <a:avLst>
              <a:gd name="adj" fmla="val 3683"/>
            </a:avLst>
          </a:prstGeom>
          <a:solidFill>
            <a:srgbClr val="FFFFFF"/>
          </a:solidFill>
          <a:ln w="9525">
            <a:solidFill>
              <a:srgbClr val="F37324"/>
            </a:solidFill>
          </a:ln>
          <a:effectLst>
            <a:outerShdw blurRad="171450" dist="29210" dir="5400000" algn="bl" rotWithShape="0">
              <a:srgbClr val="F37324">
                <a:alpha val="1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086773" y="809625"/>
            <a:ext cx="2704802" cy="334863"/>
          </a:xfrm>
          <a:prstGeom prst="rect">
            <a:avLst/>
          </a:prstGeom>
          <a:gradFill rotWithShape="1">
            <a:gsLst>
              <a:gs pos="0">
                <a:srgbClr val="0D1F33"/>
              </a:gs>
              <a:gs pos="100000">
                <a:srgbClr val="1A3A5C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201073" y="859036"/>
            <a:ext cx="1742262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CORRELATION HEATMAP</a:t>
            </a:r>
            <a:endParaRPr lang="en-US" sz="620" dirty="0"/>
          </a:p>
        </p:txBody>
      </p:sp>
      <p:sp>
        <p:nvSpPr>
          <p:cNvPr id="37" name="Text 32"/>
          <p:cNvSpPr/>
          <p:nvPr/>
        </p:nvSpPr>
        <p:spPr>
          <a:xfrm>
            <a:off x="7909173" y="870347"/>
            <a:ext cx="783464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/ Multivariate</a:t>
            </a:r>
            <a:endParaRPr lang="en-US" sz="560" dirty="0"/>
          </a:p>
        </p:txBody>
      </p:sp>
      <p:sp>
        <p:nvSpPr>
          <p:cNvPr id="38" name="Text 33"/>
          <p:cNvSpPr/>
          <p:nvPr/>
        </p:nvSpPr>
        <p:spPr>
          <a:xfrm>
            <a:off x="6086773" y="1144488"/>
            <a:ext cx="2704802" cy="3223915"/>
          </a:xfrm>
          <a:prstGeom prst="rect">
            <a:avLst/>
          </a:prstGeom>
          <a:solidFill>
            <a:srgbClr val="FDF9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086773" y="4358878"/>
            <a:ext cx="2704802" cy="9525"/>
          </a:xfrm>
          <a:prstGeom prst="rect">
            <a:avLst/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8162032" y="1201638"/>
            <a:ext cx="614407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i="1" dirty="0">
                <a:solidFill>
                  <a:srgbClr val="F3732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Figure 3 ]</a:t>
            </a:r>
            <a:endParaRPr lang="en-US" sz="530" dirty="0"/>
          </a:p>
        </p:txBody>
      </p:sp>
      <p:sp>
        <p:nvSpPr>
          <p:cNvPr id="42" name="Text 36"/>
          <p:cNvSpPr/>
          <p:nvPr/>
        </p:nvSpPr>
        <p:spPr>
          <a:xfrm>
            <a:off x="6546623" y="3918780"/>
            <a:ext cx="167279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85"/>
              </a:lnSpc>
              <a:buNone/>
            </a:pPr>
            <a:r>
              <a:rPr lang="en-US" sz="790" b="1" kern="0" spc="-1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Correlation Heatmap + Pair Plots</a:t>
            </a:r>
            <a:endParaRPr lang="en-US" sz="790" dirty="0"/>
          </a:p>
        </p:txBody>
      </p:sp>
      <p:sp>
        <p:nvSpPr>
          <p:cNvPr id="43" name="Text 37"/>
          <p:cNvSpPr/>
          <p:nvPr/>
        </p:nvSpPr>
        <p:spPr>
          <a:xfrm>
            <a:off x="6166911" y="4115634"/>
            <a:ext cx="2525726" cy="257532"/>
          </a:xfrm>
          <a:prstGeom prst="rect">
            <a:avLst/>
          </a:prstGeom>
          <a:noFill/>
          <a:ln/>
        </p:spPr>
        <p:txBody>
          <a:bodyPr wrap="square" lIns="29210" tIns="0" rIns="29210" bIns="0" rtlCol="0" anchor="t"/>
          <a:lstStyle/>
          <a:p>
            <a:pPr marL="0" indent="0" algn="ctr">
              <a:lnSpc>
                <a:spcPts val="943"/>
              </a:lnSpc>
              <a:buNone/>
            </a:pP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correlations; non-linear clustering for </a:t>
            </a:r>
            <a:r>
              <a:rPr lang="en-US" sz="590" b="1" kern="0" spc="12" dirty="0">
                <a:solidFill>
                  <a:srgbClr val="F37324"/>
                </a:solidFill>
                <a:highlight>
                  <a:srgbClr val="F37324">
                    <a:alpha val="10000"/>
                  </a:srgbClr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reordered</a:t>
            </a:r>
            <a:r>
              <a:rPr lang="en-US" sz="650" dirty="0">
                <a:solidFill>
                  <a:srgbClr val="3D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non-reordered classes identified.</a:t>
            </a:r>
            <a:endParaRPr lang="en-US" sz="650" dirty="0"/>
          </a:p>
        </p:txBody>
      </p:sp>
      <p:sp>
        <p:nvSpPr>
          <p:cNvPr id="44" name="Text 38"/>
          <p:cNvSpPr/>
          <p:nvPr/>
        </p:nvSpPr>
        <p:spPr>
          <a:xfrm>
            <a:off x="6086773" y="4368403"/>
            <a:ext cx="2704802" cy="34644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0330" tIns="49530" rIns="100330" bIns="57150" rtlCol="0" anchor="t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b="1" i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</a:t>
            </a:r>
            <a:r>
              <a:rPr lang="en-US" sz="620" i="1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Correlation matrix heatmap and pair plot analysis (Zimmerman-Gibson, 2026).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6086773" y="4368403"/>
            <a:ext cx="2704802" cy="9525"/>
          </a:xfrm>
          <a:prstGeom prst="rect">
            <a:avLst/>
          </a:prstGeom>
          <a:solidFill>
            <a:srgbClr val="EEF2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0" y="4871740"/>
            <a:ext cx="9144000" cy="271760"/>
          </a:xfrm>
          <a:prstGeom prst="rect">
            <a:avLst/>
          </a:prstGeom>
          <a:solidFill>
            <a:srgbClr val="0D1F3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29220" y="4948535"/>
            <a:ext cx="327356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All figures created in Python.</a:t>
            </a:r>
            <a:endParaRPr lang="en-US" sz="620" dirty="0"/>
          </a:p>
        </p:txBody>
      </p:sp>
      <p:sp>
        <p:nvSpPr>
          <p:cNvPr id="48" name="Text 42"/>
          <p:cNvSpPr/>
          <p:nvPr/>
        </p:nvSpPr>
        <p:spPr>
          <a:xfrm>
            <a:off x="6302127" y="4948535"/>
            <a:ext cx="265391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 (2026) · ECPI University · SDC 486L</a:t>
            </a:r>
            <a:endParaRPr lang="en-US" sz="62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4A55DA6-A5AF-100E-7549-C8185DF14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026468"/>
            <a:ext cx="2704654" cy="282097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55EB750-A25C-499E-AABA-47AE4F7628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0325" y="1045368"/>
            <a:ext cx="2648549" cy="273888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68DC599-F554-915F-DD84-C09E6FC2F9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423" y="1226627"/>
            <a:ext cx="2710713" cy="2691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37324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37324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60000">
                <a:srgbClr val="F37324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425" y="1135112"/>
            <a:ext cx="2020195" cy="1606001"/>
          </a:xfrm>
          <a:prstGeom prst="roundRect">
            <a:avLst>
              <a:gd name="adj" fmla="val 5377"/>
            </a:avLst>
          </a:prstGeom>
          <a:gradFill rotWithShape="1">
            <a:gsLst>
              <a:gs pos="0">
                <a:srgbClr val="F37324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91978" y="1135112"/>
            <a:ext cx="2020338" cy="1606001"/>
          </a:xfrm>
          <a:prstGeom prst="roundRect">
            <a:avLst>
              <a:gd name="adj" fmla="val 5377"/>
            </a:avLst>
          </a:prstGeom>
          <a:gradFill rotWithShape="1">
            <a:gsLst>
              <a:gs pos="0">
                <a:srgbClr val="F37324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1680" y="1135112"/>
            <a:ext cx="2020195" cy="1606001"/>
          </a:xfrm>
          <a:prstGeom prst="roundRect">
            <a:avLst>
              <a:gd name="adj" fmla="val 5377"/>
            </a:avLst>
          </a:prstGeom>
          <a:gradFill rotWithShape="1">
            <a:gsLst>
              <a:gs pos="0">
                <a:srgbClr val="F37324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71233" y="1135112"/>
            <a:ext cx="2020338" cy="1606001"/>
          </a:xfrm>
          <a:prstGeom prst="roundRect">
            <a:avLst>
              <a:gd name="adj" fmla="val 5377"/>
            </a:avLst>
          </a:prstGeom>
          <a:gradFill rotWithShape="1">
            <a:gsLst>
              <a:gs pos="0">
                <a:srgbClr val="F37324">
                  <a:alpha val="5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20062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4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· STEP 7 OF 15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400050" y="347811"/>
            <a:ext cx="8927973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spcAft>
                <a:spcPts val="110"/>
              </a:spcAft>
              <a:buNone/>
            </a:pPr>
            <a:r>
              <a:rPr lang="en-US" sz="191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Preprocessing </a:t>
            </a:r>
            <a:r>
              <a:rPr lang="en-US" sz="19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910" dirty="0"/>
          </a:p>
        </p:txBody>
      </p:sp>
      <p:sp>
        <p:nvSpPr>
          <p:cNvPr id="11" name="Text 9"/>
          <p:cNvSpPr/>
          <p:nvPr/>
        </p:nvSpPr>
        <p:spPr>
          <a:xfrm>
            <a:off x="400050" y="628501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kern="0" spc="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Instacart Dataset for Neural Network Training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342900" y="1125587"/>
            <a:ext cx="2039243" cy="1625054"/>
          </a:xfrm>
          <a:prstGeom prst="roundRect">
            <a:avLst>
              <a:gd name="adj" fmla="val 5314"/>
            </a:avLst>
          </a:prstGeom>
          <a:solidFill>
            <a:srgbClr val="112740"/>
          </a:solidFill>
          <a:ln w="9525">
            <a:solidFill>
              <a:srgbClr val="F0F4F8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2425" y="1278582"/>
            <a:ext cx="21580" cy="1319064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100000">
                <a:srgbClr val="F37324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895" y="139288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407" y="1462394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8646" y="1400770"/>
            <a:ext cx="899746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</a:t>
            </a:r>
            <a:br/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495895" y="1735634"/>
            <a:ext cx="1767917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days_since_prior_order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imputed using the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robust to right-skewed distributions and prevents mean distortion. First-time orders set to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95895" y="2525316"/>
            <a:ext cx="57150" cy="57150"/>
          </a:xfrm>
          <a:prstGeom prst="ellipse">
            <a:avLst/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96205" y="2494955"/>
            <a:ext cx="13011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MedianImputer → fillna(0)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2482453" y="1125587"/>
            <a:ext cx="2039392" cy="1625054"/>
          </a:xfrm>
          <a:prstGeom prst="roundRect">
            <a:avLst>
              <a:gd name="adj" fmla="val 5314"/>
            </a:avLst>
          </a:prstGeom>
          <a:solidFill>
            <a:srgbClr val="112740"/>
          </a:solidFill>
          <a:ln w="9525">
            <a:solidFill>
              <a:srgbClr val="F0F4F8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491978" y="1278582"/>
            <a:ext cx="21580" cy="1319064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100000">
                <a:srgbClr val="F37324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635448" y="139288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4960" y="1462394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978200" y="1400770"/>
            <a:ext cx="592038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br/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840" dirty="0"/>
          </a:p>
        </p:txBody>
      </p:sp>
      <p:sp>
        <p:nvSpPr>
          <p:cNvPr id="25" name="Text 21"/>
          <p:cNvSpPr/>
          <p:nvPr/>
        </p:nvSpPr>
        <p:spPr>
          <a:xfrm>
            <a:off x="2635448" y="1735634"/>
            <a:ext cx="1768069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 &amp; department columns transformed via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Neural networks cannot interpret text labels — encoding preserves category identity without false ordinal ranking.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2635448" y="2525316"/>
            <a:ext cx="57150" cy="57150"/>
          </a:xfrm>
          <a:prstGeom prst="ellipse">
            <a:avLst/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2735759" y="2494955"/>
            <a:ext cx="16133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pd.get_dummies(drop_first=True)</a:t>
            </a:r>
            <a:endParaRPr lang="en-US" sz="620" dirty="0"/>
          </a:p>
        </p:txBody>
      </p:sp>
      <p:sp>
        <p:nvSpPr>
          <p:cNvPr id="28" name="Text 24"/>
          <p:cNvSpPr/>
          <p:nvPr/>
        </p:nvSpPr>
        <p:spPr>
          <a:xfrm>
            <a:off x="4622155" y="1125587"/>
            <a:ext cx="2039243" cy="1625054"/>
          </a:xfrm>
          <a:prstGeom prst="roundRect">
            <a:avLst>
              <a:gd name="adj" fmla="val 5314"/>
            </a:avLst>
          </a:prstGeom>
          <a:solidFill>
            <a:srgbClr val="112740"/>
          </a:solidFill>
          <a:ln w="9525">
            <a:solidFill>
              <a:srgbClr val="F0F4F8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631680" y="1278582"/>
            <a:ext cx="21580" cy="1319064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100000">
                <a:srgbClr val="F37324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775150" y="139288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4662" y="1462394"/>
            <a:ext cx="132588" cy="1325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17902" y="1400770"/>
            <a:ext cx="815343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br/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840" dirty="0"/>
          </a:p>
        </p:txBody>
      </p:sp>
      <p:sp>
        <p:nvSpPr>
          <p:cNvPr id="33" name="Text 28"/>
          <p:cNvSpPr/>
          <p:nvPr/>
        </p:nvSpPr>
        <p:spPr>
          <a:xfrm>
            <a:off x="4775150" y="1735634"/>
            <a:ext cx="1767917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 normalized via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μ=0, σ=1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Ensures equal feature contribution, accelerates gradient descent convergence, and prevents large-scale features from dominating loss.</a:t>
            </a:r>
            <a:endParaRPr lang="en-US" sz="700" dirty="0"/>
          </a:p>
        </p:txBody>
      </p:sp>
      <p:sp>
        <p:nvSpPr>
          <p:cNvPr id="34" name="Text 29"/>
          <p:cNvSpPr/>
          <p:nvPr/>
        </p:nvSpPr>
        <p:spPr>
          <a:xfrm>
            <a:off x="4775150" y="2525316"/>
            <a:ext cx="57150" cy="57150"/>
          </a:xfrm>
          <a:prstGeom prst="ellipse">
            <a:avLst/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875461" y="2494955"/>
            <a:ext cx="171749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StandardScaler().fit_transform(X)</a:t>
            </a:r>
            <a:endParaRPr lang="en-US" sz="620" dirty="0"/>
          </a:p>
        </p:txBody>
      </p:sp>
      <p:sp>
        <p:nvSpPr>
          <p:cNvPr id="36" name="Text 31"/>
          <p:cNvSpPr/>
          <p:nvPr/>
        </p:nvSpPr>
        <p:spPr>
          <a:xfrm>
            <a:off x="6761708" y="1125587"/>
            <a:ext cx="2039392" cy="1625054"/>
          </a:xfrm>
          <a:prstGeom prst="roundRect">
            <a:avLst>
              <a:gd name="adj" fmla="val 5314"/>
            </a:avLst>
          </a:prstGeom>
          <a:solidFill>
            <a:srgbClr val="112740"/>
          </a:solidFill>
          <a:ln w="9525">
            <a:solidFill>
              <a:srgbClr val="F0F4F8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6771233" y="1278582"/>
            <a:ext cx="21580" cy="1319064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100000">
                <a:srgbClr val="F37324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914704" y="1392882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215" y="1462394"/>
            <a:ext cx="132588" cy="13258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257455" y="1400770"/>
            <a:ext cx="535719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</a:t>
            </a:r>
            <a:br/>
            <a:r>
              <a:rPr lang="en-US" sz="84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40" dirty="0"/>
          </a:p>
        </p:txBody>
      </p:sp>
      <p:sp>
        <p:nvSpPr>
          <p:cNvPr id="41" name="Text 35"/>
          <p:cNvSpPr/>
          <p:nvPr/>
        </p:nvSpPr>
        <p:spPr>
          <a:xfrm>
            <a:off x="6914704" y="1735634"/>
            <a:ext cx="1768069" cy="59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split on the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reordered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label. Stratification preserves class imbalance ratio (~59% reorders) and enables fair, unbiased model evaluation.</a:t>
            </a:r>
            <a:endParaRPr lang="en-US" sz="700" dirty="0"/>
          </a:p>
        </p:txBody>
      </p:sp>
      <p:sp>
        <p:nvSpPr>
          <p:cNvPr id="42" name="Text 36"/>
          <p:cNvSpPr/>
          <p:nvPr/>
        </p:nvSpPr>
        <p:spPr>
          <a:xfrm>
            <a:off x="6914704" y="2466380"/>
            <a:ext cx="57150" cy="57150"/>
          </a:xfrm>
          <a:prstGeom prst="ellipse">
            <a:avLst/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7015014" y="2376934"/>
            <a:ext cx="1665753" cy="247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train_test_split(stratify=y, test_size=0.2)</a:t>
            </a:r>
            <a:endParaRPr lang="en-US" sz="620" dirty="0"/>
          </a:p>
        </p:txBody>
      </p:sp>
      <p:sp>
        <p:nvSpPr>
          <p:cNvPr id="44" name="Text 38"/>
          <p:cNvSpPr/>
          <p:nvPr/>
        </p:nvSpPr>
        <p:spPr>
          <a:xfrm>
            <a:off x="342900" y="2864941"/>
            <a:ext cx="8458200" cy="276820"/>
          </a:xfrm>
          <a:prstGeom prst="roundRect">
            <a:avLst>
              <a:gd name="adj" fmla="val 20645"/>
            </a:avLst>
          </a:prstGeom>
          <a:solidFill>
            <a:srgbClr val="F37324">
              <a:alpha val="10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464" y="2937058"/>
            <a:ext cx="132588" cy="132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52611" y="2944267"/>
            <a:ext cx="172174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FEATURE ENGINEERING</a:t>
            </a:r>
            <a:endParaRPr lang="en-US" sz="620" dirty="0"/>
          </a:p>
        </p:txBody>
      </p:sp>
      <p:sp>
        <p:nvSpPr>
          <p:cNvPr id="47" name="Text 40"/>
          <p:cNvSpPr/>
          <p:nvPr/>
        </p:nvSpPr>
        <p:spPr>
          <a:xfrm>
            <a:off x="2288828" y="2931616"/>
            <a:ext cx="7590" cy="143470"/>
          </a:xfrm>
          <a:prstGeom prst="rect">
            <a:avLst/>
          </a:prstGeom>
          <a:solidFill>
            <a:srgbClr val="F37324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2367409" y="2936677"/>
            <a:ext cx="6454467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order_size engineered as a derived feature — larger orders correlate with habitual reorder behavior, improving predictive signal beyond raw inputs.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0" y="4873972"/>
            <a:ext cx="9144000" cy="9525"/>
          </a:xfrm>
          <a:prstGeom prst="rect">
            <a:avLst/>
          </a:prstGeom>
          <a:solidFill>
            <a:srgbClr val="F0F4F8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400050" y="4998839"/>
            <a:ext cx="29170" cy="2917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486370" y="4954488"/>
            <a:ext cx="443460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Preprocessing methodology follows best practices for neural network preparation (Zimmerman-Gibson, 2026).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495895" y="1006971"/>
            <a:ext cx="257770" cy="283547"/>
          </a:xfrm>
          <a:prstGeom prst="ellipse">
            <a:avLst/>
          </a:prstGeom>
          <a:solidFill>
            <a:srgbClr val="F37324"/>
          </a:solidFill>
          <a:ln/>
          <a:effectLst>
            <a:outerShdw blurRad="101600" dist="50800" dir="16200000" algn="bl" rotWithShape="0">
              <a:srgbClr val="112740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2635448" y="1006971"/>
            <a:ext cx="257770" cy="283547"/>
          </a:xfrm>
          <a:prstGeom prst="ellipse">
            <a:avLst/>
          </a:prstGeom>
          <a:solidFill>
            <a:srgbClr val="F37324"/>
          </a:solidFill>
          <a:ln/>
          <a:effectLst>
            <a:outerShdw blurRad="101600" dist="50800" dir="16200000" algn="bl" rotWithShape="0">
              <a:srgbClr val="112740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4775150" y="1006971"/>
            <a:ext cx="257770" cy="283547"/>
          </a:xfrm>
          <a:prstGeom prst="ellipse">
            <a:avLst/>
          </a:prstGeom>
          <a:solidFill>
            <a:srgbClr val="F37324"/>
          </a:solidFill>
          <a:ln/>
          <a:effectLst>
            <a:outerShdw blurRad="101600" dist="50800" dir="16200000" algn="bl" rotWithShape="0">
              <a:srgbClr val="112740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6914704" y="1006971"/>
            <a:ext cx="257770" cy="283547"/>
          </a:xfrm>
          <a:prstGeom prst="ellipse">
            <a:avLst/>
          </a:prstGeom>
          <a:solidFill>
            <a:srgbClr val="F37324"/>
          </a:solidFill>
          <a:ln/>
          <a:effectLst>
            <a:outerShdw blurRad="101600" dist="50800" dir="16200000" algn="bl" rotWithShape="0">
              <a:srgbClr val="112740">
                <a:alpha val="7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5713" y="1871746"/>
            <a:ext cx="132588" cy="132588"/>
          </a:xfrm>
          <a:prstGeom prst="rect">
            <a:avLst/>
          </a:prstGeom>
        </p:spPr>
      </p:pic>
      <p:pic>
        <p:nvPicPr>
          <p:cNvPr id="57" name="Image 6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5415" y="1871746"/>
            <a:ext cx="132588" cy="132588"/>
          </a:xfrm>
          <a:prstGeom prst="rect">
            <a:avLst/>
          </a:prstGeom>
        </p:spPr>
      </p:pic>
      <p:pic>
        <p:nvPicPr>
          <p:cNvPr id="58" name="Image 7" descr="preencoded.png"/>
          <p:cNvPicPr>
            <a:picLocks noChangeAspect="1"/>
          </p:cNvPicPr>
          <p:nvPr/>
        </p:nvPicPr>
        <p:blipFill>
          <a:blip>
            <a:alphaModFix amt="7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94968" y="187174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83543"/>
          </a:xfrm>
          <a:prstGeom prst="rect">
            <a:avLst/>
          </a:prstGeom>
          <a:solidFill>
            <a:srgbClr val="1A2E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64493"/>
            <a:ext cx="9144000" cy="19050"/>
          </a:xfrm>
          <a:prstGeom prst="rect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070" y="176659"/>
            <a:ext cx="139005" cy="1390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8226" y="128141"/>
            <a:ext cx="385980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34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Model: Logistic Regression</a:t>
            </a:r>
            <a:endParaRPr lang="en-US" sz="1690" dirty="0"/>
          </a:p>
        </p:txBody>
      </p:sp>
      <p:sp>
        <p:nvSpPr>
          <p:cNvPr id="6" name="Text 3"/>
          <p:cNvSpPr/>
          <p:nvPr/>
        </p:nvSpPr>
        <p:spPr>
          <a:xfrm>
            <a:off x="4275832" y="145852"/>
            <a:ext cx="7590" cy="20062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383732" y="187375"/>
            <a:ext cx="218455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70"/>
              </a:spcBef>
              <a:buNone/>
            </a:pP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Performance Before Neural Network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342900" y="611684"/>
            <a:ext cx="3942755" cy="317450"/>
          </a:xfrm>
          <a:custGeom>
            <a:avLst/>
            <a:gdLst/>
            <a:ahLst/>
            <a:cxnLst/>
            <a:rect l="l" t="t" r="r" b="b"/>
            <a:pathLst>
              <a:path w="3942755" h="317450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317450"/>
                </a:lnTo>
                <a:lnTo>
                  <a:pt x="3942755" y="317450"/>
                </a:lnTo>
                <a:lnTo>
                  <a:pt x="3942755" y="71120"/>
                </a:lnTo>
                <a:lnTo>
                  <a:pt x="3941388" y="57245"/>
                </a:lnTo>
                <a:lnTo>
                  <a:pt x="3937341" y="43904"/>
                </a:lnTo>
                <a:lnTo>
                  <a:pt x="3930769" y="31608"/>
                </a:lnTo>
                <a:lnTo>
                  <a:pt x="3921924" y="20831"/>
                </a:lnTo>
                <a:lnTo>
                  <a:pt x="3911147" y="11986"/>
                </a:lnTo>
                <a:lnTo>
                  <a:pt x="3898851" y="5414"/>
                </a:lnTo>
                <a:lnTo>
                  <a:pt x="3885509" y="1367"/>
                </a:lnTo>
                <a:lnTo>
                  <a:pt x="3871635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148" y="704040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504" y="690414"/>
            <a:ext cx="216818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BASELINE: LOGISTIC REGRESSION</a:t>
            </a:r>
            <a:endParaRPr lang="en-US" sz="840" dirty="0"/>
          </a:p>
        </p:txBody>
      </p:sp>
      <p:sp>
        <p:nvSpPr>
          <p:cNvPr id="11" name="Text 7"/>
          <p:cNvSpPr/>
          <p:nvPr/>
        </p:nvSpPr>
        <p:spPr>
          <a:xfrm>
            <a:off x="342900" y="929134"/>
            <a:ext cx="3942755" cy="3540919"/>
          </a:xfrm>
          <a:custGeom>
            <a:avLst/>
            <a:gdLst/>
            <a:ahLst/>
            <a:cxnLst/>
            <a:rect l="l" t="t" r="r" b="b"/>
            <a:pathLst>
              <a:path w="3942755" h="3540919">
                <a:moveTo>
                  <a:pt x="0" y="0"/>
                </a:moveTo>
                <a:lnTo>
                  <a:pt x="0" y="3469799"/>
                </a:lnTo>
                <a:lnTo>
                  <a:pt x="1367" y="3483674"/>
                </a:lnTo>
                <a:lnTo>
                  <a:pt x="5414" y="3497015"/>
                </a:lnTo>
                <a:lnTo>
                  <a:pt x="11986" y="3509311"/>
                </a:lnTo>
                <a:lnTo>
                  <a:pt x="20831" y="3520088"/>
                </a:lnTo>
                <a:lnTo>
                  <a:pt x="31608" y="3528933"/>
                </a:lnTo>
                <a:lnTo>
                  <a:pt x="43904" y="3535505"/>
                </a:lnTo>
                <a:lnTo>
                  <a:pt x="57245" y="3539552"/>
                </a:lnTo>
                <a:lnTo>
                  <a:pt x="71120" y="3540919"/>
                </a:lnTo>
                <a:lnTo>
                  <a:pt x="3871635" y="3540919"/>
                </a:lnTo>
                <a:lnTo>
                  <a:pt x="3885509" y="3539552"/>
                </a:lnTo>
                <a:lnTo>
                  <a:pt x="3898851" y="3535505"/>
                </a:lnTo>
                <a:lnTo>
                  <a:pt x="3911147" y="3528933"/>
                </a:lnTo>
                <a:lnTo>
                  <a:pt x="3921924" y="3520088"/>
                </a:lnTo>
                <a:lnTo>
                  <a:pt x="3930769" y="3509311"/>
                </a:lnTo>
                <a:lnTo>
                  <a:pt x="3937341" y="3497015"/>
                </a:lnTo>
                <a:lnTo>
                  <a:pt x="3941388" y="3483674"/>
                </a:lnTo>
                <a:lnTo>
                  <a:pt x="3942755" y="3469799"/>
                </a:lnTo>
                <a:lnTo>
                  <a:pt x="3942755" y="0"/>
                </a:lnTo>
                <a:close/>
              </a:path>
            </a:pathLst>
          </a:custGeom>
          <a:solidFill>
            <a:srgbClr val="1A2E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1041" y="1072604"/>
            <a:ext cx="4055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TARGET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471041" y="1262955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71351" y="1219795"/>
            <a:ext cx="2014627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Logistic Regression (scikit-learn)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471041" y="1426518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71351" y="1383357"/>
            <a:ext cx="2086496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reordered — binary classification (0/1)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471041" y="1590080"/>
            <a:ext cx="3686473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1041" y="1683990"/>
            <a:ext cx="4055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620" dirty="0"/>
          </a:p>
        </p:txBody>
      </p:sp>
      <p:sp>
        <p:nvSpPr>
          <p:cNvPr id="19" name="Text 15"/>
          <p:cNvSpPr/>
          <p:nvPr/>
        </p:nvSpPr>
        <p:spPr>
          <a:xfrm>
            <a:off x="471041" y="1831181"/>
            <a:ext cx="922288" cy="181228"/>
          </a:xfrm>
          <a:prstGeom prst="roundRect">
            <a:avLst>
              <a:gd name="adj" fmla="val 16118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order_hour_of_day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1428750" y="1831181"/>
            <a:ext cx="543669" cy="181228"/>
          </a:xfrm>
          <a:prstGeom prst="roundRect">
            <a:avLst>
              <a:gd name="adj" fmla="val 16118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order_dow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2007840" y="1831181"/>
            <a:ext cx="1158776" cy="181228"/>
          </a:xfrm>
          <a:prstGeom prst="roundRect">
            <a:avLst>
              <a:gd name="adj" fmla="val 16118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</a:t>
            </a:r>
            <a:endParaRPr lang="en-US" sz="620" dirty="0"/>
          </a:p>
        </p:txBody>
      </p:sp>
      <p:sp>
        <p:nvSpPr>
          <p:cNvPr id="22" name="Text 18"/>
          <p:cNvSpPr/>
          <p:nvPr/>
        </p:nvSpPr>
        <p:spPr>
          <a:xfrm>
            <a:off x="3202037" y="1831181"/>
            <a:ext cx="922288" cy="181228"/>
          </a:xfrm>
          <a:prstGeom prst="roundRect">
            <a:avLst>
              <a:gd name="adj" fmla="val 16118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add_to_cart_order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471041" y="2031355"/>
            <a:ext cx="827633" cy="181228"/>
          </a:xfrm>
          <a:prstGeom prst="roundRect">
            <a:avLst>
              <a:gd name="adj" fmla="val 16118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aisle (encoded)</a:t>
            </a:r>
            <a:endParaRPr lang="en-US" sz="620" dirty="0"/>
          </a:p>
        </p:txBody>
      </p:sp>
      <p:sp>
        <p:nvSpPr>
          <p:cNvPr id="24" name="Text 20"/>
          <p:cNvSpPr/>
          <p:nvPr/>
        </p:nvSpPr>
        <p:spPr>
          <a:xfrm>
            <a:off x="1334095" y="2031355"/>
            <a:ext cx="1064121" cy="181228"/>
          </a:xfrm>
          <a:prstGeom prst="roundRect">
            <a:avLst>
              <a:gd name="adj" fmla="val 16118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F0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 (encoded)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471041" y="2274689"/>
            <a:ext cx="3686473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1041" y="2368600"/>
            <a:ext cx="4055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471041" y="2565202"/>
            <a:ext cx="874961" cy="201216"/>
          </a:xfrm>
          <a:prstGeom prst="roundRect">
            <a:avLst>
              <a:gd name="adj" fmla="val 71322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59296" y="2596307"/>
            <a:ext cx="3737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68–72%</a:t>
            </a:r>
            <a:endParaRPr lang="en-US" sz="730" dirty="0"/>
          </a:p>
        </p:txBody>
      </p:sp>
      <p:sp>
        <p:nvSpPr>
          <p:cNvPr id="29" name="Text 25"/>
          <p:cNvSpPr/>
          <p:nvPr/>
        </p:nvSpPr>
        <p:spPr>
          <a:xfrm>
            <a:off x="934492" y="2606725"/>
            <a:ext cx="3555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620" dirty="0"/>
          </a:p>
        </p:txBody>
      </p:sp>
      <p:sp>
        <p:nvSpPr>
          <p:cNvPr id="30" name="Text 26"/>
          <p:cNvSpPr/>
          <p:nvPr/>
        </p:nvSpPr>
        <p:spPr>
          <a:xfrm>
            <a:off x="1403152" y="2565202"/>
            <a:ext cx="946696" cy="201216"/>
          </a:xfrm>
          <a:prstGeom prst="roundRect">
            <a:avLst>
              <a:gd name="adj" fmla="val 71322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1491407" y="2596307"/>
            <a:ext cx="4526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30" dirty="0"/>
          </a:p>
        </p:txBody>
      </p:sp>
      <p:sp>
        <p:nvSpPr>
          <p:cNvPr id="32" name="Text 28"/>
          <p:cNvSpPr/>
          <p:nvPr/>
        </p:nvSpPr>
        <p:spPr>
          <a:xfrm>
            <a:off x="1938337" y="2606725"/>
            <a:ext cx="35558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20" dirty="0"/>
          </a:p>
        </p:txBody>
      </p:sp>
      <p:sp>
        <p:nvSpPr>
          <p:cNvPr id="33" name="Text 29"/>
          <p:cNvSpPr/>
          <p:nvPr/>
        </p:nvSpPr>
        <p:spPr>
          <a:xfrm>
            <a:off x="2406997" y="2565202"/>
            <a:ext cx="841921" cy="201216"/>
          </a:xfrm>
          <a:prstGeom prst="roundRect">
            <a:avLst>
              <a:gd name="adj" fmla="val 71322"/>
            </a:avLst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2495252" y="2596307"/>
            <a:ext cx="4526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730" dirty="0"/>
          </a:p>
        </p:txBody>
      </p:sp>
      <p:sp>
        <p:nvSpPr>
          <p:cNvPr id="35" name="Text 31"/>
          <p:cNvSpPr/>
          <p:nvPr/>
        </p:nvSpPr>
        <p:spPr>
          <a:xfrm>
            <a:off x="2942183" y="2606725"/>
            <a:ext cx="24032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620" dirty="0"/>
          </a:p>
        </p:txBody>
      </p:sp>
      <p:sp>
        <p:nvSpPr>
          <p:cNvPr id="36" name="Text 32"/>
          <p:cNvSpPr/>
          <p:nvPr/>
        </p:nvSpPr>
        <p:spPr>
          <a:xfrm>
            <a:off x="471041" y="2824758"/>
            <a:ext cx="3686473" cy="375791"/>
          </a:xfrm>
          <a:prstGeom prst="roundRect">
            <a:avLst>
              <a:gd name="adj" fmla="val 7773"/>
            </a:avLst>
          </a:prstGeom>
          <a:solidFill>
            <a:srgbClr val="F37324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71041" y="2824758"/>
            <a:ext cx="19050" cy="375791"/>
          </a:xfrm>
          <a:custGeom>
            <a:avLst/>
            <a:gdLst/>
            <a:ahLst/>
            <a:cxnLst/>
            <a:rect l="l" t="t" r="r" b="b"/>
            <a:pathLst>
              <a:path w="19050" h="375791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373967"/>
                </a:lnTo>
                <a:lnTo>
                  <a:pt x="16669" y="372962"/>
                </a:lnTo>
                <a:lnTo>
                  <a:pt x="14288" y="371692"/>
                </a:lnTo>
                <a:lnTo>
                  <a:pt x="11906" y="370114"/>
                </a:lnTo>
                <a:lnTo>
                  <a:pt x="9525" y="368162"/>
                </a:lnTo>
                <a:lnTo>
                  <a:pt x="7144" y="365720"/>
                </a:lnTo>
                <a:lnTo>
                  <a:pt x="4763" y="362567"/>
                </a:lnTo>
                <a:lnTo>
                  <a:pt x="2381" y="358133"/>
                </a:lnTo>
                <a:lnTo>
                  <a:pt x="0" y="346581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860" y="2946285"/>
            <a:ext cx="132588" cy="1325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00385" y="2853928"/>
            <a:ext cx="65320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~0.70</a:t>
            </a:r>
            <a:endParaRPr lang="en-US" sz="1130" dirty="0"/>
          </a:p>
        </p:txBody>
      </p:sp>
      <p:sp>
        <p:nvSpPr>
          <p:cNvPr id="40" name="Text 35"/>
          <p:cNvSpPr/>
          <p:nvPr/>
        </p:nvSpPr>
        <p:spPr>
          <a:xfrm>
            <a:off x="700385" y="3069134"/>
            <a:ext cx="653207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6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</a:t>
            </a:r>
            <a:endParaRPr lang="en-US" sz="620" dirty="0"/>
          </a:p>
        </p:txBody>
      </p:sp>
      <p:sp>
        <p:nvSpPr>
          <p:cNvPr id="41" name="Text 36"/>
          <p:cNvSpPr/>
          <p:nvPr/>
        </p:nvSpPr>
        <p:spPr>
          <a:xfrm>
            <a:off x="471041" y="3272879"/>
            <a:ext cx="3686473" cy="309039"/>
          </a:xfrm>
          <a:prstGeom prst="rect">
            <a:avLst/>
          </a:prstGeom>
          <a:solidFill>
            <a:srgbClr val="F37324">
              <a:alpha val="10000"/>
            </a:srgbClr>
          </a:solidFill>
          <a:ln/>
        </p:spPr>
        <p:txBody>
          <a:bodyPr wrap="none" lIns="71120" tIns="29210" rIns="71120" bIns="2921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linear decision boundary performance floor for comparison against non-linear models.</a:t>
            </a:r>
            <a:endParaRPr lang="en-US" sz="680" dirty="0"/>
          </a:p>
        </p:txBody>
      </p:sp>
      <p:sp>
        <p:nvSpPr>
          <p:cNvPr id="42" name="Text 37"/>
          <p:cNvSpPr/>
          <p:nvPr/>
        </p:nvSpPr>
        <p:spPr>
          <a:xfrm>
            <a:off x="471041" y="3272879"/>
            <a:ext cx="19050" cy="300038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4568130" y="611684"/>
            <a:ext cx="7590" cy="176480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5D3E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4450705" y="2419648"/>
            <a:ext cx="242441" cy="266685"/>
          </a:xfrm>
          <a:prstGeom prst="ellipse">
            <a:avLst/>
          </a:prstGeom>
          <a:solidFill>
            <a:srgbClr val="1A2E44"/>
          </a:solidFill>
          <a:ln w="9525">
            <a:solidFill>
              <a:srgbClr val="D0D9E4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560" dirty="0"/>
          </a:p>
        </p:txBody>
      </p:sp>
      <p:sp>
        <p:nvSpPr>
          <p:cNvPr id="45" name="Text 40"/>
          <p:cNvSpPr/>
          <p:nvPr/>
        </p:nvSpPr>
        <p:spPr>
          <a:xfrm>
            <a:off x="4568130" y="2705249"/>
            <a:ext cx="7590" cy="176480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C5D3E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4858345" y="611684"/>
            <a:ext cx="3942755" cy="317450"/>
          </a:xfrm>
          <a:custGeom>
            <a:avLst/>
            <a:gdLst/>
            <a:ahLst/>
            <a:cxnLst/>
            <a:rect l="l" t="t" r="r" b="b"/>
            <a:pathLst>
              <a:path w="3942755" h="317450">
                <a:moveTo>
                  <a:pt x="71120" y="0"/>
                </a:moveTo>
                <a:lnTo>
                  <a:pt x="57245" y="1367"/>
                </a:lnTo>
                <a:lnTo>
                  <a:pt x="43904" y="5414"/>
                </a:lnTo>
                <a:lnTo>
                  <a:pt x="31608" y="11986"/>
                </a:lnTo>
                <a:lnTo>
                  <a:pt x="20831" y="20831"/>
                </a:lnTo>
                <a:lnTo>
                  <a:pt x="11986" y="31608"/>
                </a:lnTo>
                <a:lnTo>
                  <a:pt x="5414" y="43904"/>
                </a:lnTo>
                <a:lnTo>
                  <a:pt x="1367" y="57245"/>
                </a:lnTo>
                <a:lnTo>
                  <a:pt x="0" y="71120"/>
                </a:lnTo>
                <a:lnTo>
                  <a:pt x="0" y="317450"/>
                </a:lnTo>
                <a:lnTo>
                  <a:pt x="3942755" y="317450"/>
                </a:lnTo>
                <a:lnTo>
                  <a:pt x="3942755" y="71120"/>
                </a:lnTo>
                <a:lnTo>
                  <a:pt x="3941388" y="57245"/>
                </a:lnTo>
                <a:lnTo>
                  <a:pt x="3937341" y="43904"/>
                </a:lnTo>
                <a:lnTo>
                  <a:pt x="3930769" y="31608"/>
                </a:lnTo>
                <a:lnTo>
                  <a:pt x="3921924" y="20831"/>
                </a:lnTo>
                <a:lnTo>
                  <a:pt x="3911147" y="11986"/>
                </a:lnTo>
                <a:lnTo>
                  <a:pt x="3898851" y="5414"/>
                </a:lnTo>
                <a:lnTo>
                  <a:pt x="3885509" y="1367"/>
                </a:lnTo>
                <a:lnTo>
                  <a:pt x="3871635" y="0"/>
                </a:lnTo>
                <a:close/>
              </a:path>
            </a:pathLst>
          </a:custGeom>
          <a:solidFill>
            <a:srgbClr val="1A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3593" y="704040"/>
            <a:ext cx="132588" cy="13258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5168950" y="690414"/>
            <a:ext cx="230030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ALSO EVALUATED: RANDOM FOREST</a:t>
            </a:r>
            <a:endParaRPr lang="en-US" sz="840" dirty="0"/>
          </a:p>
        </p:txBody>
      </p:sp>
      <p:sp>
        <p:nvSpPr>
          <p:cNvPr id="49" name="Text 43"/>
          <p:cNvSpPr/>
          <p:nvPr/>
        </p:nvSpPr>
        <p:spPr>
          <a:xfrm>
            <a:off x="4858345" y="929134"/>
            <a:ext cx="3942755" cy="3540919"/>
          </a:xfrm>
          <a:custGeom>
            <a:avLst/>
            <a:gdLst/>
            <a:ahLst/>
            <a:cxnLst/>
            <a:rect l="l" t="t" r="r" b="b"/>
            <a:pathLst>
              <a:path w="3942755" h="3540919">
                <a:moveTo>
                  <a:pt x="0" y="0"/>
                </a:moveTo>
                <a:lnTo>
                  <a:pt x="0" y="3469799"/>
                </a:lnTo>
                <a:lnTo>
                  <a:pt x="1367" y="3483674"/>
                </a:lnTo>
                <a:lnTo>
                  <a:pt x="5414" y="3497015"/>
                </a:lnTo>
                <a:lnTo>
                  <a:pt x="11986" y="3509311"/>
                </a:lnTo>
                <a:lnTo>
                  <a:pt x="20831" y="3520088"/>
                </a:lnTo>
                <a:lnTo>
                  <a:pt x="31608" y="3528933"/>
                </a:lnTo>
                <a:lnTo>
                  <a:pt x="43904" y="3535505"/>
                </a:lnTo>
                <a:lnTo>
                  <a:pt x="57245" y="3539552"/>
                </a:lnTo>
                <a:lnTo>
                  <a:pt x="71120" y="3540919"/>
                </a:lnTo>
                <a:lnTo>
                  <a:pt x="3871635" y="3540919"/>
                </a:lnTo>
                <a:lnTo>
                  <a:pt x="3885509" y="3539552"/>
                </a:lnTo>
                <a:lnTo>
                  <a:pt x="3898851" y="3535505"/>
                </a:lnTo>
                <a:lnTo>
                  <a:pt x="3911147" y="3528933"/>
                </a:lnTo>
                <a:lnTo>
                  <a:pt x="3921924" y="3520088"/>
                </a:lnTo>
                <a:lnTo>
                  <a:pt x="3930769" y="3509311"/>
                </a:lnTo>
                <a:lnTo>
                  <a:pt x="3937341" y="3497015"/>
                </a:lnTo>
                <a:lnTo>
                  <a:pt x="3941388" y="3483674"/>
                </a:lnTo>
                <a:lnTo>
                  <a:pt x="3942755" y="3469799"/>
                </a:lnTo>
                <a:lnTo>
                  <a:pt x="3942755" y="0"/>
                </a:lnTo>
                <a:close/>
              </a:path>
            </a:pathLst>
          </a:custGeom>
          <a:solidFill>
            <a:srgbClr val="1A2E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4"/>
          <p:cNvSpPr/>
          <p:nvPr/>
        </p:nvSpPr>
        <p:spPr>
          <a:xfrm>
            <a:off x="4986486" y="1072604"/>
            <a:ext cx="4055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620" dirty="0"/>
          </a:p>
        </p:txBody>
      </p:sp>
      <p:sp>
        <p:nvSpPr>
          <p:cNvPr id="51" name="Text 45"/>
          <p:cNvSpPr/>
          <p:nvPr/>
        </p:nvSpPr>
        <p:spPr>
          <a:xfrm>
            <a:off x="4986486" y="1262955"/>
            <a:ext cx="43160" cy="43160"/>
          </a:xfrm>
          <a:prstGeom prst="ellipse">
            <a:avLst/>
          </a:prstGeom>
          <a:solidFill>
            <a:srgbClr val="1A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5086796" y="1219795"/>
            <a:ext cx="227476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Random Forest Classifier (scikit-learn)</a:t>
            </a:r>
            <a:endParaRPr lang="en-US" sz="730" dirty="0"/>
          </a:p>
        </p:txBody>
      </p:sp>
      <p:sp>
        <p:nvSpPr>
          <p:cNvPr id="53" name="Text 47"/>
          <p:cNvSpPr/>
          <p:nvPr/>
        </p:nvSpPr>
        <p:spPr>
          <a:xfrm>
            <a:off x="4986486" y="1426518"/>
            <a:ext cx="43160" cy="43160"/>
          </a:xfrm>
          <a:prstGeom prst="ellipse">
            <a:avLst/>
          </a:prstGeom>
          <a:solidFill>
            <a:srgbClr val="1AB8A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5086796" y="1383357"/>
            <a:ext cx="333757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Typically outperforms logistic regression on non-linear data</a:t>
            </a:r>
            <a:endParaRPr lang="en-US" sz="730" dirty="0"/>
          </a:p>
        </p:txBody>
      </p:sp>
      <p:sp>
        <p:nvSpPr>
          <p:cNvPr id="55" name="Text 49"/>
          <p:cNvSpPr/>
          <p:nvPr/>
        </p:nvSpPr>
        <p:spPr>
          <a:xfrm>
            <a:off x="4986486" y="1590080"/>
            <a:ext cx="3686473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4986486" y="1683990"/>
            <a:ext cx="4055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620" dirty="0"/>
          </a:p>
        </p:txBody>
      </p:sp>
      <p:sp>
        <p:nvSpPr>
          <p:cNvPr id="57" name="Text 51"/>
          <p:cNvSpPr/>
          <p:nvPr/>
        </p:nvSpPr>
        <p:spPr>
          <a:xfrm>
            <a:off x="4986486" y="1831181"/>
            <a:ext cx="13745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days_since_prior_order</a:t>
            </a:r>
            <a:endParaRPr lang="en-US" sz="620" dirty="0"/>
          </a:p>
        </p:txBody>
      </p:sp>
      <p:sp>
        <p:nvSpPr>
          <p:cNvPr id="58" name="Text 52"/>
          <p:cNvSpPr/>
          <p:nvPr/>
        </p:nvSpPr>
        <p:spPr>
          <a:xfrm>
            <a:off x="6293197" y="1861542"/>
            <a:ext cx="2108002" cy="57150"/>
          </a:xfrm>
          <a:prstGeom prst="roundRect">
            <a:avLst>
              <a:gd name="adj" fmla="val 51111"/>
            </a:avLst>
          </a:prstGeom>
          <a:solidFill>
            <a:srgbClr val="1A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6293197" y="1861542"/>
            <a:ext cx="1854994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1AB8A6"/>
              </a:gs>
              <a:gs pos="100000">
                <a:srgbClr val="0D9E8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8458349" y="1831181"/>
            <a:ext cx="2360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20" dirty="0"/>
          </a:p>
        </p:txBody>
      </p:sp>
      <p:sp>
        <p:nvSpPr>
          <p:cNvPr id="61" name="Text 55"/>
          <p:cNvSpPr/>
          <p:nvPr/>
        </p:nvSpPr>
        <p:spPr>
          <a:xfrm>
            <a:off x="4986486" y="1984623"/>
            <a:ext cx="13745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add_to_cart_order</a:t>
            </a:r>
            <a:endParaRPr lang="en-US" sz="620" dirty="0"/>
          </a:p>
        </p:txBody>
      </p:sp>
      <p:sp>
        <p:nvSpPr>
          <p:cNvPr id="62" name="Text 56"/>
          <p:cNvSpPr/>
          <p:nvPr/>
        </p:nvSpPr>
        <p:spPr>
          <a:xfrm>
            <a:off x="6293197" y="2014984"/>
            <a:ext cx="2108002" cy="57150"/>
          </a:xfrm>
          <a:prstGeom prst="roundRect">
            <a:avLst>
              <a:gd name="adj" fmla="val 51111"/>
            </a:avLst>
          </a:prstGeom>
          <a:solidFill>
            <a:srgbClr val="1A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7"/>
          <p:cNvSpPr/>
          <p:nvPr/>
        </p:nvSpPr>
        <p:spPr>
          <a:xfrm>
            <a:off x="6293197" y="2014984"/>
            <a:ext cx="1559868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1AB8A6"/>
              </a:gs>
              <a:gs pos="100000">
                <a:srgbClr val="0D9E8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8"/>
          <p:cNvSpPr/>
          <p:nvPr/>
        </p:nvSpPr>
        <p:spPr>
          <a:xfrm>
            <a:off x="8458349" y="1984623"/>
            <a:ext cx="2360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20" dirty="0"/>
          </a:p>
        </p:txBody>
      </p:sp>
      <p:sp>
        <p:nvSpPr>
          <p:cNvPr id="65" name="Text 59"/>
          <p:cNvSpPr/>
          <p:nvPr/>
        </p:nvSpPr>
        <p:spPr>
          <a:xfrm>
            <a:off x="4986486" y="2138065"/>
            <a:ext cx="137451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order_hour_of_day</a:t>
            </a:r>
            <a:endParaRPr lang="en-US" sz="620" dirty="0"/>
          </a:p>
        </p:txBody>
      </p:sp>
      <p:sp>
        <p:nvSpPr>
          <p:cNvPr id="66" name="Text 60"/>
          <p:cNvSpPr/>
          <p:nvPr/>
        </p:nvSpPr>
        <p:spPr>
          <a:xfrm>
            <a:off x="6293197" y="2168426"/>
            <a:ext cx="2108002" cy="57150"/>
          </a:xfrm>
          <a:prstGeom prst="roundRect">
            <a:avLst>
              <a:gd name="adj" fmla="val 51111"/>
            </a:avLst>
          </a:prstGeom>
          <a:solidFill>
            <a:srgbClr val="1AB8A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1"/>
          <p:cNvSpPr/>
          <p:nvPr/>
        </p:nvSpPr>
        <p:spPr>
          <a:xfrm>
            <a:off x="6293197" y="2168426"/>
            <a:ext cx="885230" cy="57150"/>
          </a:xfrm>
          <a:prstGeom prst="roundRect">
            <a:avLst>
              <a:gd name="adj" fmla="val 51111"/>
            </a:avLst>
          </a:prstGeom>
          <a:gradFill rotWithShape="1">
            <a:gsLst>
              <a:gs pos="0">
                <a:srgbClr val="1AB8A6"/>
              </a:gs>
              <a:gs pos="100000">
                <a:srgbClr val="0D9E8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8458349" y="2138065"/>
            <a:ext cx="23607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620" dirty="0"/>
          </a:p>
        </p:txBody>
      </p:sp>
      <p:sp>
        <p:nvSpPr>
          <p:cNvPr id="69" name="Text 63"/>
          <p:cNvSpPr/>
          <p:nvPr/>
        </p:nvSpPr>
        <p:spPr>
          <a:xfrm>
            <a:off x="4986486" y="2334667"/>
            <a:ext cx="3686473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4"/>
          <p:cNvSpPr/>
          <p:nvPr/>
        </p:nvSpPr>
        <p:spPr>
          <a:xfrm>
            <a:off x="4986486" y="2428577"/>
            <a:ext cx="405512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6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620" dirty="0"/>
          </a:p>
        </p:txBody>
      </p:sp>
      <p:sp>
        <p:nvSpPr>
          <p:cNvPr id="71" name="Text 65"/>
          <p:cNvSpPr/>
          <p:nvPr/>
        </p:nvSpPr>
        <p:spPr>
          <a:xfrm>
            <a:off x="4986486" y="2625179"/>
            <a:ext cx="1023491" cy="201216"/>
          </a:xfrm>
          <a:prstGeom prst="roundRect">
            <a:avLst>
              <a:gd name="adj" fmla="val 71322"/>
            </a:avLst>
          </a:prstGeom>
          <a:solidFill>
            <a:srgbClr val="1AB8A6">
              <a:alpha val="13000"/>
            </a:srgbClr>
          </a:solidFill>
          <a:ln w="9525">
            <a:solidFill>
              <a:srgbClr val="1AB8A6">
                <a:alpha val="32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6"/>
          <p:cNvSpPr/>
          <p:nvPr/>
        </p:nvSpPr>
        <p:spPr>
          <a:xfrm>
            <a:off x="5074741" y="2656284"/>
            <a:ext cx="50357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730" dirty="0"/>
          </a:p>
        </p:txBody>
      </p:sp>
      <p:sp>
        <p:nvSpPr>
          <p:cNvPr id="73" name="Text 67"/>
          <p:cNvSpPr/>
          <p:nvPr/>
        </p:nvSpPr>
        <p:spPr>
          <a:xfrm>
            <a:off x="5567958" y="2666702"/>
            <a:ext cx="38914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</a:t>
            </a:r>
            <a:endParaRPr lang="en-US" sz="620" dirty="0"/>
          </a:p>
        </p:txBody>
      </p:sp>
      <p:sp>
        <p:nvSpPr>
          <p:cNvPr id="74" name="Text 68"/>
          <p:cNvSpPr/>
          <p:nvPr/>
        </p:nvSpPr>
        <p:spPr>
          <a:xfrm>
            <a:off x="6067127" y="2625179"/>
            <a:ext cx="919907" cy="201216"/>
          </a:xfrm>
          <a:prstGeom prst="roundRect">
            <a:avLst>
              <a:gd name="adj" fmla="val 71322"/>
            </a:avLst>
          </a:prstGeom>
          <a:solidFill>
            <a:srgbClr val="1AB8A6">
              <a:alpha val="13000"/>
            </a:srgbClr>
          </a:solidFill>
          <a:ln w="9525">
            <a:solidFill>
              <a:srgbClr val="1AB8A6">
                <a:alpha val="32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9"/>
          <p:cNvSpPr/>
          <p:nvPr/>
        </p:nvSpPr>
        <p:spPr>
          <a:xfrm>
            <a:off x="6155382" y="2656284"/>
            <a:ext cx="22624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30" dirty="0"/>
          </a:p>
        </p:txBody>
      </p:sp>
      <p:sp>
        <p:nvSpPr>
          <p:cNvPr id="76" name="Text 70"/>
          <p:cNvSpPr/>
          <p:nvPr/>
        </p:nvSpPr>
        <p:spPr>
          <a:xfrm>
            <a:off x="6396484" y="2666702"/>
            <a:ext cx="55252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620" dirty="0"/>
          </a:p>
        </p:txBody>
      </p:sp>
      <p:sp>
        <p:nvSpPr>
          <p:cNvPr id="77" name="Text 71"/>
          <p:cNvSpPr/>
          <p:nvPr/>
        </p:nvSpPr>
        <p:spPr>
          <a:xfrm>
            <a:off x="4986486" y="2884736"/>
            <a:ext cx="3686473" cy="375791"/>
          </a:xfrm>
          <a:prstGeom prst="roundRect">
            <a:avLst>
              <a:gd name="adj" fmla="val 7773"/>
            </a:avLst>
          </a:prstGeom>
          <a:solidFill>
            <a:srgbClr val="1AB8A6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2"/>
          <p:cNvSpPr/>
          <p:nvPr/>
        </p:nvSpPr>
        <p:spPr>
          <a:xfrm>
            <a:off x="4986486" y="2884736"/>
            <a:ext cx="19050" cy="375791"/>
          </a:xfrm>
          <a:custGeom>
            <a:avLst/>
            <a:gdLst/>
            <a:ahLst/>
            <a:cxnLst/>
            <a:rect l="l" t="t" r="r" b="b"/>
            <a:pathLst>
              <a:path w="19050" h="375791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373967"/>
                </a:lnTo>
                <a:lnTo>
                  <a:pt x="16669" y="372962"/>
                </a:lnTo>
                <a:lnTo>
                  <a:pt x="14288" y="371692"/>
                </a:lnTo>
                <a:lnTo>
                  <a:pt x="11906" y="370114"/>
                </a:lnTo>
                <a:lnTo>
                  <a:pt x="9525" y="368162"/>
                </a:lnTo>
                <a:lnTo>
                  <a:pt x="7144" y="365720"/>
                </a:lnTo>
                <a:lnTo>
                  <a:pt x="4763" y="362567"/>
                </a:lnTo>
                <a:lnTo>
                  <a:pt x="2381" y="358133"/>
                </a:lnTo>
                <a:lnTo>
                  <a:pt x="0" y="346581"/>
                </a:lnTo>
                <a:close/>
              </a:path>
            </a:pathLst>
          </a:custGeom>
          <a:solidFill>
            <a:srgbClr val="1A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8305" y="3006263"/>
            <a:ext cx="132588" cy="132588"/>
          </a:xfrm>
          <a:prstGeom prst="rect">
            <a:avLst/>
          </a:prstGeom>
        </p:spPr>
      </p:pic>
      <p:sp>
        <p:nvSpPr>
          <p:cNvPr id="80" name="Text 73"/>
          <p:cNvSpPr/>
          <p:nvPr/>
        </p:nvSpPr>
        <p:spPr>
          <a:xfrm>
            <a:off x="5215830" y="2913906"/>
            <a:ext cx="1109633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1A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~0.74–0.78</a:t>
            </a:r>
            <a:endParaRPr lang="en-US" sz="1130" dirty="0"/>
          </a:p>
        </p:txBody>
      </p:sp>
      <p:sp>
        <p:nvSpPr>
          <p:cNvPr id="81" name="Text 74"/>
          <p:cNvSpPr/>
          <p:nvPr/>
        </p:nvSpPr>
        <p:spPr>
          <a:xfrm>
            <a:off x="5215830" y="3129111"/>
            <a:ext cx="1109633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6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 (estimated)</a:t>
            </a:r>
            <a:endParaRPr lang="en-US" sz="620" dirty="0"/>
          </a:p>
        </p:txBody>
      </p:sp>
      <p:sp>
        <p:nvSpPr>
          <p:cNvPr id="82" name="Text 75"/>
          <p:cNvSpPr/>
          <p:nvPr/>
        </p:nvSpPr>
        <p:spPr>
          <a:xfrm>
            <a:off x="4986486" y="3332857"/>
            <a:ext cx="3686473" cy="300038"/>
          </a:xfrm>
          <a:prstGeom prst="rect">
            <a:avLst/>
          </a:prstGeom>
          <a:solidFill>
            <a:srgbClr val="1AB8A6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76"/>
          <p:cNvSpPr/>
          <p:nvPr/>
        </p:nvSpPr>
        <p:spPr>
          <a:xfrm>
            <a:off x="4986486" y="3332857"/>
            <a:ext cx="19050" cy="300038"/>
          </a:xfrm>
          <a:prstGeom prst="rect">
            <a:avLst/>
          </a:prstGeom>
          <a:solidFill>
            <a:srgbClr val="1AB8A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7"/>
          <p:cNvSpPr/>
          <p:nvPr/>
        </p:nvSpPr>
        <p:spPr>
          <a:xfrm>
            <a:off x="5195691" y="3353033"/>
            <a:ext cx="3205508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Higher compute cost on 3M+ record dataset; ensemble size must be managed.</a:t>
            </a:r>
            <a:endParaRPr lang="en-US" sz="680" dirty="0"/>
          </a:p>
        </p:txBody>
      </p:sp>
      <p:pic>
        <p:nvPicPr>
          <p:cNvPr id="8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42603" y="3416582"/>
            <a:ext cx="132588" cy="132588"/>
          </a:xfrm>
          <a:prstGeom prst="rect">
            <a:avLst/>
          </a:prstGeom>
        </p:spPr>
      </p:pic>
      <p:sp>
        <p:nvSpPr>
          <p:cNvPr id="89" name="Text 80"/>
          <p:cNvSpPr/>
          <p:nvPr/>
        </p:nvSpPr>
        <p:spPr>
          <a:xfrm>
            <a:off x="0" y="4913263"/>
            <a:ext cx="9144000" cy="230237"/>
          </a:xfrm>
          <a:prstGeom prst="rect">
            <a:avLst/>
          </a:prstGeom>
          <a:solidFill>
            <a:srgbClr val="E8ECF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1"/>
          <p:cNvSpPr/>
          <p:nvPr/>
        </p:nvSpPr>
        <p:spPr>
          <a:xfrm>
            <a:off x="0" y="4913263"/>
            <a:ext cx="9144000" cy="9525"/>
          </a:xfrm>
          <a:prstGeom prst="rect">
            <a:avLst/>
          </a:prstGeom>
          <a:solidFill>
            <a:srgbClr val="D0D9E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2"/>
          <p:cNvSpPr/>
          <p:nvPr/>
        </p:nvSpPr>
        <p:spPr>
          <a:xfrm>
            <a:off x="372070" y="4974134"/>
            <a:ext cx="354565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Baseline models implemented using scikit-learn in Python (Zimmerman-Gibson, 2026).</a:t>
            </a:r>
            <a:endParaRPr lang="en-US" sz="620" dirty="0"/>
          </a:p>
        </p:txBody>
      </p:sp>
      <p:sp>
        <p:nvSpPr>
          <p:cNvPr id="92" name="Text 83"/>
          <p:cNvSpPr/>
          <p:nvPr/>
        </p:nvSpPr>
        <p:spPr>
          <a:xfrm>
            <a:off x="7033468" y="4965948"/>
            <a:ext cx="1738461" cy="147831"/>
          </a:xfrm>
          <a:prstGeom prst="roundRect">
            <a:avLst>
              <a:gd name="adj" fmla="val 19759"/>
            </a:avLst>
          </a:prstGeom>
          <a:solidFill>
            <a:srgbClr val="1A2E4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dirty="0">
                <a:solidFill>
                  <a:srgbClr val="94A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· Python · Instacart 2017</a:t>
            </a:r>
            <a:endParaRPr lang="en-US" sz="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7802"/>
            <a:ext cx="9144000" cy="9525"/>
          </a:xfrm>
          <a:prstGeom prst="rect">
            <a:avLst/>
          </a:prstGeom>
          <a:solidFill>
            <a:srgbClr val="F37324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171450"/>
            <a:ext cx="5121195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buNone/>
            </a:pP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Network </a:t>
            </a:r>
            <a:r>
              <a:rPr lang="en-US" sz="1690" kern="0" spc="-2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</a:t>
            </a: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&amp; Performance Metrics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5272534" y="257175"/>
            <a:ext cx="211907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Approach to Reorder Prediction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372070" y="617637"/>
            <a:ext cx="2035225" cy="713119"/>
          </a:xfrm>
          <a:prstGeom prst="roundRect">
            <a:avLst>
              <a:gd name="adj" fmla="val 8014"/>
            </a:avLst>
          </a:prstGeom>
          <a:solidFill>
            <a:srgbClr val="112740"/>
          </a:solidFill>
          <a:ln/>
        </p:spPr>
        <p:txBody>
          <a:bodyPr wrap="square" lIns="114300" tIns="86360" rIns="114300" bIns="78740" rtlCol="0" anchor="t"/>
          <a:lstStyle/>
          <a:p>
            <a:pPr marL="0" indent="0" algn="l">
              <a:buNone/>
            </a:pPr>
            <a:r>
              <a:rPr lang="en-US" sz="1690" b="1" kern="0" spc="-3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~74–80%</a:t>
            </a:r>
            <a:endParaRPr lang="en-US" sz="1690" dirty="0"/>
          </a:p>
          <a:p>
            <a:pPr marL="0" indent="0" algn="l">
              <a:buNone/>
            </a:pPr>
            <a:r>
              <a:rPr lang="en-US" sz="68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90" dirty="0"/>
          </a:p>
          <a:p>
            <a:pPr marL="0" indent="0" algn="l">
              <a:buNone/>
            </a:pPr>
            <a:endParaRPr lang="en-US" sz="169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classification on test set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372070" y="617637"/>
            <a:ext cx="2035225" cy="19050"/>
          </a:xfrm>
          <a:custGeom>
            <a:avLst/>
            <a:gdLst/>
            <a:ahLst/>
            <a:cxnLst/>
            <a:rect l="l" t="t" r="r" b="b"/>
            <a:pathLst>
              <a:path w="203522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20672" y="19050"/>
                </a:lnTo>
                <a:lnTo>
                  <a:pt x="2018416" y="16669"/>
                </a:lnTo>
                <a:lnTo>
                  <a:pt x="2015876" y="14288"/>
                </a:lnTo>
                <a:lnTo>
                  <a:pt x="2012991" y="11906"/>
                </a:lnTo>
                <a:lnTo>
                  <a:pt x="2009665" y="9525"/>
                </a:lnTo>
                <a:lnTo>
                  <a:pt x="2005742" y="7144"/>
                </a:lnTo>
                <a:lnTo>
                  <a:pt x="2000915" y="4763"/>
                </a:lnTo>
                <a:lnTo>
                  <a:pt x="1994400" y="2381"/>
                </a:lnTo>
                <a:lnTo>
                  <a:pt x="1978075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93615" y="617637"/>
            <a:ext cx="2035225" cy="713119"/>
          </a:xfrm>
          <a:prstGeom prst="roundRect">
            <a:avLst>
              <a:gd name="adj" fmla="val 8014"/>
            </a:avLst>
          </a:prstGeom>
          <a:solidFill>
            <a:srgbClr val="112740"/>
          </a:solidFill>
          <a:ln/>
        </p:spPr>
        <p:txBody>
          <a:bodyPr wrap="square" lIns="114300" tIns="86360" rIns="114300" bIns="78740" rtlCol="0" anchor="t"/>
          <a:lstStyle/>
          <a:p>
            <a:pPr marL="0" indent="0" algn="l">
              <a:buNone/>
            </a:pPr>
            <a:r>
              <a:rPr lang="en-US" sz="1690" b="1" kern="0" spc="-3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59%</a:t>
            </a:r>
            <a:endParaRPr lang="en-US" sz="1690" dirty="0"/>
          </a:p>
          <a:p>
            <a:pPr marL="0" indent="0" algn="l">
              <a:buNone/>
            </a:pPr>
            <a:r>
              <a:rPr lang="en-US" sz="68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BASE RATE</a:t>
            </a:r>
            <a:endParaRPr lang="en-US" sz="1690" dirty="0"/>
          </a:p>
          <a:p>
            <a:pPr marL="0" indent="0" algn="l">
              <a:buNone/>
            </a:pPr>
            <a:endParaRPr lang="en-US" sz="169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of target variable</a:t>
            </a:r>
            <a:endParaRPr lang="en-US" sz="1690" dirty="0"/>
          </a:p>
        </p:txBody>
      </p:sp>
      <p:sp>
        <p:nvSpPr>
          <p:cNvPr id="8" name="Text 6"/>
          <p:cNvSpPr/>
          <p:nvPr/>
        </p:nvSpPr>
        <p:spPr>
          <a:xfrm>
            <a:off x="2493615" y="617637"/>
            <a:ext cx="2035225" cy="19050"/>
          </a:xfrm>
          <a:custGeom>
            <a:avLst/>
            <a:gdLst/>
            <a:ahLst/>
            <a:cxnLst/>
            <a:rect l="l" t="t" r="r" b="b"/>
            <a:pathLst>
              <a:path w="203522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20672" y="19050"/>
                </a:lnTo>
                <a:lnTo>
                  <a:pt x="2018416" y="16669"/>
                </a:lnTo>
                <a:lnTo>
                  <a:pt x="2015876" y="14288"/>
                </a:lnTo>
                <a:lnTo>
                  <a:pt x="2012991" y="11906"/>
                </a:lnTo>
                <a:lnTo>
                  <a:pt x="2009665" y="9525"/>
                </a:lnTo>
                <a:lnTo>
                  <a:pt x="2005742" y="7144"/>
                </a:lnTo>
                <a:lnTo>
                  <a:pt x="2000915" y="4763"/>
                </a:lnTo>
                <a:lnTo>
                  <a:pt x="1994400" y="2381"/>
                </a:lnTo>
                <a:lnTo>
                  <a:pt x="1978075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15160" y="617637"/>
            <a:ext cx="2035225" cy="713119"/>
          </a:xfrm>
          <a:prstGeom prst="roundRect">
            <a:avLst>
              <a:gd name="adj" fmla="val 8014"/>
            </a:avLst>
          </a:prstGeom>
          <a:solidFill>
            <a:srgbClr val="112740"/>
          </a:solidFill>
          <a:ln/>
        </p:spPr>
        <p:txBody>
          <a:bodyPr wrap="square" lIns="114300" tIns="86360" rIns="114300" bIns="78740" rtlCol="0" anchor="t"/>
          <a:lstStyle/>
          <a:p>
            <a:pPr marL="0" indent="0" algn="l">
              <a:buNone/>
            </a:pPr>
            <a:r>
              <a:rPr lang="en-US" sz="1690" b="1" kern="0" spc="-3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80/20</a:t>
            </a:r>
            <a:endParaRPr lang="en-US" sz="1690" dirty="0"/>
          </a:p>
          <a:p>
            <a:pPr marL="0" indent="0" algn="l">
              <a:buNone/>
            </a:pPr>
            <a:r>
              <a:rPr lang="en-US" sz="68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690" dirty="0"/>
          </a:p>
          <a:p>
            <a:pPr marL="0" indent="0" algn="l">
              <a:buNone/>
            </a:pPr>
            <a:endParaRPr lang="en-US" sz="169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reordered label</a:t>
            </a:r>
            <a:endParaRPr lang="en-US" sz="1690" dirty="0"/>
          </a:p>
        </p:txBody>
      </p:sp>
      <p:sp>
        <p:nvSpPr>
          <p:cNvPr id="10" name="Text 8"/>
          <p:cNvSpPr/>
          <p:nvPr/>
        </p:nvSpPr>
        <p:spPr>
          <a:xfrm>
            <a:off x="4615160" y="617637"/>
            <a:ext cx="2035225" cy="19050"/>
          </a:xfrm>
          <a:custGeom>
            <a:avLst/>
            <a:gdLst/>
            <a:ahLst/>
            <a:cxnLst/>
            <a:rect l="l" t="t" r="r" b="b"/>
            <a:pathLst>
              <a:path w="203522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20672" y="19050"/>
                </a:lnTo>
                <a:lnTo>
                  <a:pt x="2018416" y="16669"/>
                </a:lnTo>
                <a:lnTo>
                  <a:pt x="2015876" y="14288"/>
                </a:lnTo>
                <a:lnTo>
                  <a:pt x="2012991" y="11906"/>
                </a:lnTo>
                <a:lnTo>
                  <a:pt x="2009665" y="9525"/>
                </a:lnTo>
                <a:lnTo>
                  <a:pt x="2005742" y="7144"/>
                </a:lnTo>
                <a:lnTo>
                  <a:pt x="2000915" y="4763"/>
                </a:lnTo>
                <a:lnTo>
                  <a:pt x="1994400" y="2381"/>
                </a:lnTo>
                <a:lnTo>
                  <a:pt x="1978075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36705" y="617637"/>
            <a:ext cx="2035225" cy="713119"/>
          </a:xfrm>
          <a:prstGeom prst="roundRect">
            <a:avLst>
              <a:gd name="adj" fmla="val 8014"/>
            </a:avLst>
          </a:prstGeom>
          <a:solidFill>
            <a:srgbClr val="112740"/>
          </a:solidFill>
          <a:ln/>
        </p:spPr>
        <p:txBody>
          <a:bodyPr wrap="square" lIns="114300" tIns="86360" rIns="114300" bIns="78740" rtlCol="0" anchor="t"/>
          <a:lstStyle/>
          <a:p>
            <a:pPr marL="0" indent="0" algn="l">
              <a:buNone/>
            </a:pPr>
            <a:r>
              <a:rPr lang="en-US" sz="1690" b="1" kern="0" spc="-3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z-score</a:t>
            </a:r>
            <a:endParaRPr lang="en-US" sz="1690" dirty="0"/>
          </a:p>
          <a:p>
            <a:pPr marL="0" indent="0" algn="l">
              <a:buNone/>
            </a:pPr>
            <a:r>
              <a:rPr lang="en-US" sz="680" b="1" kern="0" spc="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690" dirty="0"/>
          </a:p>
          <a:p>
            <a:pPr marL="0" indent="0" algn="l">
              <a:buNone/>
            </a:pPr>
            <a:endParaRPr lang="en-US" sz="169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numerical inputs</a:t>
            </a:r>
            <a:endParaRPr lang="en-US" sz="1690" dirty="0"/>
          </a:p>
        </p:txBody>
      </p:sp>
      <p:sp>
        <p:nvSpPr>
          <p:cNvPr id="12" name="Text 10"/>
          <p:cNvSpPr/>
          <p:nvPr/>
        </p:nvSpPr>
        <p:spPr>
          <a:xfrm>
            <a:off x="6736705" y="617637"/>
            <a:ext cx="2035225" cy="19050"/>
          </a:xfrm>
          <a:custGeom>
            <a:avLst/>
            <a:gdLst/>
            <a:ahLst/>
            <a:cxnLst/>
            <a:rect l="l" t="t" r="r" b="b"/>
            <a:pathLst>
              <a:path w="2035225" h="19050">
                <a:moveTo>
                  <a:pt x="57150" y="0"/>
                </a:moveTo>
                <a:lnTo>
                  <a:pt x="40825" y="2381"/>
                </a:lnTo>
                <a:lnTo>
                  <a:pt x="34310" y="4763"/>
                </a:lnTo>
                <a:lnTo>
                  <a:pt x="29482" y="7144"/>
                </a:lnTo>
                <a:lnTo>
                  <a:pt x="25559" y="9525"/>
                </a:lnTo>
                <a:lnTo>
                  <a:pt x="22234" y="11906"/>
                </a:lnTo>
                <a:lnTo>
                  <a:pt x="19349" y="14288"/>
                </a:lnTo>
                <a:lnTo>
                  <a:pt x="16809" y="16669"/>
                </a:lnTo>
                <a:lnTo>
                  <a:pt x="14553" y="19050"/>
                </a:lnTo>
                <a:lnTo>
                  <a:pt x="2020672" y="19050"/>
                </a:lnTo>
                <a:lnTo>
                  <a:pt x="2018416" y="16669"/>
                </a:lnTo>
                <a:lnTo>
                  <a:pt x="2015876" y="14288"/>
                </a:lnTo>
                <a:lnTo>
                  <a:pt x="2012991" y="11906"/>
                </a:lnTo>
                <a:lnTo>
                  <a:pt x="2009665" y="9525"/>
                </a:lnTo>
                <a:lnTo>
                  <a:pt x="2005742" y="7144"/>
                </a:lnTo>
                <a:lnTo>
                  <a:pt x="2000915" y="4763"/>
                </a:lnTo>
                <a:lnTo>
                  <a:pt x="1994400" y="2381"/>
                </a:lnTo>
                <a:lnTo>
                  <a:pt x="1978075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9335" y="1479632"/>
            <a:ext cx="2898874" cy="2645420"/>
          </a:xfrm>
          <a:prstGeom prst="roundRect">
            <a:avLst>
              <a:gd name="adj" fmla="val 2160"/>
            </a:avLst>
          </a:prstGeom>
          <a:solidFill>
            <a:srgbClr val="112740"/>
          </a:solidFill>
          <a:ln w="9525">
            <a:solidFill>
              <a:srgbClr val="94AFC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0464" y="1506141"/>
            <a:ext cx="106215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6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DESIGN</a:t>
            </a:r>
            <a:endParaRPr lang="en-US" sz="73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180" y="1509275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5895" y="1716137"/>
            <a:ext cx="157460" cy="173206"/>
          </a:xfrm>
          <a:prstGeom prst="ellipse">
            <a:avLst/>
          </a:prstGeom>
          <a:solidFill>
            <a:srgbClr val="20C7A8">
              <a:alpha val="20000"/>
            </a:srgbClr>
          </a:solidFill>
          <a:ln w="9525">
            <a:solidFill>
              <a:srgbClr val="20C7A8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20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530" dirty="0"/>
          </a:p>
        </p:txBody>
      </p:sp>
      <p:sp>
        <p:nvSpPr>
          <p:cNvPr id="17" name="Text 14"/>
          <p:cNvSpPr/>
          <p:nvPr/>
        </p:nvSpPr>
        <p:spPr>
          <a:xfrm>
            <a:off x="710505" y="1738759"/>
            <a:ext cx="2144613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20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Numerical + one-hot encoded features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566886" y="1916757"/>
            <a:ext cx="7590" cy="43160"/>
          </a:xfrm>
          <a:prstGeom prst="rect">
            <a:avLst/>
          </a:prstGeom>
          <a:solidFill>
            <a:srgbClr val="F37324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5895" y="1959918"/>
            <a:ext cx="157460" cy="173206"/>
          </a:xfrm>
          <a:prstGeom prst="ellipse">
            <a:avLst/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530" dirty="0"/>
          </a:p>
        </p:txBody>
      </p:sp>
      <p:sp>
        <p:nvSpPr>
          <p:cNvPr id="20" name="Text 17"/>
          <p:cNvSpPr/>
          <p:nvPr/>
        </p:nvSpPr>
        <p:spPr>
          <a:xfrm>
            <a:off x="710505" y="1982539"/>
            <a:ext cx="197926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128 neurons, ReLU activation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566886" y="2160538"/>
            <a:ext cx="7590" cy="43160"/>
          </a:xfrm>
          <a:prstGeom prst="rect">
            <a:avLst/>
          </a:prstGeom>
          <a:solidFill>
            <a:srgbClr val="F37324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5895" y="2203698"/>
            <a:ext cx="157460" cy="173206"/>
          </a:xfrm>
          <a:prstGeom prst="ellipse">
            <a:avLst/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530" dirty="0"/>
          </a:p>
        </p:txBody>
      </p:sp>
      <p:sp>
        <p:nvSpPr>
          <p:cNvPr id="23" name="Text 20"/>
          <p:cNvSpPr/>
          <p:nvPr/>
        </p:nvSpPr>
        <p:spPr>
          <a:xfrm>
            <a:off x="710505" y="2226320"/>
            <a:ext cx="193129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64 neurons, ReLU activation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566886" y="2404318"/>
            <a:ext cx="7590" cy="43160"/>
          </a:xfrm>
          <a:prstGeom prst="rect">
            <a:avLst/>
          </a:prstGeom>
          <a:solidFill>
            <a:srgbClr val="F37324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5895" y="2447479"/>
            <a:ext cx="157460" cy="173206"/>
          </a:xfrm>
          <a:prstGeom prst="ellipse">
            <a:avLst/>
          </a:prstGeom>
          <a:solidFill>
            <a:srgbClr val="94AFC8">
              <a:alpha val="15000"/>
            </a:srgbClr>
          </a:solidFill>
          <a:ln w="9525">
            <a:solidFill>
              <a:srgbClr val="94AFC8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530" dirty="0"/>
          </a:p>
        </p:txBody>
      </p:sp>
      <p:sp>
        <p:nvSpPr>
          <p:cNvPr id="26" name="Text 23"/>
          <p:cNvSpPr/>
          <p:nvPr/>
        </p:nvSpPr>
        <p:spPr>
          <a:xfrm>
            <a:off x="710505" y="2470100"/>
            <a:ext cx="145670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Rate 0.3 (regularization)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566886" y="2648099"/>
            <a:ext cx="7590" cy="43160"/>
          </a:xfrm>
          <a:prstGeom prst="rect">
            <a:avLst/>
          </a:prstGeom>
          <a:solidFill>
            <a:srgbClr val="F37324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5895" y="2691259"/>
            <a:ext cx="157460" cy="173206"/>
          </a:xfrm>
          <a:prstGeom prst="ellipse">
            <a:avLst/>
          </a:prstGeom>
          <a:solidFill>
            <a:srgbClr val="F37324">
              <a:alpha val="30000"/>
            </a:srgbClr>
          </a:solidFill>
          <a:ln w="9525">
            <a:solidFill>
              <a:srgbClr val="F37324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530" dirty="0"/>
          </a:p>
        </p:txBody>
      </p:sp>
      <p:sp>
        <p:nvSpPr>
          <p:cNvPr id="29" name="Text 26"/>
          <p:cNvSpPr/>
          <p:nvPr/>
        </p:nvSpPr>
        <p:spPr>
          <a:xfrm>
            <a:off x="710505" y="2713881"/>
            <a:ext cx="228344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 neuron, Sigmoid (binary classification)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495895" y="2919710"/>
            <a:ext cx="2651224" cy="9525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5895" y="2993975"/>
            <a:ext cx="157460" cy="173206"/>
          </a:xfrm>
          <a:prstGeom prst="ellipse">
            <a:avLst/>
          </a:prstGeom>
          <a:solidFill>
            <a:srgbClr val="7864DC">
              <a:alpha val="18000"/>
            </a:srgbClr>
          </a:solidFill>
          <a:ln w="9525">
            <a:solidFill>
              <a:srgbClr val="7864DC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B8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𝓛</a:t>
            </a:r>
            <a:endParaRPr lang="en-US" sz="530" dirty="0"/>
          </a:p>
        </p:txBody>
      </p:sp>
      <p:sp>
        <p:nvSpPr>
          <p:cNvPr id="32" name="Text 29"/>
          <p:cNvSpPr/>
          <p:nvPr/>
        </p:nvSpPr>
        <p:spPr>
          <a:xfrm>
            <a:off x="710505" y="3016597"/>
            <a:ext cx="1630070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B8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Binary Cross-Entropy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495895" y="3186857"/>
            <a:ext cx="157460" cy="173206"/>
          </a:xfrm>
          <a:prstGeom prst="ellipse">
            <a:avLst/>
          </a:prstGeom>
          <a:solidFill>
            <a:srgbClr val="7864DC">
              <a:alpha val="18000"/>
            </a:srgbClr>
          </a:solidFill>
          <a:ln w="9525">
            <a:solidFill>
              <a:srgbClr val="7864DC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B8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</a:t>
            </a:r>
            <a:endParaRPr lang="en-US" sz="530" dirty="0"/>
          </a:p>
        </p:txBody>
      </p:sp>
      <p:sp>
        <p:nvSpPr>
          <p:cNvPr id="34" name="Text 31"/>
          <p:cNvSpPr/>
          <p:nvPr/>
        </p:nvSpPr>
        <p:spPr>
          <a:xfrm>
            <a:off x="710505" y="3209479"/>
            <a:ext cx="1732225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B8A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Adam (adaptive learning rate)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3365226" y="1481193"/>
            <a:ext cx="2898874" cy="2645420"/>
          </a:xfrm>
          <a:prstGeom prst="roundRect">
            <a:avLst>
              <a:gd name="adj" fmla="val 2160"/>
            </a:avLst>
          </a:prstGeom>
          <a:solidFill>
            <a:srgbClr val="112740"/>
          </a:solidFill>
          <a:ln w="9525">
            <a:solidFill>
              <a:srgbClr val="94AFC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605659" y="1506141"/>
            <a:ext cx="15385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6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NEURAL NETWORKS?</a:t>
            </a:r>
            <a:endParaRPr lang="en-US" sz="73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2375" y="1509275"/>
            <a:ext cx="132588" cy="1325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481090" y="1759297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588990" y="1716137"/>
            <a:ext cx="2594190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correlations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identified in EDA require non-linear modeling — logistic regression cannot capture the underlying complexity.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3481090" y="2210246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3588990" y="2167086"/>
            <a:ext cx="2594190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</a:t>
            </a: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complex interactions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time-of-day, inter-order frequency, and high-dimensional product features simultaneously.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3481090" y="2661196"/>
            <a:ext cx="43160" cy="4316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588990" y="2618036"/>
            <a:ext cx="2594190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logistic regression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high-dimensional one-hot encoded input — aisle and department encodings add hundreds of sparse features.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3481090" y="3104555"/>
            <a:ext cx="2651224" cy="827336"/>
          </a:xfrm>
          <a:prstGeom prst="roundRect">
            <a:avLst>
              <a:gd name="adj" fmla="val 5219"/>
            </a:avLst>
          </a:prstGeom>
          <a:solidFill>
            <a:srgbClr val="0A1A28"/>
          </a:solidFill>
          <a:ln w="9525">
            <a:solidFill>
              <a:srgbClr val="94AFC8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3590925" y="3200400"/>
            <a:ext cx="267470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620" dirty="0"/>
          </a:p>
        </p:txBody>
      </p:sp>
      <p:sp>
        <p:nvSpPr>
          <p:cNvPr id="46" name="Text 42"/>
          <p:cNvSpPr/>
          <p:nvPr/>
        </p:nvSpPr>
        <p:spPr>
          <a:xfrm>
            <a:off x="3590925" y="3383161"/>
            <a:ext cx="70674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620" dirty="0"/>
          </a:p>
        </p:txBody>
      </p:sp>
      <p:sp>
        <p:nvSpPr>
          <p:cNvPr id="47" name="Text 43"/>
          <p:cNvSpPr/>
          <p:nvPr/>
        </p:nvSpPr>
        <p:spPr>
          <a:xfrm>
            <a:off x="4290566" y="3391942"/>
            <a:ext cx="1731913" cy="100310"/>
          </a:xfrm>
          <a:prstGeom prst="roundRect">
            <a:avLst>
              <a:gd name="adj" fmla="val 21523"/>
            </a:avLst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266322" y="3391942"/>
            <a:ext cx="1236449" cy="100310"/>
          </a:xfrm>
          <a:prstGeom prst="roundRect">
            <a:avLst>
              <a:gd name="adj" fmla="val 21523"/>
            </a:avLst>
          </a:prstGeom>
          <a:solidFill>
            <a:srgbClr val="94AFC8">
              <a:alpha val="50000"/>
            </a:srgbClr>
          </a:solidFill>
          <a:ln/>
        </p:spPr>
        <p:txBody>
          <a:bodyPr wrap="none" lIns="0" tIns="0" rIns="35560" bIns="0" rtlCol="0" anchor="ctr"/>
          <a:lstStyle/>
          <a:p>
            <a:pPr marL="0" indent="0" algn="r">
              <a:buNone/>
            </a:pPr>
            <a:r>
              <a:rPr lang="en-US" sz="56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560" dirty="0"/>
          </a:p>
        </p:txBody>
      </p:sp>
      <p:sp>
        <p:nvSpPr>
          <p:cNvPr id="49" name="Text 45"/>
          <p:cNvSpPr/>
          <p:nvPr/>
        </p:nvSpPr>
        <p:spPr>
          <a:xfrm>
            <a:off x="3590925" y="3550593"/>
            <a:ext cx="70674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620" dirty="0"/>
          </a:p>
        </p:txBody>
      </p:sp>
      <p:sp>
        <p:nvSpPr>
          <p:cNvPr id="50" name="Text 46"/>
          <p:cNvSpPr/>
          <p:nvPr/>
        </p:nvSpPr>
        <p:spPr>
          <a:xfrm>
            <a:off x="4290566" y="3559373"/>
            <a:ext cx="1731913" cy="100310"/>
          </a:xfrm>
          <a:prstGeom prst="roundRect">
            <a:avLst>
              <a:gd name="adj" fmla="val 21523"/>
            </a:avLst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264241" y="3559373"/>
            <a:ext cx="1342561" cy="100310"/>
          </a:xfrm>
          <a:prstGeom prst="roundRect">
            <a:avLst>
              <a:gd name="adj" fmla="val 21523"/>
            </a:avLst>
          </a:prstGeom>
          <a:solidFill>
            <a:srgbClr val="20C7A8">
              <a:alpha val="55000"/>
            </a:srgbClr>
          </a:solidFill>
          <a:ln/>
        </p:spPr>
        <p:txBody>
          <a:bodyPr wrap="none" lIns="0" tIns="0" rIns="35560" bIns="0" rtlCol="0" anchor="ctr"/>
          <a:lstStyle/>
          <a:p>
            <a:pPr marL="0" indent="0" algn="r">
              <a:buNone/>
            </a:pPr>
            <a:r>
              <a:rPr lang="en-US" sz="560" b="1" dirty="0">
                <a:solidFill>
                  <a:srgbClr val="A0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~76%</a:t>
            </a:r>
            <a:endParaRPr lang="en-US" sz="560" dirty="0"/>
          </a:p>
        </p:txBody>
      </p:sp>
      <p:sp>
        <p:nvSpPr>
          <p:cNvPr id="52" name="Text 48"/>
          <p:cNvSpPr/>
          <p:nvPr/>
        </p:nvSpPr>
        <p:spPr>
          <a:xfrm>
            <a:off x="3590925" y="3718024"/>
            <a:ext cx="70674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4290566" y="3726805"/>
            <a:ext cx="1731913" cy="100310"/>
          </a:xfrm>
          <a:prstGeom prst="roundRect">
            <a:avLst>
              <a:gd name="adj" fmla="val 21523"/>
            </a:avLst>
          </a:prstGeom>
          <a:solidFill>
            <a:srgbClr val="94AFC8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262857" y="3726805"/>
            <a:ext cx="1413150" cy="100310"/>
          </a:xfrm>
          <a:prstGeom prst="roundRect">
            <a:avLst>
              <a:gd name="adj" fmla="val 21523"/>
            </a:avLst>
          </a:prstGeom>
          <a:gradFill rotWithShape="1">
            <a:gsLst>
              <a:gs pos="0">
                <a:srgbClr val="F37324"/>
              </a:gs>
              <a:gs pos="100000">
                <a:srgbClr val="F7A05A"/>
              </a:gs>
            </a:gsLst>
            <a:lin ang="0" scaled="1"/>
          </a:gradFill>
          <a:ln/>
        </p:spPr>
        <p:txBody>
          <a:bodyPr wrap="none" lIns="0" tIns="0" rIns="35560" bIns="0" rtlCol="0" anchor="ctr"/>
          <a:lstStyle/>
          <a:p>
            <a:pPr marL="0" indent="0" algn="r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560" dirty="0"/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0456" y="1874341"/>
            <a:ext cx="193328" cy="193328"/>
          </a:xfrm>
          <a:prstGeom prst="rect">
            <a:avLst/>
          </a:prstGeom>
        </p:spPr>
      </p:pic>
      <p:pic>
        <p:nvPicPr>
          <p:cNvPr id="5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8305" y="2195810"/>
            <a:ext cx="2237780" cy="639366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6891040" y="2936081"/>
            <a:ext cx="57150" cy="21580"/>
          </a:xfrm>
          <a:prstGeom prst="roundRect">
            <a:avLst>
              <a:gd name="adj" fmla="val 64736"/>
            </a:avLst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6960915" y="2893516"/>
            <a:ext cx="36180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560" dirty="0"/>
          </a:p>
        </p:txBody>
      </p:sp>
      <p:sp>
        <p:nvSpPr>
          <p:cNvPr id="59" name="Text 53"/>
          <p:cNvSpPr/>
          <p:nvPr/>
        </p:nvSpPr>
        <p:spPr>
          <a:xfrm>
            <a:off x="7377261" y="2939951"/>
            <a:ext cx="100310" cy="9525"/>
          </a:xfrm>
          <a:custGeom>
            <a:avLst/>
            <a:gdLst/>
            <a:ahLst/>
            <a:cxnLst/>
            <a:rect l="l" t="t" r="r" b="b"/>
            <a:pathLst>
              <a:path w="100310" h="9525">
                <a:moveTo>
                  <a:pt x="13970" y="0"/>
                </a:moveTo>
                <a:lnTo>
                  <a:pt x="8327" y="1191"/>
                </a:lnTo>
                <a:lnTo>
                  <a:pt x="6169" y="2381"/>
                </a:lnTo>
                <a:lnTo>
                  <a:pt x="4641" y="3572"/>
                </a:lnTo>
                <a:lnTo>
                  <a:pt x="3464" y="4763"/>
                </a:lnTo>
                <a:lnTo>
                  <a:pt x="2529" y="5953"/>
                </a:lnTo>
                <a:lnTo>
                  <a:pt x="1781" y="7144"/>
                </a:lnTo>
                <a:lnTo>
                  <a:pt x="1187" y="8334"/>
                </a:lnTo>
                <a:lnTo>
                  <a:pt x="726" y="9525"/>
                </a:lnTo>
                <a:lnTo>
                  <a:pt x="99584" y="9525"/>
                </a:lnTo>
                <a:lnTo>
                  <a:pt x="99123" y="8334"/>
                </a:lnTo>
                <a:lnTo>
                  <a:pt x="98529" y="7144"/>
                </a:lnTo>
                <a:lnTo>
                  <a:pt x="97781" y="5953"/>
                </a:lnTo>
                <a:lnTo>
                  <a:pt x="96846" y="4763"/>
                </a:lnTo>
                <a:lnTo>
                  <a:pt x="95670" y="3572"/>
                </a:lnTo>
                <a:lnTo>
                  <a:pt x="94142" y="2381"/>
                </a:lnTo>
                <a:lnTo>
                  <a:pt x="91984" y="1191"/>
                </a:lnTo>
                <a:lnTo>
                  <a:pt x="86340" y="0"/>
                </a:lnTo>
                <a:close/>
              </a:path>
            </a:pathLst>
          </a:custGeom>
          <a:solidFill>
            <a:srgbClr val="20C7A8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4"/>
          <p:cNvSpPr/>
          <p:nvPr/>
        </p:nvSpPr>
        <p:spPr>
          <a:xfrm>
            <a:off x="7493384" y="2893516"/>
            <a:ext cx="29386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</a:t>
            </a:r>
            <a:endParaRPr lang="en-US" sz="560" dirty="0"/>
          </a:p>
        </p:txBody>
      </p:sp>
      <p:sp>
        <p:nvSpPr>
          <p:cNvPr id="61" name="Text 55"/>
          <p:cNvSpPr/>
          <p:nvPr/>
        </p:nvSpPr>
        <p:spPr>
          <a:xfrm>
            <a:off x="7844879" y="2936081"/>
            <a:ext cx="57150" cy="21580"/>
          </a:xfrm>
          <a:prstGeom prst="roundRect">
            <a:avLst>
              <a:gd name="adj" fmla="val 64736"/>
            </a:avLst>
          </a:prstGeom>
          <a:solidFill>
            <a:srgbClr val="B8A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6"/>
          <p:cNvSpPr/>
          <p:nvPr/>
        </p:nvSpPr>
        <p:spPr>
          <a:xfrm>
            <a:off x="7916600" y="2893516"/>
            <a:ext cx="32120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560" dirty="0"/>
          </a:p>
        </p:txBody>
      </p:sp>
      <p:sp>
        <p:nvSpPr>
          <p:cNvPr id="63" name="Text 57"/>
          <p:cNvSpPr/>
          <p:nvPr/>
        </p:nvSpPr>
        <p:spPr>
          <a:xfrm>
            <a:off x="0" y="4922937"/>
            <a:ext cx="9326880" cy="220563"/>
          </a:xfrm>
          <a:prstGeom prst="rect">
            <a:avLst/>
          </a:prstGeom>
          <a:solidFill>
            <a:srgbClr val="0A1A28">
              <a:alpha val="85000"/>
            </a:srgbClr>
          </a:solidFill>
          <a:ln/>
        </p:spPr>
        <p:txBody>
          <a:bodyPr wrap="none" lIns="372110" tIns="49530" rIns="372110" bIns="49530" rtlCol="0" anchor="t"/>
          <a:lstStyle/>
          <a:p>
            <a:pPr marL="0" indent="0" algn="l">
              <a:buNone/>
            </a:pPr>
            <a:r>
              <a:rPr lang="en-US" sz="5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Model implemented using TensorFlow/Keras framework (Zimmerman-Gibson, 2026).</a:t>
            </a:r>
            <a:endParaRPr lang="en-US" sz="590" dirty="0"/>
          </a:p>
        </p:txBody>
      </p:sp>
      <p:sp>
        <p:nvSpPr>
          <p:cNvPr id="64" name="Text 58"/>
          <p:cNvSpPr/>
          <p:nvPr/>
        </p:nvSpPr>
        <p:spPr>
          <a:xfrm>
            <a:off x="0" y="4922937"/>
            <a:ext cx="9144000" cy="9525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381595" y="636687"/>
            <a:ext cx="2016176" cy="663773"/>
          </a:xfrm>
          <a:prstGeom prst="roundRect">
            <a:avLst>
              <a:gd name="adj" fmla="val 8610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0"/>
          <p:cNvSpPr/>
          <p:nvPr/>
        </p:nvSpPr>
        <p:spPr>
          <a:xfrm>
            <a:off x="2503140" y="636687"/>
            <a:ext cx="2016176" cy="663773"/>
          </a:xfrm>
          <a:prstGeom prst="roundRect">
            <a:avLst>
              <a:gd name="adj" fmla="val 8610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1"/>
          <p:cNvSpPr/>
          <p:nvPr/>
        </p:nvSpPr>
        <p:spPr>
          <a:xfrm>
            <a:off x="4624685" y="636687"/>
            <a:ext cx="2016176" cy="663773"/>
          </a:xfrm>
          <a:prstGeom prst="roundRect">
            <a:avLst>
              <a:gd name="adj" fmla="val 8610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2"/>
          <p:cNvSpPr/>
          <p:nvPr/>
        </p:nvSpPr>
        <p:spPr>
          <a:xfrm>
            <a:off x="6746230" y="636687"/>
            <a:ext cx="2016176" cy="663773"/>
          </a:xfrm>
          <a:prstGeom prst="roundRect">
            <a:avLst>
              <a:gd name="adj" fmla="val 8610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60000">
                <a:srgbClr val="E2A619"/>
              </a:gs>
              <a:gs pos="100000">
                <a:srgbClr val="1A9E8F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24409" y="149721"/>
            <a:ext cx="3533352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-2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Scenario Analysis Results</a:t>
            </a:r>
            <a:endParaRPr lang="en-US" sz="1910" dirty="0"/>
          </a:p>
        </p:txBody>
      </p:sp>
      <p:sp>
        <p:nvSpPr>
          <p:cNvPr id="4" name="Text 2"/>
          <p:cNvSpPr/>
          <p:nvPr/>
        </p:nvSpPr>
        <p:spPr>
          <a:xfrm>
            <a:off x="400050" y="282476"/>
            <a:ext cx="271760" cy="29170"/>
          </a:xfrm>
          <a:prstGeom prst="roundRect">
            <a:avLst>
              <a:gd name="adj" fmla="val 47892"/>
            </a:avLst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444252"/>
            <a:ext cx="363241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2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Performance Across Analytical Scenarios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6264771" y="335905"/>
            <a:ext cx="86320" cy="86320"/>
          </a:xfrm>
          <a:prstGeom prst="roundRect">
            <a:avLst>
              <a:gd name="adj" fmla="val 25012"/>
            </a:avLst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03690" y="335905"/>
            <a:ext cx="86320" cy="86320"/>
          </a:xfrm>
          <a:prstGeom prst="roundRect">
            <a:avLst>
              <a:gd name="adj" fmla="val 25012"/>
            </a:avLst>
          </a:prstGeom>
          <a:solidFill>
            <a:srgbClr val="1A9E8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7372" y="335905"/>
            <a:ext cx="86320" cy="86320"/>
          </a:xfrm>
          <a:prstGeom prst="roundRect">
            <a:avLst>
              <a:gd name="adj" fmla="val 25012"/>
            </a:avLst>
          </a:prstGeom>
          <a:solidFill>
            <a:srgbClr val="7C5CB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95816" y="335905"/>
            <a:ext cx="86320" cy="86320"/>
          </a:xfrm>
          <a:prstGeom prst="roundRect">
            <a:avLst>
              <a:gd name="adj" fmla="val 25012"/>
            </a:avLst>
          </a:prstGeom>
          <a:solidFill>
            <a:srgbClr val="E2A61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665708"/>
            <a:ext cx="5400080" cy="298308"/>
          </a:xfrm>
          <a:prstGeom prst="rect">
            <a:avLst/>
          </a:prstGeom>
          <a:noFill/>
          <a:ln/>
        </p:spPr>
        <p:txBody>
          <a:bodyPr wrap="none" lIns="71120" tIns="0" rIns="0" bIns="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analytical scenarios were evaluated to assess how reorder behavior varies under different customer and product conditions. Each scenario isolates a key variable to measure its impact on predicted reorder probability.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00050" y="665708"/>
            <a:ext cx="19050" cy="289620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1026319"/>
            <a:ext cx="5400080" cy="3639889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blurRad="114300" dist="13970" dir="5400000" algn="bl" rotWithShape="0">
              <a:srgbClr val="0D1F33">
                <a:alpha val="9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520" y="1140619"/>
            <a:ext cx="562445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6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REORDER RATE BY SCENARIO (%)</a:t>
            </a:r>
            <a:endParaRPr lang="en-US" sz="68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20" y="1327249"/>
            <a:ext cx="5113139" cy="326796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028730" y="806440"/>
            <a:ext cx="1329035" cy="772587"/>
          </a:xfrm>
          <a:prstGeom prst="roundRect">
            <a:avLst>
              <a:gd name="adj" fmla="val 7787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lIns="86360" tIns="71120" rIns="86360" bIns="7112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620" dirty="0"/>
          </a:p>
          <a:p>
            <a:pPr marL="0" indent="0" algn="l">
              <a:buNone/>
            </a:pPr>
            <a:r>
              <a:rPr lang="en-US" sz="73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620" dirty="0"/>
          </a:p>
          <a:p>
            <a:pPr marL="0" indent="0" algn="l">
              <a:buNone/>
            </a:pPr>
            <a:endParaRPr lang="en-US" sz="620" dirty="0"/>
          </a:p>
          <a:p>
            <a:pPr marL="0" indent="0" algn="l">
              <a:buNone/>
            </a:pPr>
            <a:r>
              <a:rPr lang="en-US" sz="62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AM–4 PM shopping window — habitual purchasing patterns dominate.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6011586" y="805398"/>
            <a:ext cx="45719" cy="747028"/>
          </a:xfrm>
          <a:custGeom>
            <a:avLst/>
            <a:gdLst/>
            <a:ahLst/>
            <a:cxnLst/>
            <a:rect l="l" t="t" r="r" b="b"/>
            <a:pathLst>
              <a:path w="28575" h="88671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72589"/>
                </a:lnTo>
                <a:lnTo>
                  <a:pt x="25003" y="869739"/>
                </a:lnTo>
                <a:lnTo>
                  <a:pt x="21431" y="866481"/>
                </a:lnTo>
                <a:lnTo>
                  <a:pt x="17859" y="862729"/>
                </a:lnTo>
                <a:lnTo>
                  <a:pt x="14288" y="858354"/>
                </a:lnTo>
                <a:lnTo>
                  <a:pt x="10716" y="853139"/>
                </a:lnTo>
                <a:lnTo>
                  <a:pt x="7144" y="846664"/>
                </a:lnTo>
                <a:lnTo>
                  <a:pt x="3572" y="837853"/>
                </a:lnTo>
                <a:lnTo>
                  <a:pt x="0" y="815598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576268" y="1413890"/>
            <a:ext cx="334566" cy="160273"/>
          </a:xfrm>
          <a:prstGeom prst="roundRect">
            <a:avLst>
              <a:gd name="adj" fmla="val 89541"/>
            </a:avLst>
          </a:prstGeom>
          <a:solidFill>
            <a:srgbClr val="F37324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↑</a:t>
            </a:r>
            <a:endParaRPr lang="en-US" sz="620" dirty="0"/>
          </a:p>
        </p:txBody>
      </p:sp>
      <p:sp>
        <p:nvSpPr>
          <p:cNvPr id="18" name="Text 15"/>
          <p:cNvSpPr/>
          <p:nvPr/>
        </p:nvSpPr>
        <p:spPr>
          <a:xfrm>
            <a:off x="7414915" y="806440"/>
            <a:ext cx="1329035" cy="772588"/>
          </a:xfrm>
          <a:prstGeom prst="roundRect">
            <a:avLst>
              <a:gd name="adj" fmla="val 7787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lIns="86360" tIns="71120" rIns="86360" bIns="7112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620" dirty="0"/>
          </a:p>
          <a:p>
            <a:pPr marL="0" indent="0" algn="l">
              <a:buNone/>
            </a:pPr>
            <a:r>
              <a:rPr lang="en-US" sz="73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Shoppers</a:t>
            </a:r>
            <a:endParaRPr lang="en-US" sz="620" dirty="0"/>
          </a:p>
          <a:p>
            <a:pPr marL="0" indent="0" algn="l">
              <a:buNone/>
            </a:pPr>
            <a:endParaRPr lang="en-US" sz="620" dirty="0"/>
          </a:p>
          <a:p>
            <a:pPr marL="0" indent="0" algn="l">
              <a:buNone/>
            </a:pPr>
            <a:r>
              <a:rPr lang="en-US" sz="62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orders skew toward regular grocery restocking behavior.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7397771" y="806440"/>
            <a:ext cx="45719" cy="745986"/>
          </a:xfrm>
          <a:custGeom>
            <a:avLst/>
            <a:gdLst/>
            <a:ahLst/>
            <a:cxnLst/>
            <a:rect l="l" t="t" r="r" b="b"/>
            <a:pathLst>
              <a:path w="28575" h="886718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872589"/>
                </a:lnTo>
                <a:lnTo>
                  <a:pt x="25003" y="869739"/>
                </a:lnTo>
                <a:lnTo>
                  <a:pt x="21431" y="866481"/>
                </a:lnTo>
                <a:lnTo>
                  <a:pt x="17859" y="862729"/>
                </a:lnTo>
                <a:lnTo>
                  <a:pt x="14288" y="858354"/>
                </a:lnTo>
                <a:lnTo>
                  <a:pt x="10716" y="853139"/>
                </a:lnTo>
                <a:lnTo>
                  <a:pt x="7144" y="846664"/>
                </a:lnTo>
                <a:lnTo>
                  <a:pt x="3572" y="837853"/>
                </a:lnTo>
                <a:lnTo>
                  <a:pt x="0" y="815598"/>
                </a:lnTo>
                <a:close/>
              </a:path>
            </a:pathLst>
          </a:custGeom>
          <a:solidFill>
            <a:srgbClr val="1A9E8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890421" y="1404365"/>
            <a:ext cx="710059" cy="160273"/>
          </a:xfrm>
          <a:prstGeom prst="roundRect">
            <a:avLst>
              <a:gd name="adj" fmla="val 89541"/>
            </a:avLst>
          </a:prstGeom>
          <a:solidFill>
            <a:srgbClr val="1A9E8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Moderate-High ↑</a:t>
            </a:r>
            <a:endParaRPr lang="en-US" sz="620" dirty="0"/>
          </a:p>
        </p:txBody>
      </p:sp>
      <p:sp>
        <p:nvSpPr>
          <p:cNvPr id="21" name="Text 18"/>
          <p:cNvSpPr/>
          <p:nvPr/>
        </p:nvSpPr>
        <p:spPr>
          <a:xfrm>
            <a:off x="6028730" y="1609576"/>
            <a:ext cx="1329035" cy="808007"/>
          </a:xfrm>
          <a:prstGeom prst="roundRect">
            <a:avLst>
              <a:gd name="adj" fmla="val 880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lIns="86360" tIns="71120" rIns="86360" bIns="7112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620" dirty="0"/>
          </a:p>
          <a:p>
            <a:pPr marL="0" indent="0" algn="l">
              <a:buNone/>
            </a:pPr>
            <a:r>
              <a:rPr lang="en-US" sz="73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Gap (&gt;21 days)</a:t>
            </a:r>
            <a:endParaRPr lang="en-US" sz="620" dirty="0"/>
          </a:p>
          <a:p>
            <a:pPr marL="0" indent="0" algn="l">
              <a:buNone/>
            </a:pPr>
            <a:endParaRPr lang="en-US" sz="620" dirty="0"/>
          </a:p>
          <a:p>
            <a:pPr marL="0" indent="0" algn="l">
              <a:buNone/>
            </a:pPr>
            <a:r>
              <a:rPr lang="en-US" sz="62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inter-order intervals strongly predict reorder drop-off.</a:t>
            </a:r>
            <a:endParaRPr lang="en-US" sz="620" dirty="0"/>
          </a:p>
        </p:txBody>
      </p:sp>
      <p:sp>
        <p:nvSpPr>
          <p:cNvPr id="22" name="Text 19"/>
          <p:cNvSpPr/>
          <p:nvPr/>
        </p:nvSpPr>
        <p:spPr>
          <a:xfrm>
            <a:off x="6028730" y="1609576"/>
            <a:ext cx="28575" cy="784473"/>
          </a:xfrm>
          <a:custGeom>
            <a:avLst/>
            <a:gdLst/>
            <a:ahLst/>
            <a:cxnLst/>
            <a:rect l="l" t="t" r="r" b="b"/>
            <a:pathLst>
              <a:path w="28575" h="784473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770344"/>
                </a:lnTo>
                <a:lnTo>
                  <a:pt x="25003" y="767494"/>
                </a:lnTo>
                <a:lnTo>
                  <a:pt x="21431" y="764236"/>
                </a:lnTo>
                <a:lnTo>
                  <a:pt x="17859" y="760484"/>
                </a:lnTo>
                <a:lnTo>
                  <a:pt x="14288" y="756110"/>
                </a:lnTo>
                <a:lnTo>
                  <a:pt x="10716" y="750895"/>
                </a:lnTo>
                <a:lnTo>
                  <a:pt x="7144" y="744419"/>
                </a:lnTo>
                <a:lnTo>
                  <a:pt x="3572" y="735608"/>
                </a:lnTo>
                <a:lnTo>
                  <a:pt x="0" y="713353"/>
                </a:lnTo>
                <a:close/>
              </a:path>
            </a:pathLst>
          </a:custGeom>
          <a:solidFill>
            <a:srgbClr val="7C5CB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86537" y="2215355"/>
            <a:ext cx="317153" cy="160273"/>
          </a:xfrm>
          <a:prstGeom prst="roundRect">
            <a:avLst>
              <a:gd name="adj" fmla="val 89541"/>
            </a:avLst>
          </a:prstGeom>
          <a:solidFill>
            <a:srgbClr val="7C5CBF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↓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7414915" y="1609576"/>
            <a:ext cx="1329035" cy="808007"/>
          </a:xfrm>
          <a:prstGeom prst="roundRect">
            <a:avLst>
              <a:gd name="adj" fmla="val 880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lIns="86360" tIns="71120" rIns="86360" bIns="71120" rtlCol="0" anchor="t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2A6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</a:t>
            </a:r>
            <a:endParaRPr lang="en-US" sz="620" dirty="0"/>
          </a:p>
          <a:p>
            <a:pPr marL="0" indent="0" algn="l">
              <a:buNone/>
            </a:pPr>
            <a:r>
              <a:rPr lang="en-US" sz="73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Produce Aisles</a:t>
            </a:r>
            <a:endParaRPr lang="en-US" sz="620" dirty="0"/>
          </a:p>
          <a:p>
            <a:pPr marL="0" indent="0" algn="l">
              <a:buNone/>
            </a:pPr>
            <a:endParaRPr lang="en-US" sz="620" dirty="0"/>
          </a:p>
          <a:p>
            <a:pPr marL="0" indent="0" algn="l">
              <a:buNone/>
            </a:pPr>
            <a:r>
              <a:rPr lang="en-US" sz="620" dirty="0">
                <a:solidFill>
                  <a:srgbClr val="5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yogurt &amp; eggs exhibit strongest category loyalty.</a:t>
            </a:r>
            <a:endParaRPr lang="en-US" sz="620" dirty="0"/>
          </a:p>
        </p:txBody>
      </p:sp>
      <p:sp>
        <p:nvSpPr>
          <p:cNvPr id="25" name="Text 22"/>
          <p:cNvSpPr/>
          <p:nvPr/>
        </p:nvSpPr>
        <p:spPr>
          <a:xfrm>
            <a:off x="7414915" y="1609576"/>
            <a:ext cx="28575" cy="784473"/>
          </a:xfrm>
          <a:custGeom>
            <a:avLst/>
            <a:gdLst/>
            <a:ahLst/>
            <a:cxnLst/>
            <a:rect l="l" t="t" r="r" b="b"/>
            <a:pathLst>
              <a:path w="28575" h="784473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770344"/>
                </a:lnTo>
                <a:lnTo>
                  <a:pt x="25003" y="767494"/>
                </a:lnTo>
                <a:lnTo>
                  <a:pt x="21431" y="764236"/>
                </a:lnTo>
                <a:lnTo>
                  <a:pt x="17859" y="760484"/>
                </a:lnTo>
                <a:lnTo>
                  <a:pt x="14288" y="756110"/>
                </a:lnTo>
                <a:lnTo>
                  <a:pt x="10716" y="750895"/>
                </a:lnTo>
                <a:lnTo>
                  <a:pt x="7144" y="744419"/>
                </a:lnTo>
                <a:lnTo>
                  <a:pt x="3572" y="735608"/>
                </a:lnTo>
                <a:lnTo>
                  <a:pt x="0" y="713353"/>
                </a:lnTo>
                <a:close/>
              </a:path>
            </a:pathLst>
          </a:custGeom>
          <a:solidFill>
            <a:srgbClr val="E2A61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650882" y="2219901"/>
            <a:ext cx="786854" cy="160273"/>
          </a:xfrm>
          <a:prstGeom prst="roundRect">
            <a:avLst>
              <a:gd name="adj" fmla="val 89541"/>
            </a:avLst>
          </a:prstGeom>
          <a:solidFill>
            <a:srgbClr val="E2A619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&gt;70% ↑↑</a:t>
            </a:r>
            <a:endParaRPr lang="en-US" sz="620" dirty="0"/>
          </a:p>
        </p:txBody>
      </p:sp>
      <p:sp>
        <p:nvSpPr>
          <p:cNvPr id="27" name="Text 24"/>
          <p:cNvSpPr/>
          <p:nvPr/>
        </p:nvSpPr>
        <p:spPr>
          <a:xfrm>
            <a:off x="6028729" y="2456438"/>
            <a:ext cx="2661631" cy="1634252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028730" y="2465040"/>
            <a:ext cx="2715220" cy="285750"/>
          </a:xfrm>
          <a:prstGeom prst="rect">
            <a:avLst/>
          </a:prstGeom>
          <a:solidFill>
            <a:srgbClr val="0D1F3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028730" y="2465040"/>
            <a:ext cx="818075" cy="300038"/>
          </a:xfrm>
          <a:prstGeom prst="rect">
            <a:avLst/>
          </a:prstGeom>
          <a:noFill/>
          <a:ln/>
        </p:spPr>
        <p:txBody>
          <a:bodyPr wrap="square" lIns="86360" tIns="57150" rIns="86360" bIns="5715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620" dirty="0"/>
          </a:p>
        </p:txBody>
      </p:sp>
      <p:sp>
        <p:nvSpPr>
          <p:cNvPr id="30" name="Text 27"/>
          <p:cNvSpPr/>
          <p:nvPr/>
        </p:nvSpPr>
        <p:spPr>
          <a:xfrm>
            <a:off x="6830764" y="2465040"/>
            <a:ext cx="1237815" cy="300038"/>
          </a:xfrm>
          <a:prstGeom prst="rect">
            <a:avLst/>
          </a:prstGeom>
          <a:noFill/>
          <a:ln/>
        </p:spPr>
        <p:txBody>
          <a:bodyPr wrap="square" lIns="86360" tIns="57150" rIns="86360" bIns="5715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</a:t>
            </a:r>
            <a:endParaRPr lang="en-US" sz="620" dirty="0"/>
          </a:p>
        </p:txBody>
      </p:sp>
      <p:sp>
        <p:nvSpPr>
          <p:cNvPr id="31" name="Text 28"/>
          <p:cNvSpPr/>
          <p:nvPr/>
        </p:nvSpPr>
        <p:spPr>
          <a:xfrm>
            <a:off x="8044309" y="2465040"/>
            <a:ext cx="713634" cy="300038"/>
          </a:xfrm>
          <a:prstGeom prst="rect">
            <a:avLst/>
          </a:prstGeom>
          <a:noFill/>
          <a:ln/>
        </p:spPr>
        <p:txBody>
          <a:bodyPr wrap="square" lIns="86360" tIns="57150" rIns="86360" bIns="5715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kern="0" spc="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6028730" y="3035350"/>
            <a:ext cx="2715220" cy="9525"/>
          </a:xfrm>
          <a:prstGeom prst="rect">
            <a:avLst/>
          </a:prstGeom>
          <a:solidFill>
            <a:srgbClr val="EEF1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115050" y="2821186"/>
            <a:ext cx="64740" cy="6474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830764" y="2750790"/>
            <a:ext cx="1237815" cy="308789"/>
          </a:xfrm>
          <a:prstGeom prst="rect">
            <a:avLst/>
          </a:prstGeom>
          <a:noFill/>
          <a:ln/>
        </p:spPr>
        <p:txBody>
          <a:bodyPr wrap="square" lIns="86360" tIns="49530" rIns="86360" bIns="4953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order_hour_of_day</a:t>
            </a:r>
            <a:endParaRPr lang="en-US" sz="620" dirty="0"/>
          </a:p>
        </p:txBody>
      </p:sp>
      <p:sp>
        <p:nvSpPr>
          <p:cNvPr id="35" name="Text 32"/>
          <p:cNvSpPr/>
          <p:nvPr/>
        </p:nvSpPr>
        <p:spPr>
          <a:xfrm>
            <a:off x="6028730" y="3342829"/>
            <a:ext cx="2715220" cy="9525"/>
          </a:xfrm>
          <a:prstGeom prst="rect">
            <a:avLst/>
          </a:prstGeom>
          <a:solidFill>
            <a:srgbClr val="EEF1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115050" y="3124349"/>
            <a:ext cx="64740" cy="64740"/>
          </a:xfrm>
          <a:prstGeom prst="ellipse">
            <a:avLst/>
          </a:prstGeom>
          <a:solidFill>
            <a:srgbClr val="1A9E8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830764" y="3044875"/>
            <a:ext cx="1237815" cy="322853"/>
          </a:xfrm>
          <a:prstGeom prst="rect">
            <a:avLst/>
          </a:prstGeom>
          <a:noFill/>
          <a:ln/>
        </p:spPr>
        <p:txBody>
          <a:bodyPr wrap="square" lIns="86360" tIns="49530" rIns="86360" bIns="4953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order_dow</a:t>
            </a:r>
            <a:endParaRPr lang="en-US" sz="620" dirty="0"/>
          </a:p>
        </p:txBody>
      </p:sp>
      <p:sp>
        <p:nvSpPr>
          <p:cNvPr id="38" name="Text 35"/>
          <p:cNvSpPr/>
          <p:nvPr/>
        </p:nvSpPr>
        <p:spPr>
          <a:xfrm>
            <a:off x="6028730" y="3641675"/>
            <a:ext cx="2715220" cy="9525"/>
          </a:xfrm>
          <a:prstGeom prst="rect">
            <a:avLst/>
          </a:prstGeom>
          <a:solidFill>
            <a:srgbClr val="EEF1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15050" y="3427512"/>
            <a:ext cx="64740" cy="64740"/>
          </a:xfrm>
          <a:prstGeom prst="ellipse">
            <a:avLst/>
          </a:prstGeom>
          <a:solidFill>
            <a:srgbClr val="7C5CBF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830764" y="3352354"/>
            <a:ext cx="1237815" cy="313789"/>
          </a:xfrm>
          <a:prstGeom prst="rect">
            <a:avLst/>
          </a:prstGeom>
          <a:noFill/>
          <a:ln/>
        </p:spPr>
        <p:txBody>
          <a:bodyPr wrap="square" lIns="86360" tIns="49530" rIns="86360" bIns="4953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</a:t>
            </a:r>
            <a:endParaRPr lang="en-US" sz="620" dirty="0"/>
          </a:p>
        </p:txBody>
      </p:sp>
      <p:sp>
        <p:nvSpPr>
          <p:cNvPr id="41" name="Text 38"/>
          <p:cNvSpPr/>
          <p:nvPr/>
        </p:nvSpPr>
        <p:spPr>
          <a:xfrm>
            <a:off x="6115050" y="3730675"/>
            <a:ext cx="64740" cy="64740"/>
          </a:xfrm>
          <a:prstGeom prst="ellipse">
            <a:avLst/>
          </a:prstGeom>
          <a:solidFill>
            <a:srgbClr val="E2A619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830764" y="3651200"/>
            <a:ext cx="1237815" cy="317852"/>
          </a:xfrm>
          <a:prstGeom prst="rect">
            <a:avLst/>
          </a:prstGeom>
          <a:noFill/>
          <a:ln/>
        </p:spPr>
        <p:txBody>
          <a:bodyPr wrap="square" lIns="86360" tIns="49530" rIns="86360" bIns="49530" rtlCol="0" anchor="t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dirty="0">
                <a:solidFill>
                  <a:srgbClr val="5A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aisle category</a:t>
            </a:r>
            <a:endParaRPr lang="en-US" sz="620" dirty="0"/>
          </a:p>
        </p:txBody>
      </p:sp>
      <p:sp>
        <p:nvSpPr>
          <p:cNvPr id="43" name="Text 40"/>
          <p:cNvSpPr/>
          <p:nvPr/>
        </p:nvSpPr>
        <p:spPr>
          <a:xfrm>
            <a:off x="6042723" y="4170164"/>
            <a:ext cx="2715220" cy="504527"/>
          </a:xfrm>
          <a:prstGeom prst="roundRect">
            <a:avLst>
              <a:gd name="adj" fmla="val 14096"/>
            </a:avLst>
          </a:prstGeom>
          <a:gradFill rotWithShape="1">
            <a:gsLst>
              <a:gs pos="0">
                <a:srgbClr val="0D1F33"/>
              </a:gs>
              <a:gs pos="100000">
                <a:srgbClr val="1A3352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6547" y="4347576"/>
            <a:ext cx="132588" cy="13258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307634" y="4232672"/>
            <a:ext cx="2382726" cy="380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Aisle category (Dairy &amp; Produce) is the strongest predictor — outperforming both temporal and frequency-based signals.</a:t>
            </a:r>
            <a:endParaRPr lang="en-US" sz="680" dirty="0"/>
          </a:p>
        </p:txBody>
      </p:sp>
      <p:sp>
        <p:nvSpPr>
          <p:cNvPr id="46" name="Text 42"/>
          <p:cNvSpPr/>
          <p:nvPr/>
        </p:nvSpPr>
        <p:spPr>
          <a:xfrm>
            <a:off x="0" y="4666208"/>
            <a:ext cx="9144000" cy="9525"/>
          </a:xfrm>
          <a:prstGeom prst="rect">
            <a:avLst/>
          </a:prstGeom>
          <a:solidFill>
            <a:srgbClr val="DDE3EC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977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37324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857970" cy="1857970"/>
          </a:xfrm>
          <a:prstGeom prst="ellipse">
            <a:avLst/>
          </a:prstGeom>
          <a:gradFill rotWithShape="1">
            <a:gsLst>
              <a:gs pos="0">
                <a:srgbClr val="F3732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01470" y="3286720"/>
            <a:ext cx="2142530" cy="1856780"/>
          </a:xfrm>
          <a:prstGeom prst="ellipse">
            <a:avLst/>
          </a:prstGeom>
          <a:gradFill rotWithShape="1">
            <a:gsLst>
              <a:gs pos="0">
                <a:srgbClr val="1164A3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50000">
                <a:srgbClr val="F4A24A"/>
              </a:gs>
              <a:gs pos="100000">
                <a:srgbClr val="F37324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8086" y="2652117"/>
            <a:ext cx="1706285" cy="159246"/>
          </a:xfrm>
          <a:prstGeom prst="roundRect">
            <a:avLst>
              <a:gd name="adj" fmla="val 13558"/>
            </a:avLst>
          </a:prstGeom>
          <a:noFill/>
          <a:ln w="9525">
            <a:solidFill>
              <a:srgbClr val="F37324">
                <a:alpha val="20000"/>
              </a:srgbClr>
            </a:solidFill>
            <a:prstDash val="dash"/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10" b="1" kern="0" spc="6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INSERT SCREENSHOT</a:t>
            </a:r>
            <a:endParaRPr lang="en-US" sz="510" dirty="0"/>
          </a:p>
        </p:txBody>
      </p:sp>
      <p:sp>
        <p:nvSpPr>
          <p:cNvPr id="7" name="Text 5"/>
          <p:cNvSpPr/>
          <p:nvPr/>
        </p:nvSpPr>
        <p:spPr>
          <a:xfrm>
            <a:off x="3735586" y="2691705"/>
            <a:ext cx="1706285" cy="159246"/>
          </a:xfrm>
          <a:prstGeom prst="roundRect">
            <a:avLst>
              <a:gd name="adj" fmla="val 13558"/>
            </a:avLst>
          </a:prstGeom>
          <a:noFill/>
          <a:ln w="9525">
            <a:solidFill>
              <a:srgbClr val="F37324">
                <a:alpha val="20000"/>
              </a:srgbClr>
            </a:solidFill>
            <a:prstDash val="dash"/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10" b="1" kern="0" spc="6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INSERT SCREENSHOT</a:t>
            </a:r>
            <a:endParaRPr lang="en-US" sz="510" dirty="0"/>
          </a:p>
        </p:txBody>
      </p:sp>
      <p:sp>
        <p:nvSpPr>
          <p:cNvPr id="8" name="Text 6"/>
          <p:cNvSpPr/>
          <p:nvPr/>
        </p:nvSpPr>
        <p:spPr>
          <a:xfrm>
            <a:off x="6593086" y="2691705"/>
            <a:ext cx="1706285" cy="159246"/>
          </a:xfrm>
          <a:prstGeom prst="roundRect">
            <a:avLst>
              <a:gd name="adj" fmla="val 13558"/>
            </a:avLst>
          </a:prstGeom>
          <a:noFill/>
          <a:ln w="9525">
            <a:solidFill>
              <a:srgbClr val="F37324">
                <a:alpha val="20000"/>
              </a:srgbClr>
            </a:solidFill>
            <a:prstDash val="dash"/>
          </a:ln>
        </p:spPr>
        <p:txBody>
          <a:bodyPr wrap="none" lIns="57150" tIns="21590" rIns="57150" bIns="21590" rtlCol="0" anchor="t"/>
          <a:lstStyle/>
          <a:p>
            <a:pPr marL="0" indent="0" algn="l">
              <a:buNone/>
            </a:pPr>
            <a:r>
              <a:rPr lang="en-US" sz="510" b="1" kern="0" spc="6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INSERT SCREENSHOT</a:t>
            </a:r>
            <a:endParaRPr lang="en-US" sz="510" dirty="0"/>
          </a:p>
        </p:txBody>
      </p:sp>
      <p:sp>
        <p:nvSpPr>
          <p:cNvPr id="9" name="Text 7"/>
          <p:cNvSpPr/>
          <p:nvPr/>
        </p:nvSpPr>
        <p:spPr>
          <a:xfrm>
            <a:off x="352425" y="925264"/>
            <a:ext cx="2724150" cy="3612952"/>
          </a:xfrm>
          <a:prstGeom prst="rect">
            <a:avLst/>
          </a:prstGeom>
          <a:gradFill rotWithShape="1">
            <a:gsLst>
              <a:gs pos="0">
                <a:srgbClr val="FFFFFF">
                  <a:alpha val="1000"/>
                </a:srgbClr>
              </a:gs>
              <a:gs pos="33333">
                <a:srgbClr val="FFFFFF">
                  <a:alpha val="1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9925" y="925264"/>
            <a:ext cx="2724150" cy="3692277"/>
          </a:xfrm>
          <a:prstGeom prst="rect">
            <a:avLst/>
          </a:prstGeom>
          <a:gradFill rotWithShape="1">
            <a:gsLst>
              <a:gs pos="0">
                <a:srgbClr val="FFFFFF">
                  <a:alpha val="1000"/>
                </a:srgbClr>
              </a:gs>
              <a:gs pos="33333">
                <a:srgbClr val="FFFFFF">
                  <a:alpha val="1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67425" y="925264"/>
            <a:ext cx="2724150" cy="3692277"/>
          </a:xfrm>
          <a:prstGeom prst="rect">
            <a:avLst/>
          </a:prstGeom>
          <a:gradFill rotWithShape="1">
            <a:gsLst>
              <a:gs pos="0">
                <a:srgbClr val="FFFFFF">
                  <a:alpha val="1000"/>
                </a:srgbClr>
              </a:gs>
              <a:gs pos="33333">
                <a:srgbClr val="FFFFFF">
                  <a:alpha val="1000"/>
                </a:srgbClr>
              </a:gs>
              <a:gs pos="66667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189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7226" y="1960811"/>
            <a:ext cx="631356" cy="232172"/>
          </a:xfrm>
          <a:prstGeom prst="roundRect">
            <a:avLst>
              <a:gd name="adj" fmla="val 15316"/>
            </a:avLst>
          </a:prstGeom>
          <a:solidFill>
            <a:srgbClr val="F37324">
              <a:alpha val="8000"/>
            </a:srgbClr>
          </a:solidFill>
          <a:ln w="9525">
            <a:solidFill>
              <a:srgbClr val="F37324">
                <a:alpha val="20000"/>
              </a:srgbClr>
            </a:solidFill>
          </a:ln>
        </p:spPr>
        <p:txBody>
          <a:bodyPr wrap="none" lIns="35560" tIns="29210" rIns="35560" bIns="29210" rtlCol="0" anchor="t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3.4M+</a:t>
            </a:r>
            <a:endParaRPr lang="en-US" sz="62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1071624" y="1960811"/>
            <a:ext cx="631356" cy="232172"/>
          </a:xfrm>
          <a:prstGeom prst="roundRect">
            <a:avLst>
              <a:gd name="adj" fmla="val 15316"/>
            </a:avLst>
          </a:prstGeom>
          <a:solidFill>
            <a:srgbClr val="F37324">
              <a:alpha val="8000"/>
            </a:srgbClr>
          </a:solidFill>
          <a:ln w="9525">
            <a:solidFill>
              <a:srgbClr val="F37324">
                <a:alpha val="20000"/>
              </a:srgbClr>
            </a:solidFill>
          </a:ln>
        </p:spPr>
        <p:txBody>
          <a:bodyPr wrap="none" lIns="35560" tIns="29210" rIns="35560" bIns="29210" rtlCol="0" anchor="t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206K</a:t>
            </a:r>
            <a:endParaRPr lang="en-US" sz="62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1726021" y="1960811"/>
            <a:ext cx="631356" cy="232172"/>
          </a:xfrm>
          <a:prstGeom prst="roundRect">
            <a:avLst>
              <a:gd name="adj" fmla="val 15316"/>
            </a:avLst>
          </a:prstGeom>
          <a:solidFill>
            <a:srgbClr val="F37324">
              <a:alpha val="8000"/>
            </a:srgbClr>
          </a:solidFill>
          <a:ln w="9525">
            <a:solidFill>
              <a:srgbClr val="F37324">
                <a:alpha val="20000"/>
              </a:srgbClr>
            </a:solidFill>
          </a:ln>
        </p:spPr>
        <p:txBody>
          <a:bodyPr wrap="none" lIns="35560" tIns="29210" rIns="35560" bIns="29210" rtlCol="0" anchor="t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</a:t>
            </a:r>
            <a:endParaRPr lang="en-US" sz="62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Orders/User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2380418" y="1960811"/>
            <a:ext cx="631356" cy="232172"/>
          </a:xfrm>
          <a:prstGeom prst="roundRect">
            <a:avLst>
              <a:gd name="adj" fmla="val 15316"/>
            </a:avLst>
          </a:prstGeom>
          <a:solidFill>
            <a:srgbClr val="F37324">
              <a:alpha val="8000"/>
            </a:srgbClr>
          </a:solidFill>
          <a:ln w="9525">
            <a:solidFill>
              <a:srgbClr val="F37324">
                <a:alpha val="20000"/>
              </a:srgbClr>
            </a:solidFill>
          </a:ln>
        </p:spPr>
        <p:txBody>
          <a:bodyPr wrap="none" lIns="35560" tIns="29210" rIns="35560" bIns="29210" rtlCol="0" anchor="t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11.1d</a:t>
            </a:r>
            <a:endParaRPr lang="en-US" sz="62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Prior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423416" y="2242393"/>
            <a:ext cx="2582168" cy="505271"/>
          </a:xfrm>
          <a:prstGeom prst="roundRect">
            <a:avLst>
              <a:gd name="adj" fmla="val 703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0091" y="2295079"/>
            <a:ext cx="2693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DAY OF WEEK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490091" y="2490341"/>
            <a:ext cx="331291" cy="120253"/>
          </a:xfrm>
          <a:prstGeom prst="roundRect">
            <a:avLst>
              <a:gd name="adj" fmla="val 11617"/>
            </a:avLst>
          </a:prstGeom>
          <a:solidFill>
            <a:srgbClr val="F37324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42963" y="2514302"/>
            <a:ext cx="331440" cy="96292"/>
          </a:xfrm>
          <a:prstGeom prst="roundRect">
            <a:avLst>
              <a:gd name="adj" fmla="val 14508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95983" y="2522339"/>
            <a:ext cx="331291" cy="88255"/>
          </a:xfrm>
          <a:prstGeom prst="roundRect">
            <a:avLst>
              <a:gd name="adj" fmla="val 15829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48854" y="2518321"/>
            <a:ext cx="331440" cy="92273"/>
          </a:xfrm>
          <a:prstGeom prst="roundRect">
            <a:avLst>
              <a:gd name="adj" fmla="val 15140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01875" y="2510284"/>
            <a:ext cx="331291" cy="100310"/>
          </a:xfrm>
          <a:prstGeom prst="roundRect">
            <a:avLst>
              <a:gd name="adj" fmla="val 13927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54746" y="2474268"/>
            <a:ext cx="331291" cy="136327"/>
          </a:xfrm>
          <a:prstGeom prst="roundRect">
            <a:avLst>
              <a:gd name="adj" fmla="val 10247"/>
            </a:avLst>
          </a:prstGeom>
          <a:solidFill>
            <a:srgbClr val="F37324">
              <a:alpha val="9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07618" y="2466231"/>
            <a:ext cx="331291" cy="144363"/>
          </a:xfrm>
          <a:prstGeom prst="roundRect">
            <a:avLst>
              <a:gd name="adj" fmla="val 9677"/>
            </a:avLst>
          </a:prstGeom>
          <a:solidFill>
            <a:srgbClr val="F4A24A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0091" y="2624435"/>
            <a:ext cx="91842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370" dirty="0"/>
          </a:p>
        </p:txBody>
      </p:sp>
      <p:sp>
        <p:nvSpPr>
          <p:cNvPr id="26" name="Text 24"/>
          <p:cNvSpPr/>
          <p:nvPr/>
        </p:nvSpPr>
        <p:spPr>
          <a:xfrm>
            <a:off x="889099" y="2624435"/>
            <a:ext cx="100355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370" dirty="0"/>
          </a:p>
        </p:txBody>
      </p:sp>
      <p:sp>
        <p:nvSpPr>
          <p:cNvPr id="27" name="Text 25"/>
          <p:cNvSpPr/>
          <p:nvPr/>
        </p:nvSpPr>
        <p:spPr>
          <a:xfrm>
            <a:off x="1295995" y="2624435"/>
            <a:ext cx="87094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370" dirty="0"/>
          </a:p>
        </p:txBody>
      </p:sp>
      <p:sp>
        <p:nvSpPr>
          <p:cNvPr id="28" name="Text 26"/>
          <p:cNvSpPr/>
          <p:nvPr/>
        </p:nvSpPr>
        <p:spPr>
          <a:xfrm>
            <a:off x="1690688" y="2624435"/>
            <a:ext cx="105102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370" dirty="0"/>
          </a:p>
        </p:txBody>
      </p:sp>
      <p:sp>
        <p:nvSpPr>
          <p:cNvPr id="29" name="Text 27"/>
          <p:cNvSpPr/>
          <p:nvPr/>
        </p:nvSpPr>
        <p:spPr>
          <a:xfrm>
            <a:off x="2101751" y="2624435"/>
            <a:ext cx="88895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370" dirty="0"/>
          </a:p>
        </p:txBody>
      </p:sp>
      <p:sp>
        <p:nvSpPr>
          <p:cNvPr id="30" name="Text 28"/>
          <p:cNvSpPr/>
          <p:nvPr/>
        </p:nvSpPr>
        <p:spPr>
          <a:xfrm>
            <a:off x="2498229" y="2624435"/>
            <a:ext cx="60246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370" dirty="0"/>
          </a:p>
        </p:txBody>
      </p:sp>
      <p:sp>
        <p:nvSpPr>
          <p:cNvPr id="31" name="Text 29"/>
          <p:cNvSpPr/>
          <p:nvPr/>
        </p:nvSpPr>
        <p:spPr>
          <a:xfrm>
            <a:off x="2868513" y="2624435"/>
            <a:ext cx="77435" cy="705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"/>
              </a:lnSpc>
              <a:buNone/>
            </a:pPr>
            <a:r>
              <a:rPr lang="en-US" sz="37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370" dirty="0"/>
          </a:p>
        </p:txBody>
      </p:sp>
      <p:sp>
        <p:nvSpPr>
          <p:cNvPr id="32" name="Text 30"/>
          <p:cNvSpPr/>
          <p:nvPr/>
        </p:nvSpPr>
        <p:spPr>
          <a:xfrm>
            <a:off x="423416" y="2783086"/>
            <a:ext cx="2582168" cy="493216"/>
          </a:xfrm>
          <a:prstGeom prst="roundRect">
            <a:avLst>
              <a:gd name="adj" fmla="val 721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0091" y="2835771"/>
            <a:ext cx="2693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HOUR OF DAY</a:t>
            </a:r>
            <a:endParaRPr lang="en-US" sz="45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91" y="2950666"/>
            <a:ext cx="2448818" cy="2006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90091" y="3158877"/>
            <a:ext cx="52715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0h</a:t>
            </a:r>
            <a:endParaRPr lang="en-US" sz="340" dirty="0"/>
          </a:p>
        </p:txBody>
      </p:sp>
      <p:sp>
        <p:nvSpPr>
          <p:cNvPr id="36" name="Text 33"/>
          <p:cNvSpPr/>
          <p:nvPr/>
        </p:nvSpPr>
        <p:spPr>
          <a:xfrm>
            <a:off x="1066354" y="3158877"/>
            <a:ext cx="7907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</a:t>
            </a:r>
            <a:endParaRPr lang="en-US" sz="340" dirty="0"/>
          </a:p>
        </p:txBody>
      </p:sp>
      <p:sp>
        <p:nvSpPr>
          <p:cNvPr id="37" name="Text 34"/>
          <p:cNvSpPr/>
          <p:nvPr/>
        </p:nvSpPr>
        <p:spPr>
          <a:xfrm>
            <a:off x="1666577" y="3158877"/>
            <a:ext cx="7907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340" dirty="0"/>
          </a:p>
        </p:txBody>
      </p:sp>
      <p:sp>
        <p:nvSpPr>
          <p:cNvPr id="38" name="Text 35"/>
          <p:cNvSpPr/>
          <p:nvPr/>
        </p:nvSpPr>
        <p:spPr>
          <a:xfrm>
            <a:off x="2266801" y="3158877"/>
            <a:ext cx="7907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</a:t>
            </a:r>
            <a:endParaRPr lang="en-US" sz="340" dirty="0"/>
          </a:p>
        </p:txBody>
      </p:sp>
      <p:sp>
        <p:nvSpPr>
          <p:cNvPr id="39" name="Text 36"/>
          <p:cNvSpPr/>
          <p:nvPr/>
        </p:nvSpPr>
        <p:spPr>
          <a:xfrm>
            <a:off x="2867025" y="3158877"/>
            <a:ext cx="7907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23h</a:t>
            </a:r>
            <a:endParaRPr lang="en-US" sz="340" dirty="0"/>
          </a:p>
        </p:txBody>
      </p:sp>
      <p:sp>
        <p:nvSpPr>
          <p:cNvPr id="40" name="Text 37"/>
          <p:cNvSpPr/>
          <p:nvPr/>
        </p:nvSpPr>
        <p:spPr>
          <a:xfrm>
            <a:off x="423416" y="3347145"/>
            <a:ext cx="2582168" cy="155377"/>
          </a:xfrm>
          <a:prstGeom prst="rect">
            <a:avLst/>
          </a:prstGeom>
          <a:solidFill>
            <a:srgbClr val="F37324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23416" y="3347145"/>
            <a:ext cx="19050" cy="155377"/>
          </a:xfrm>
          <a:prstGeom prst="rect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581" y="3358539"/>
            <a:ext cx="132588" cy="13258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83555" y="3376315"/>
            <a:ext cx="93135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ordering: 10 AM–4 PM</a:t>
            </a:r>
            <a:endParaRPr lang="en-US" sz="510" dirty="0"/>
          </a:p>
        </p:txBody>
      </p:sp>
      <p:sp>
        <p:nvSpPr>
          <p:cNvPr id="44" name="Text 40"/>
          <p:cNvSpPr/>
          <p:nvPr/>
        </p:nvSpPr>
        <p:spPr>
          <a:xfrm>
            <a:off x="3268182" y="2023765"/>
            <a:ext cx="1298841" cy="253752"/>
          </a:xfrm>
          <a:prstGeom prst="roundRect">
            <a:avLst>
              <a:gd name="adj" fmla="val 14014"/>
            </a:avLst>
          </a:prstGeom>
          <a:solidFill>
            <a:srgbClr val="F37324">
              <a:alpha val="13000"/>
            </a:srgbClr>
          </a:solidFill>
          <a:ln w="9525">
            <a:solidFill>
              <a:srgbClr val="F37324">
                <a:alpha val="20000"/>
              </a:srgbClr>
            </a:solidFill>
          </a:ln>
        </p:spPr>
        <p:txBody>
          <a:bodyPr wrap="none" lIns="35560" tIns="29210" rIns="35560" bIns="29210" rtlCol="0" anchor="t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59.0%</a:t>
            </a:r>
            <a:endParaRPr lang="en-US" sz="79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Reorder Rate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576977" y="2023765"/>
            <a:ext cx="1298841" cy="253752"/>
          </a:xfrm>
          <a:prstGeom prst="roundRect">
            <a:avLst>
              <a:gd name="adj" fmla="val 14014"/>
            </a:avLst>
          </a:prstGeom>
          <a:solidFill>
            <a:srgbClr val="F37324">
              <a:alpha val="8000"/>
            </a:srgbClr>
          </a:solidFill>
          <a:ln w="9525">
            <a:solidFill>
              <a:srgbClr val="F37324">
                <a:alpha val="20000"/>
              </a:srgbClr>
            </a:solidFill>
          </a:ln>
        </p:spPr>
        <p:txBody>
          <a:bodyPr wrap="none" lIns="35560" tIns="29210" rIns="35560" bIns="29210" rtlCol="0" anchor="t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620" dirty="0"/>
          </a:p>
          <a:p>
            <a:pPr marL="0" indent="0" algn="ctr">
              <a:buNone/>
            </a:pPr>
            <a:r>
              <a:rPr lang="en-US" sz="4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Dairy/Produce</a:t>
            </a:r>
            <a:endParaRPr lang="en-US" sz="620" dirty="0"/>
          </a:p>
        </p:txBody>
      </p:sp>
      <p:sp>
        <p:nvSpPr>
          <p:cNvPr id="46" name="Text 42"/>
          <p:cNvSpPr/>
          <p:nvPr/>
        </p:nvSpPr>
        <p:spPr>
          <a:xfrm>
            <a:off x="3280916" y="2326928"/>
            <a:ext cx="2582168" cy="582067"/>
          </a:xfrm>
          <a:prstGeom prst="roundRect">
            <a:avLst>
              <a:gd name="adj" fmla="val 610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3347591" y="2379613"/>
            <a:ext cx="2693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 BY DEPARTMENT</a:t>
            </a:r>
            <a:endParaRPr lang="en-US" sz="450" dirty="0"/>
          </a:p>
        </p:txBody>
      </p:sp>
      <p:sp>
        <p:nvSpPr>
          <p:cNvPr id="48" name="Text 44"/>
          <p:cNvSpPr/>
          <p:nvPr/>
        </p:nvSpPr>
        <p:spPr>
          <a:xfrm>
            <a:off x="3319016" y="2494508"/>
            <a:ext cx="314325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</a:t>
            </a:r>
            <a:endParaRPr lang="en-US" sz="390" dirty="0"/>
          </a:p>
        </p:txBody>
      </p:sp>
      <p:sp>
        <p:nvSpPr>
          <p:cNvPr id="49" name="Text 45"/>
          <p:cNvSpPr/>
          <p:nvPr/>
        </p:nvSpPr>
        <p:spPr>
          <a:xfrm>
            <a:off x="3662511" y="2509986"/>
            <a:ext cx="1947267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3662511" y="2509986"/>
            <a:ext cx="151879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4ECDC4"/>
              </a:gs>
              <a:gs pos="100000">
                <a:srgbClr val="45B7A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5638949" y="2494508"/>
            <a:ext cx="17320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90" dirty="0"/>
          </a:p>
        </p:txBody>
      </p:sp>
      <p:sp>
        <p:nvSpPr>
          <p:cNvPr id="52" name="Text 48"/>
          <p:cNvSpPr/>
          <p:nvPr/>
        </p:nvSpPr>
        <p:spPr>
          <a:xfrm>
            <a:off x="3319016" y="2590354"/>
            <a:ext cx="314325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390" dirty="0"/>
          </a:p>
        </p:txBody>
      </p:sp>
      <p:sp>
        <p:nvSpPr>
          <p:cNvPr id="53" name="Text 49"/>
          <p:cNvSpPr/>
          <p:nvPr/>
        </p:nvSpPr>
        <p:spPr>
          <a:xfrm>
            <a:off x="3662511" y="2605832"/>
            <a:ext cx="1947267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3662511" y="2605832"/>
            <a:ext cx="140196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4ECDC4"/>
              </a:gs>
              <a:gs pos="100000">
                <a:srgbClr val="45B7A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638949" y="2590354"/>
            <a:ext cx="17320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90" dirty="0"/>
          </a:p>
        </p:txBody>
      </p:sp>
      <p:sp>
        <p:nvSpPr>
          <p:cNvPr id="56" name="Text 52"/>
          <p:cNvSpPr/>
          <p:nvPr/>
        </p:nvSpPr>
        <p:spPr>
          <a:xfrm>
            <a:off x="3319016" y="2686199"/>
            <a:ext cx="314325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</a:t>
            </a:r>
            <a:endParaRPr lang="en-US" sz="390" dirty="0"/>
          </a:p>
        </p:txBody>
      </p:sp>
      <p:sp>
        <p:nvSpPr>
          <p:cNvPr id="57" name="Text 53"/>
          <p:cNvSpPr/>
          <p:nvPr/>
        </p:nvSpPr>
        <p:spPr>
          <a:xfrm>
            <a:off x="3662511" y="2701677"/>
            <a:ext cx="1947267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3662511" y="2701677"/>
            <a:ext cx="1226641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F37324"/>
              </a:gs>
              <a:gs pos="100000">
                <a:srgbClr val="F4A24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638949" y="2686199"/>
            <a:ext cx="17320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390" dirty="0"/>
          </a:p>
        </p:txBody>
      </p:sp>
      <p:sp>
        <p:nvSpPr>
          <p:cNvPr id="60" name="Text 56"/>
          <p:cNvSpPr/>
          <p:nvPr/>
        </p:nvSpPr>
        <p:spPr>
          <a:xfrm>
            <a:off x="3319016" y="2782044"/>
            <a:ext cx="314325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390" dirty="0"/>
          </a:p>
        </p:txBody>
      </p:sp>
      <p:sp>
        <p:nvSpPr>
          <p:cNvPr id="61" name="Text 57"/>
          <p:cNvSpPr/>
          <p:nvPr/>
        </p:nvSpPr>
        <p:spPr>
          <a:xfrm>
            <a:off x="3662511" y="2797522"/>
            <a:ext cx="1947267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3662511" y="2797522"/>
            <a:ext cx="973634" cy="43160"/>
          </a:xfrm>
          <a:prstGeom prst="roundRect">
            <a:avLst>
              <a:gd name="adj" fmla="val 50023"/>
            </a:avLst>
          </a:prstGeom>
          <a:gradFill rotWithShape="1">
            <a:gsLst>
              <a:gs pos="0">
                <a:srgbClr val="8B72BE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5638949" y="2782044"/>
            <a:ext cx="173206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90" dirty="0"/>
          </a:p>
        </p:txBody>
      </p:sp>
      <p:sp>
        <p:nvSpPr>
          <p:cNvPr id="64" name="Text 60"/>
          <p:cNvSpPr/>
          <p:nvPr/>
        </p:nvSpPr>
        <p:spPr>
          <a:xfrm>
            <a:off x="3280916" y="2944416"/>
            <a:ext cx="2582168" cy="358859"/>
          </a:xfrm>
          <a:prstGeom prst="roundRect">
            <a:avLst>
              <a:gd name="adj" fmla="val 990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HEATMAP — DEPT × AISLE</a:t>
            </a:r>
            <a:endParaRPr lang="en-US" sz="450" dirty="0"/>
          </a:p>
        </p:txBody>
      </p:sp>
      <p:sp>
        <p:nvSpPr>
          <p:cNvPr id="65" name="Text 61"/>
          <p:cNvSpPr/>
          <p:nvPr/>
        </p:nvSpPr>
        <p:spPr>
          <a:xfrm>
            <a:off x="3347591" y="3111996"/>
            <a:ext cx="337840" cy="57150"/>
          </a:xfrm>
          <a:prstGeom prst="roundRect">
            <a:avLst>
              <a:gd name="adj" fmla="val 13333"/>
            </a:avLst>
          </a:prstGeom>
          <a:solidFill>
            <a:srgbClr val="4ECDC4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3699272" y="3111996"/>
            <a:ext cx="337989" cy="57150"/>
          </a:xfrm>
          <a:prstGeom prst="roundRect">
            <a:avLst>
              <a:gd name="adj" fmla="val 13333"/>
            </a:avLst>
          </a:prstGeom>
          <a:solidFill>
            <a:srgbClr val="4ECDC4">
              <a:alpha val="6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4051102" y="3111996"/>
            <a:ext cx="337989" cy="57150"/>
          </a:xfrm>
          <a:prstGeom prst="roundRect">
            <a:avLst>
              <a:gd name="adj" fmla="val 13333"/>
            </a:avLst>
          </a:prstGeom>
          <a:solidFill>
            <a:srgbClr val="F37324">
              <a:alpha val="5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4402931" y="3111996"/>
            <a:ext cx="337989" cy="57150"/>
          </a:xfrm>
          <a:prstGeom prst="roundRect">
            <a:avLst>
              <a:gd name="adj" fmla="val 13333"/>
            </a:avLst>
          </a:prstGeom>
          <a:solidFill>
            <a:srgbClr val="F37324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4754761" y="3111996"/>
            <a:ext cx="337989" cy="57150"/>
          </a:xfrm>
          <a:prstGeom prst="roundRect">
            <a:avLst>
              <a:gd name="adj" fmla="val 13333"/>
            </a:avLst>
          </a:prstGeom>
          <a:solidFill>
            <a:srgbClr val="8B72BE">
              <a:alpha val="4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106591" y="3111996"/>
            <a:ext cx="337989" cy="57150"/>
          </a:xfrm>
          <a:prstGeom prst="roundRect">
            <a:avLst>
              <a:gd name="adj" fmla="val 13333"/>
            </a:avLst>
          </a:prstGeom>
          <a:solidFill>
            <a:srgbClr val="4ECDC4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458420" y="3111996"/>
            <a:ext cx="337989" cy="57150"/>
          </a:xfrm>
          <a:prstGeom prst="roundRect">
            <a:avLst>
              <a:gd name="adj" fmla="val 13333"/>
            </a:avLst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3347591" y="3182987"/>
            <a:ext cx="337840" cy="57150"/>
          </a:xfrm>
          <a:prstGeom prst="roundRect">
            <a:avLst>
              <a:gd name="adj" fmla="val 13333"/>
            </a:avLst>
          </a:prstGeom>
          <a:solidFill>
            <a:srgbClr val="F37324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9"/>
          <p:cNvSpPr/>
          <p:nvPr/>
        </p:nvSpPr>
        <p:spPr>
          <a:xfrm>
            <a:off x="3699272" y="3182987"/>
            <a:ext cx="337989" cy="57150"/>
          </a:xfrm>
          <a:prstGeom prst="roundRect">
            <a:avLst>
              <a:gd name="adj" fmla="val 13333"/>
            </a:avLst>
          </a:prstGeom>
          <a:solidFill>
            <a:srgbClr val="4ECDC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4051102" y="3182987"/>
            <a:ext cx="337989" cy="57150"/>
          </a:xfrm>
          <a:prstGeom prst="roundRect">
            <a:avLst>
              <a:gd name="adj" fmla="val 13333"/>
            </a:avLst>
          </a:prstGeom>
          <a:solidFill>
            <a:srgbClr val="8B72BE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4402931" y="3182987"/>
            <a:ext cx="337989" cy="57150"/>
          </a:xfrm>
          <a:prstGeom prst="roundRect">
            <a:avLst>
              <a:gd name="adj" fmla="val 13333"/>
            </a:avLst>
          </a:prstGeom>
          <a:solidFill>
            <a:srgbClr val="F37324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4754761" y="3182987"/>
            <a:ext cx="337989" cy="57150"/>
          </a:xfrm>
          <a:prstGeom prst="roundRect">
            <a:avLst>
              <a:gd name="adj" fmla="val 13333"/>
            </a:avLst>
          </a:prstGeom>
          <a:solidFill>
            <a:srgbClr val="4ECDC4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3"/>
          <p:cNvSpPr/>
          <p:nvPr/>
        </p:nvSpPr>
        <p:spPr>
          <a:xfrm>
            <a:off x="5106591" y="3182987"/>
            <a:ext cx="337989" cy="57150"/>
          </a:xfrm>
          <a:prstGeom prst="roundRect">
            <a:avLst>
              <a:gd name="adj" fmla="val 13333"/>
            </a:avLst>
          </a:prstGeom>
          <a:solidFill>
            <a:srgbClr val="8B72BE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5458420" y="3182987"/>
            <a:ext cx="337989" cy="57150"/>
          </a:xfrm>
          <a:prstGeom prst="roundRect">
            <a:avLst>
              <a:gd name="adj" fmla="val 13333"/>
            </a:avLst>
          </a:prstGeom>
          <a:solidFill>
            <a:srgbClr val="F3732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5"/>
          <p:cNvSpPr/>
          <p:nvPr/>
        </p:nvSpPr>
        <p:spPr>
          <a:xfrm>
            <a:off x="3280916" y="3363664"/>
            <a:ext cx="2582168" cy="155377"/>
          </a:xfrm>
          <a:prstGeom prst="rect">
            <a:avLst/>
          </a:prstGeom>
          <a:solidFill>
            <a:srgbClr val="F37324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3280916" y="3363664"/>
            <a:ext cx="19050" cy="155377"/>
          </a:xfrm>
          <a:prstGeom prst="rect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15081" y="3375059"/>
            <a:ext cx="132588" cy="132588"/>
          </a:xfrm>
          <a:prstGeom prst="rect">
            <a:avLst/>
          </a:prstGeom>
        </p:spPr>
      </p:pic>
      <p:sp>
        <p:nvSpPr>
          <p:cNvPr id="82" name="Text 77"/>
          <p:cNvSpPr/>
          <p:nvPr/>
        </p:nvSpPr>
        <p:spPr>
          <a:xfrm>
            <a:off x="3441055" y="3392835"/>
            <a:ext cx="119738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produce: &gt;70% reorder rate</a:t>
            </a:r>
            <a:endParaRPr lang="en-US" sz="510" dirty="0"/>
          </a:p>
        </p:txBody>
      </p:sp>
      <p:sp>
        <p:nvSpPr>
          <p:cNvPr id="83" name="Text 78"/>
          <p:cNvSpPr/>
          <p:nvPr/>
        </p:nvSpPr>
        <p:spPr>
          <a:xfrm>
            <a:off x="6138416" y="1859012"/>
            <a:ext cx="2582168" cy="656630"/>
          </a:xfrm>
          <a:prstGeom prst="roundRect">
            <a:avLst>
              <a:gd name="adj" fmla="val 5416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79"/>
          <p:cNvSpPr/>
          <p:nvPr/>
        </p:nvSpPr>
        <p:spPr>
          <a:xfrm>
            <a:off x="6205091" y="1911697"/>
            <a:ext cx="2693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REORDER VOLUME</a:t>
            </a:r>
            <a:endParaRPr lang="en-US" sz="450" dirty="0"/>
          </a:p>
        </p:txBody>
      </p:sp>
      <p:sp>
        <p:nvSpPr>
          <p:cNvPr id="85" name="Text 80"/>
          <p:cNvSpPr/>
          <p:nvPr/>
        </p:nvSpPr>
        <p:spPr>
          <a:xfrm>
            <a:off x="6205091" y="2128540"/>
            <a:ext cx="244881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1"/>
          <p:cNvSpPr/>
          <p:nvPr/>
        </p:nvSpPr>
        <p:spPr>
          <a:xfrm>
            <a:off x="6205091" y="2040434"/>
            <a:ext cx="78090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90" dirty="0"/>
          </a:p>
        </p:txBody>
      </p:sp>
      <p:sp>
        <p:nvSpPr>
          <p:cNvPr id="87" name="Text 82"/>
          <p:cNvSpPr/>
          <p:nvPr/>
        </p:nvSpPr>
        <p:spPr>
          <a:xfrm>
            <a:off x="6305252" y="2040434"/>
            <a:ext cx="98914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390" dirty="0"/>
          </a:p>
        </p:txBody>
      </p:sp>
      <p:sp>
        <p:nvSpPr>
          <p:cNvPr id="88" name="Text 83"/>
          <p:cNvSpPr/>
          <p:nvPr/>
        </p:nvSpPr>
        <p:spPr>
          <a:xfrm>
            <a:off x="7233642" y="2059781"/>
            <a:ext cx="1420267" cy="35421"/>
          </a:xfrm>
          <a:prstGeom prst="roundRect">
            <a:avLst>
              <a:gd name="adj" fmla="val 39440"/>
            </a:avLst>
          </a:prstGeom>
          <a:gradFill rotWithShape="1">
            <a:gsLst>
              <a:gs pos="0">
                <a:srgbClr val="F37324">
                  <a:alpha val="70000"/>
                </a:srgbClr>
              </a:gs>
              <a:gs pos="100000">
                <a:srgbClr val="F4A24A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4"/>
          <p:cNvSpPr/>
          <p:nvPr/>
        </p:nvSpPr>
        <p:spPr>
          <a:xfrm>
            <a:off x="6205091" y="2240012"/>
            <a:ext cx="244881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5"/>
          <p:cNvSpPr/>
          <p:nvPr/>
        </p:nvSpPr>
        <p:spPr>
          <a:xfrm>
            <a:off x="6205091" y="2151906"/>
            <a:ext cx="78090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390" dirty="0"/>
          </a:p>
        </p:txBody>
      </p:sp>
      <p:sp>
        <p:nvSpPr>
          <p:cNvPr id="91" name="Text 86"/>
          <p:cNvSpPr/>
          <p:nvPr/>
        </p:nvSpPr>
        <p:spPr>
          <a:xfrm>
            <a:off x="6305252" y="2151906"/>
            <a:ext cx="1231597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Strawberries</a:t>
            </a:r>
            <a:endParaRPr lang="en-US" sz="390" dirty="0"/>
          </a:p>
        </p:txBody>
      </p:sp>
      <p:sp>
        <p:nvSpPr>
          <p:cNvPr id="92" name="Text 87"/>
          <p:cNvSpPr/>
          <p:nvPr/>
        </p:nvSpPr>
        <p:spPr>
          <a:xfrm>
            <a:off x="7454057" y="2171254"/>
            <a:ext cx="1199852" cy="35421"/>
          </a:xfrm>
          <a:prstGeom prst="roundRect">
            <a:avLst>
              <a:gd name="adj" fmla="val 39440"/>
            </a:avLst>
          </a:prstGeom>
          <a:gradFill rotWithShape="1">
            <a:gsLst>
              <a:gs pos="0">
                <a:srgbClr val="F37324">
                  <a:alpha val="70000"/>
                </a:srgbClr>
              </a:gs>
              <a:gs pos="100000">
                <a:srgbClr val="F4A24A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88"/>
          <p:cNvSpPr/>
          <p:nvPr/>
        </p:nvSpPr>
        <p:spPr>
          <a:xfrm>
            <a:off x="6205091" y="2351484"/>
            <a:ext cx="2448818" cy="952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89"/>
          <p:cNvSpPr/>
          <p:nvPr/>
        </p:nvSpPr>
        <p:spPr>
          <a:xfrm>
            <a:off x="6205091" y="2263378"/>
            <a:ext cx="78090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390" dirty="0"/>
          </a:p>
        </p:txBody>
      </p:sp>
      <p:sp>
        <p:nvSpPr>
          <p:cNvPr id="95" name="Text 90"/>
          <p:cNvSpPr/>
          <p:nvPr/>
        </p:nvSpPr>
        <p:spPr>
          <a:xfrm>
            <a:off x="6305252" y="2263378"/>
            <a:ext cx="1366331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Baby Spinach</a:t>
            </a:r>
            <a:endParaRPr lang="en-US" sz="390" dirty="0"/>
          </a:p>
        </p:txBody>
      </p:sp>
      <p:sp>
        <p:nvSpPr>
          <p:cNvPr id="96" name="Text 91"/>
          <p:cNvSpPr/>
          <p:nvPr/>
        </p:nvSpPr>
        <p:spPr>
          <a:xfrm>
            <a:off x="7576542" y="2282726"/>
            <a:ext cx="1077367" cy="35421"/>
          </a:xfrm>
          <a:prstGeom prst="roundRect">
            <a:avLst>
              <a:gd name="adj" fmla="val 39440"/>
            </a:avLst>
          </a:prstGeom>
          <a:gradFill rotWithShape="1">
            <a:gsLst>
              <a:gs pos="0">
                <a:srgbClr val="F37324">
                  <a:alpha val="70000"/>
                </a:srgbClr>
              </a:gs>
              <a:gs pos="100000">
                <a:srgbClr val="F4A24A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2"/>
          <p:cNvSpPr/>
          <p:nvPr/>
        </p:nvSpPr>
        <p:spPr>
          <a:xfrm>
            <a:off x="6205091" y="2374850"/>
            <a:ext cx="78090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390" dirty="0"/>
          </a:p>
        </p:txBody>
      </p:sp>
      <p:sp>
        <p:nvSpPr>
          <p:cNvPr id="98" name="Text 93"/>
          <p:cNvSpPr/>
          <p:nvPr/>
        </p:nvSpPr>
        <p:spPr>
          <a:xfrm>
            <a:off x="6305252" y="2374850"/>
            <a:ext cx="147405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5"/>
              </a:lnSpc>
              <a:buNone/>
            </a:pPr>
            <a:r>
              <a:rPr lang="en-US" sz="3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Organic Bananas</a:t>
            </a:r>
            <a:endParaRPr lang="en-US" sz="390" dirty="0"/>
          </a:p>
        </p:txBody>
      </p:sp>
      <p:sp>
        <p:nvSpPr>
          <p:cNvPr id="99" name="Text 94"/>
          <p:cNvSpPr/>
          <p:nvPr/>
        </p:nvSpPr>
        <p:spPr>
          <a:xfrm>
            <a:off x="7674471" y="2394198"/>
            <a:ext cx="979438" cy="35421"/>
          </a:xfrm>
          <a:prstGeom prst="roundRect">
            <a:avLst>
              <a:gd name="adj" fmla="val 39440"/>
            </a:avLst>
          </a:prstGeom>
          <a:gradFill rotWithShape="1">
            <a:gsLst>
              <a:gs pos="0">
                <a:srgbClr val="F37324">
                  <a:alpha val="70000"/>
                </a:srgbClr>
              </a:gs>
              <a:gs pos="100000">
                <a:srgbClr val="F4A24A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5"/>
          <p:cNvSpPr/>
          <p:nvPr/>
        </p:nvSpPr>
        <p:spPr>
          <a:xfrm>
            <a:off x="6138416" y="2551063"/>
            <a:ext cx="2582168" cy="493216"/>
          </a:xfrm>
          <a:prstGeom prst="roundRect">
            <a:avLst>
              <a:gd name="adj" fmla="val 721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6"/>
          <p:cNvSpPr/>
          <p:nvPr/>
        </p:nvSpPr>
        <p:spPr>
          <a:xfrm>
            <a:off x="6205091" y="2603748"/>
            <a:ext cx="26937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 SCATTERPLOT (DAYS VS. RATE)</a:t>
            </a:r>
            <a:endParaRPr lang="en-US" sz="450" dirty="0"/>
          </a:p>
        </p:txBody>
      </p:sp>
      <p:sp>
        <p:nvSpPr>
          <p:cNvPr id="102" name="Text 97"/>
          <p:cNvSpPr/>
          <p:nvPr/>
        </p:nvSpPr>
        <p:spPr>
          <a:xfrm>
            <a:off x="6327428" y="2738586"/>
            <a:ext cx="35421" cy="35421"/>
          </a:xfrm>
          <a:prstGeom prst="ellipse">
            <a:avLst/>
          </a:prstGeom>
          <a:solidFill>
            <a:srgbClr val="4ECDC4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98"/>
          <p:cNvSpPr/>
          <p:nvPr/>
        </p:nvSpPr>
        <p:spPr>
          <a:xfrm>
            <a:off x="6498878" y="2754660"/>
            <a:ext cx="35421" cy="35421"/>
          </a:xfrm>
          <a:prstGeom prst="ellipse">
            <a:avLst/>
          </a:prstGeom>
          <a:solidFill>
            <a:srgbClr val="4ECDC4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99"/>
          <p:cNvSpPr/>
          <p:nvPr/>
        </p:nvSpPr>
        <p:spPr>
          <a:xfrm>
            <a:off x="6694736" y="2748707"/>
            <a:ext cx="35421" cy="35421"/>
          </a:xfrm>
          <a:prstGeom prst="ellipse">
            <a:avLst/>
          </a:prstGeom>
          <a:solidFill>
            <a:srgbClr val="F37324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0"/>
          <p:cNvSpPr/>
          <p:nvPr/>
        </p:nvSpPr>
        <p:spPr>
          <a:xfrm>
            <a:off x="6890742" y="2778770"/>
            <a:ext cx="35421" cy="35421"/>
          </a:xfrm>
          <a:prstGeom prst="ellipse">
            <a:avLst/>
          </a:prstGeom>
          <a:solidFill>
            <a:srgbClr val="F37324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1"/>
          <p:cNvSpPr/>
          <p:nvPr/>
        </p:nvSpPr>
        <p:spPr>
          <a:xfrm>
            <a:off x="7062043" y="2798862"/>
            <a:ext cx="35421" cy="35421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2"/>
          <p:cNvSpPr/>
          <p:nvPr/>
        </p:nvSpPr>
        <p:spPr>
          <a:xfrm>
            <a:off x="7307014" y="2814935"/>
            <a:ext cx="35421" cy="35421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3"/>
          <p:cNvSpPr/>
          <p:nvPr/>
        </p:nvSpPr>
        <p:spPr>
          <a:xfrm>
            <a:off x="7551837" y="2838896"/>
            <a:ext cx="35421" cy="35421"/>
          </a:xfrm>
          <a:prstGeom prst="ellipse">
            <a:avLst/>
          </a:prstGeom>
          <a:solidFill>
            <a:srgbClr val="F3732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104"/>
          <p:cNvSpPr/>
          <p:nvPr/>
        </p:nvSpPr>
        <p:spPr>
          <a:xfrm>
            <a:off x="7796808" y="2849017"/>
            <a:ext cx="35421" cy="35421"/>
          </a:xfrm>
          <a:prstGeom prst="ellipse">
            <a:avLst/>
          </a:prstGeom>
          <a:solidFill>
            <a:srgbClr val="4ECDC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5"/>
          <p:cNvSpPr/>
          <p:nvPr/>
        </p:nvSpPr>
        <p:spPr>
          <a:xfrm>
            <a:off x="8041630" y="2863007"/>
            <a:ext cx="35421" cy="35421"/>
          </a:xfrm>
          <a:prstGeom prst="ellipse">
            <a:avLst/>
          </a:prstGeom>
          <a:solidFill>
            <a:srgbClr val="A78BFA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6"/>
          <p:cNvSpPr/>
          <p:nvPr/>
        </p:nvSpPr>
        <p:spPr>
          <a:xfrm>
            <a:off x="8286452" y="2875062"/>
            <a:ext cx="35421" cy="35421"/>
          </a:xfrm>
          <a:prstGeom prst="ellipse">
            <a:avLst/>
          </a:prstGeom>
          <a:solidFill>
            <a:srgbClr val="F37324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2" name="Text 107"/>
          <p:cNvSpPr/>
          <p:nvPr/>
        </p:nvSpPr>
        <p:spPr>
          <a:xfrm>
            <a:off x="6205091" y="2926854"/>
            <a:ext cx="139482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days</a:t>
            </a:r>
            <a:endParaRPr lang="en-US" sz="340" dirty="0"/>
          </a:p>
        </p:txBody>
      </p:sp>
      <p:sp>
        <p:nvSpPr>
          <p:cNvPr id="113" name="Text 108"/>
          <p:cNvSpPr/>
          <p:nvPr/>
        </p:nvSpPr>
        <p:spPr>
          <a:xfrm>
            <a:off x="7152829" y="2926854"/>
            <a:ext cx="554980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days_since_prior_order</a:t>
            </a:r>
            <a:endParaRPr lang="en-US" sz="340" dirty="0"/>
          </a:p>
        </p:txBody>
      </p:sp>
      <p:sp>
        <p:nvSpPr>
          <p:cNvPr id="114" name="Text 109"/>
          <p:cNvSpPr/>
          <p:nvPr/>
        </p:nvSpPr>
        <p:spPr>
          <a:xfrm>
            <a:off x="8478143" y="2926854"/>
            <a:ext cx="193343" cy="64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3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340" dirty="0"/>
          </a:p>
        </p:txBody>
      </p:sp>
      <p:sp>
        <p:nvSpPr>
          <p:cNvPr id="115" name="Text 110"/>
          <p:cNvSpPr/>
          <p:nvPr/>
        </p:nvSpPr>
        <p:spPr>
          <a:xfrm>
            <a:off x="6138416" y="3079700"/>
            <a:ext cx="2582168" cy="389058"/>
          </a:xfrm>
          <a:prstGeom prst="roundRect">
            <a:avLst>
              <a:gd name="adj" fmla="val 9140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none" lIns="57150" tIns="43180" rIns="57150" bIns="43180" rtlCol="0" anchor="t"/>
          <a:lstStyle/>
          <a:p>
            <a:pPr marL="0" indent="0" algn="l">
              <a:buNone/>
            </a:pPr>
            <a:r>
              <a:rPr lang="en-US" sz="45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DAY OF WEEK (HISTOGRAM)</a:t>
            </a:r>
            <a:endParaRPr lang="en-US" sz="450" dirty="0"/>
          </a:p>
        </p:txBody>
      </p:sp>
      <p:sp>
        <p:nvSpPr>
          <p:cNvPr id="116" name="Text 111"/>
          <p:cNvSpPr/>
          <p:nvPr/>
        </p:nvSpPr>
        <p:spPr>
          <a:xfrm>
            <a:off x="6205091" y="3291483"/>
            <a:ext cx="331291" cy="113258"/>
          </a:xfrm>
          <a:prstGeom prst="roundRect">
            <a:avLst>
              <a:gd name="adj" fmla="val 12335"/>
            </a:avLst>
          </a:prstGeom>
          <a:solidFill>
            <a:srgbClr val="4ECDC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2"/>
          <p:cNvSpPr/>
          <p:nvPr/>
        </p:nvSpPr>
        <p:spPr>
          <a:xfrm>
            <a:off x="6557963" y="3278832"/>
            <a:ext cx="331440" cy="125909"/>
          </a:xfrm>
          <a:prstGeom prst="roundRect">
            <a:avLst>
              <a:gd name="adj" fmla="val 11095"/>
            </a:avLst>
          </a:prstGeom>
          <a:solidFill>
            <a:srgbClr val="4ECDC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8" name="Text 113"/>
          <p:cNvSpPr/>
          <p:nvPr/>
        </p:nvSpPr>
        <p:spPr>
          <a:xfrm>
            <a:off x="6910983" y="3310384"/>
            <a:ext cx="331291" cy="94357"/>
          </a:xfrm>
          <a:prstGeom prst="roundRect">
            <a:avLst>
              <a:gd name="adj" fmla="val 14806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14"/>
          <p:cNvSpPr/>
          <p:nvPr/>
        </p:nvSpPr>
        <p:spPr>
          <a:xfrm>
            <a:off x="7263854" y="3318272"/>
            <a:ext cx="331440" cy="86469"/>
          </a:xfrm>
          <a:prstGeom prst="roundRect">
            <a:avLst>
              <a:gd name="adj" fmla="val 16156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0" name="Text 115"/>
          <p:cNvSpPr/>
          <p:nvPr/>
        </p:nvSpPr>
        <p:spPr>
          <a:xfrm>
            <a:off x="7616875" y="3313509"/>
            <a:ext cx="331291" cy="91232"/>
          </a:xfrm>
          <a:prstGeom prst="roundRect">
            <a:avLst>
              <a:gd name="adj" fmla="val 15313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16"/>
          <p:cNvSpPr/>
          <p:nvPr/>
        </p:nvSpPr>
        <p:spPr>
          <a:xfrm>
            <a:off x="7969746" y="3307259"/>
            <a:ext cx="331291" cy="97482"/>
          </a:xfrm>
          <a:prstGeom prst="roundRect">
            <a:avLst>
              <a:gd name="adj" fmla="val 14331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2" name="Text 117"/>
          <p:cNvSpPr/>
          <p:nvPr/>
        </p:nvSpPr>
        <p:spPr>
          <a:xfrm>
            <a:off x="8322618" y="3297734"/>
            <a:ext cx="331291" cy="107007"/>
          </a:xfrm>
          <a:prstGeom prst="roundRect">
            <a:avLst>
              <a:gd name="adj" fmla="val 13055"/>
            </a:avLst>
          </a:prstGeom>
          <a:solidFill>
            <a:srgbClr val="F37324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18"/>
          <p:cNvSpPr/>
          <p:nvPr/>
        </p:nvSpPr>
        <p:spPr>
          <a:xfrm>
            <a:off x="6138416" y="3528268"/>
            <a:ext cx="2582168" cy="155377"/>
          </a:xfrm>
          <a:prstGeom prst="rect">
            <a:avLst/>
          </a:prstGeom>
          <a:solidFill>
            <a:srgbClr val="F37324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 119"/>
          <p:cNvSpPr/>
          <p:nvPr/>
        </p:nvSpPr>
        <p:spPr>
          <a:xfrm>
            <a:off x="6138416" y="3528268"/>
            <a:ext cx="19050" cy="155377"/>
          </a:xfrm>
          <a:prstGeom prst="rect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581" y="3539663"/>
            <a:ext cx="132588" cy="132588"/>
          </a:xfrm>
          <a:prstGeom prst="rect">
            <a:avLst/>
          </a:prstGeom>
        </p:spPr>
      </p:pic>
      <p:sp>
        <p:nvSpPr>
          <p:cNvPr id="126" name="Text 120"/>
          <p:cNvSpPr/>
          <p:nvPr/>
        </p:nvSpPr>
        <p:spPr>
          <a:xfrm>
            <a:off x="6298555" y="3557439"/>
            <a:ext cx="144884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reorder within 7–14 days on average</a:t>
            </a:r>
            <a:endParaRPr lang="en-US" sz="510" dirty="0"/>
          </a:p>
        </p:txBody>
      </p:sp>
      <p:pic>
        <p:nvPicPr>
          <p:cNvPr id="1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1063" y="0"/>
            <a:ext cx="642938" cy="642938"/>
          </a:xfrm>
          <a:prstGeom prst="rect">
            <a:avLst/>
          </a:prstGeom>
        </p:spPr>
      </p:pic>
      <p:pic>
        <p:nvPicPr>
          <p:cNvPr id="1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821585"/>
            <a:ext cx="536228" cy="321915"/>
          </a:xfrm>
          <a:prstGeom prst="rect">
            <a:avLst/>
          </a:prstGeom>
        </p:spPr>
      </p:pic>
      <p:sp>
        <p:nvSpPr>
          <p:cNvPr id="129" name="Text 121"/>
          <p:cNvSpPr/>
          <p:nvPr/>
        </p:nvSpPr>
        <p:spPr>
          <a:xfrm>
            <a:off x="342900" y="143470"/>
            <a:ext cx="3101955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1"/>
              </a:lnSpc>
              <a:buNone/>
            </a:pPr>
            <a:r>
              <a:rPr lang="en-US" sz="1910" kern="0" spc="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Tableau </a:t>
            </a:r>
            <a:r>
              <a:rPr lang="en-US" sz="1910" b="1" kern="0" spc="19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Suite</a:t>
            </a:r>
            <a:endParaRPr lang="en-US" sz="1910" dirty="0"/>
          </a:p>
        </p:txBody>
      </p:sp>
      <p:sp>
        <p:nvSpPr>
          <p:cNvPr id="130" name="Text 122"/>
          <p:cNvSpPr/>
          <p:nvPr/>
        </p:nvSpPr>
        <p:spPr>
          <a:xfrm>
            <a:off x="342900" y="431899"/>
            <a:ext cx="318892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170"/>
              </a:spcBef>
              <a:buNone/>
            </a:pPr>
            <a:r>
              <a:rPr lang="en-US" sz="790" kern="0" spc="16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analytical dashboards built for interactive exploration</a:t>
            </a:r>
            <a:endParaRPr lang="en-US" sz="790" dirty="0"/>
          </a:p>
        </p:txBody>
      </p:sp>
      <p:sp>
        <p:nvSpPr>
          <p:cNvPr id="131" name="Text 123"/>
          <p:cNvSpPr/>
          <p:nvPr/>
        </p:nvSpPr>
        <p:spPr>
          <a:xfrm>
            <a:off x="6185892" y="186630"/>
            <a:ext cx="1372344" cy="214952"/>
          </a:xfrm>
          <a:prstGeom prst="roundRect">
            <a:avLst>
              <a:gd name="adj" fmla="val 66764"/>
            </a:avLst>
          </a:prstGeom>
          <a:solidFill>
            <a:srgbClr val="F37324">
              <a:alpha val="12000"/>
            </a:srgbClr>
          </a:solidFill>
          <a:ln w="9525">
            <a:solidFill>
              <a:srgbClr val="F37324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DASHBOARDS</a:t>
            </a:r>
            <a:endParaRPr lang="en-US" sz="620" dirty="0"/>
          </a:p>
        </p:txBody>
      </p:sp>
      <p:pic>
        <p:nvPicPr>
          <p:cNvPr id="1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0195" y="218042"/>
            <a:ext cx="132588" cy="132588"/>
          </a:xfrm>
          <a:prstGeom prst="rect">
            <a:avLst/>
          </a:prstGeom>
        </p:spPr>
      </p:pic>
      <p:sp>
        <p:nvSpPr>
          <p:cNvPr id="133" name="Text 124"/>
          <p:cNvSpPr/>
          <p:nvPr/>
        </p:nvSpPr>
        <p:spPr>
          <a:xfrm>
            <a:off x="7629227" y="186630"/>
            <a:ext cx="1171873" cy="214952"/>
          </a:xfrm>
          <a:prstGeom prst="roundRect">
            <a:avLst>
              <a:gd name="adj" fmla="val 66764"/>
            </a:avLst>
          </a:prstGeom>
          <a:solidFill>
            <a:srgbClr val="94AFC8">
              <a:alpha val="6000"/>
            </a:srgbClr>
          </a:solidFill>
          <a:ln w="9525">
            <a:solidFill>
              <a:srgbClr val="94AFC8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MODEL</a:t>
            </a:r>
            <a:endParaRPr lang="en-US" sz="620" dirty="0"/>
          </a:p>
        </p:txBody>
      </p:sp>
      <p:sp>
        <p:nvSpPr>
          <p:cNvPr id="134" name="Text 125"/>
          <p:cNvSpPr/>
          <p:nvPr/>
        </p:nvSpPr>
        <p:spPr>
          <a:xfrm>
            <a:off x="342900" y="682675"/>
            <a:ext cx="2743200" cy="4104084"/>
          </a:xfrm>
          <a:prstGeom prst="roundRect">
            <a:avLst>
              <a:gd name="adj" fmla="val 2593"/>
            </a:avLst>
          </a:prstGeom>
          <a:solidFill>
            <a:srgbClr val="0A1A2A"/>
          </a:solidFill>
          <a:ln w="9525">
            <a:solidFill>
              <a:srgbClr val="F37324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5" name="Text 126"/>
          <p:cNvSpPr/>
          <p:nvPr/>
        </p:nvSpPr>
        <p:spPr>
          <a:xfrm>
            <a:off x="352425" y="692200"/>
            <a:ext cx="2724150" cy="233065"/>
          </a:xfrm>
          <a:prstGeom prst="rect">
            <a:avLst/>
          </a:prstGeom>
          <a:gradFill rotWithShape="1">
            <a:gsLst>
              <a:gs pos="0">
                <a:srgbClr val="F37324">
                  <a:alpha val="22000"/>
                </a:srgbClr>
              </a:gs>
              <a:gs pos="100000">
                <a:srgbClr val="F37324">
                  <a:alpha val="6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6" name="Text 127"/>
          <p:cNvSpPr/>
          <p:nvPr/>
        </p:nvSpPr>
        <p:spPr>
          <a:xfrm>
            <a:off x="352425" y="915739"/>
            <a:ext cx="2724150" cy="9525"/>
          </a:xfrm>
          <a:prstGeom prst="rect">
            <a:avLst/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7" name="Text 128"/>
          <p:cNvSpPr/>
          <p:nvPr/>
        </p:nvSpPr>
        <p:spPr>
          <a:xfrm>
            <a:off x="438745" y="744885"/>
            <a:ext cx="120622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620" dirty="0"/>
          </a:p>
        </p:txBody>
      </p:sp>
      <p:sp>
        <p:nvSpPr>
          <p:cNvPr id="138" name="Text 129"/>
          <p:cNvSpPr/>
          <p:nvPr/>
        </p:nvSpPr>
        <p:spPr>
          <a:xfrm>
            <a:off x="2333327" y="741611"/>
            <a:ext cx="656927" cy="137190"/>
          </a:xfrm>
          <a:prstGeom prst="roundRect">
            <a:avLst>
              <a:gd name="adj" fmla="val 41658"/>
            </a:avLst>
          </a:prstGeom>
          <a:solidFill>
            <a:srgbClr val="F37324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</a:t>
            </a:r>
            <a:endParaRPr lang="en-US" sz="510" dirty="0"/>
          </a:p>
        </p:txBody>
      </p:sp>
      <p:sp>
        <p:nvSpPr>
          <p:cNvPr id="139" name="Text 130"/>
          <p:cNvSpPr/>
          <p:nvPr/>
        </p:nvSpPr>
        <p:spPr>
          <a:xfrm>
            <a:off x="352425" y="4538216"/>
            <a:ext cx="2724150" cy="246189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lIns="71120" tIns="35560" rIns="71120" bIns="35560" rtlCol="0" anchor="t"/>
          <a:lstStyle/>
          <a:p>
            <a:pPr marL="0" indent="0" algn="l">
              <a:buNone/>
            </a:pPr>
            <a:r>
              <a:rPr lang="en-US" sz="4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6.</a:t>
            </a:r>
            <a:r>
              <a:rPr lang="en-US" sz="4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Overview Dashboard — high-level ordering behavior KPIs (Zimmerman-Gibson, 2026).</a:t>
            </a:r>
            <a:endParaRPr lang="en-US" sz="480" dirty="0"/>
          </a:p>
        </p:txBody>
      </p:sp>
      <p:sp>
        <p:nvSpPr>
          <p:cNvPr id="140" name="Text 131"/>
          <p:cNvSpPr/>
          <p:nvPr/>
        </p:nvSpPr>
        <p:spPr>
          <a:xfrm>
            <a:off x="352425" y="4538216"/>
            <a:ext cx="2724150" cy="9525"/>
          </a:xfrm>
          <a:prstGeom prst="rect">
            <a:avLst/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1" name="Text 132"/>
          <p:cNvSpPr/>
          <p:nvPr/>
        </p:nvSpPr>
        <p:spPr>
          <a:xfrm>
            <a:off x="3200400" y="682675"/>
            <a:ext cx="2743200" cy="4104084"/>
          </a:xfrm>
          <a:prstGeom prst="roundRect">
            <a:avLst>
              <a:gd name="adj" fmla="val 2593"/>
            </a:avLst>
          </a:prstGeom>
          <a:solidFill>
            <a:srgbClr val="0A1A2A"/>
          </a:solidFill>
          <a:ln w="9525">
            <a:solidFill>
              <a:srgbClr val="F37324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2" name="Text 133"/>
          <p:cNvSpPr/>
          <p:nvPr/>
        </p:nvSpPr>
        <p:spPr>
          <a:xfrm>
            <a:off x="3209925" y="692200"/>
            <a:ext cx="2724150" cy="233065"/>
          </a:xfrm>
          <a:prstGeom prst="rect">
            <a:avLst/>
          </a:prstGeom>
          <a:gradFill rotWithShape="1">
            <a:gsLst>
              <a:gs pos="0">
                <a:srgbClr val="F37324">
                  <a:alpha val="22000"/>
                </a:srgbClr>
              </a:gs>
              <a:gs pos="100000">
                <a:srgbClr val="F37324">
                  <a:alpha val="6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34"/>
          <p:cNvSpPr/>
          <p:nvPr/>
        </p:nvSpPr>
        <p:spPr>
          <a:xfrm>
            <a:off x="3209925" y="915739"/>
            <a:ext cx="2724150" cy="9525"/>
          </a:xfrm>
          <a:prstGeom prst="rect">
            <a:avLst/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4" name="Text 135"/>
          <p:cNvSpPr/>
          <p:nvPr/>
        </p:nvSpPr>
        <p:spPr>
          <a:xfrm>
            <a:off x="3296245" y="744885"/>
            <a:ext cx="169326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ANALYSIS DASHBOARD</a:t>
            </a:r>
            <a:endParaRPr lang="en-US" sz="620" dirty="0"/>
          </a:p>
        </p:txBody>
      </p:sp>
      <p:sp>
        <p:nvSpPr>
          <p:cNvPr id="145" name="Text 136"/>
          <p:cNvSpPr/>
          <p:nvPr/>
        </p:nvSpPr>
        <p:spPr>
          <a:xfrm>
            <a:off x="5190827" y="741611"/>
            <a:ext cx="656927" cy="137190"/>
          </a:xfrm>
          <a:prstGeom prst="roundRect">
            <a:avLst>
              <a:gd name="adj" fmla="val 41658"/>
            </a:avLst>
          </a:prstGeom>
          <a:solidFill>
            <a:srgbClr val="F37324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</a:t>
            </a:r>
            <a:endParaRPr lang="en-US" sz="510" dirty="0"/>
          </a:p>
        </p:txBody>
      </p:sp>
      <p:sp>
        <p:nvSpPr>
          <p:cNvPr id="146" name="Text 137"/>
          <p:cNvSpPr/>
          <p:nvPr/>
        </p:nvSpPr>
        <p:spPr>
          <a:xfrm>
            <a:off x="3209925" y="4617541"/>
            <a:ext cx="2778633" cy="15969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lIns="71120" tIns="35560" rIns="71120" bIns="35560" rtlCol="0" anchor="t"/>
          <a:lstStyle/>
          <a:p>
            <a:pPr marL="0" indent="0" algn="l">
              <a:buNone/>
            </a:pPr>
            <a:r>
              <a:rPr lang="en-US" sz="4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7.</a:t>
            </a:r>
            <a:r>
              <a:rPr lang="en-US" sz="4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Reorder Analysis Dashboard — category-level patterns (Zimmerman-Gibson, 2026).</a:t>
            </a:r>
            <a:endParaRPr lang="en-US" sz="480" dirty="0"/>
          </a:p>
        </p:txBody>
      </p:sp>
      <p:sp>
        <p:nvSpPr>
          <p:cNvPr id="147" name="Text 138"/>
          <p:cNvSpPr/>
          <p:nvPr/>
        </p:nvSpPr>
        <p:spPr>
          <a:xfrm>
            <a:off x="3209925" y="4617541"/>
            <a:ext cx="2724150" cy="9525"/>
          </a:xfrm>
          <a:prstGeom prst="rect">
            <a:avLst/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8" name="Text 139"/>
          <p:cNvSpPr/>
          <p:nvPr/>
        </p:nvSpPr>
        <p:spPr>
          <a:xfrm>
            <a:off x="6057900" y="682675"/>
            <a:ext cx="2743200" cy="4104084"/>
          </a:xfrm>
          <a:prstGeom prst="roundRect">
            <a:avLst>
              <a:gd name="adj" fmla="val 2593"/>
            </a:avLst>
          </a:prstGeom>
          <a:solidFill>
            <a:srgbClr val="0A1A2A"/>
          </a:solidFill>
          <a:ln w="9525">
            <a:solidFill>
              <a:srgbClr val="F37324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140"/>
          <p:cNvSpPr/>
          <p:nvPr/>
        </p:nvSpPr>
        <p:spPr>
          <a:xfrm>
            <a:off x="6067425" y="692200"/>
            <a:ext cx="2724150" cy="233065"/>
          </a:xfrm>
          <a:prstGeom prst="rect">
            <a:avLst/>
          </a:prstGeom>
          <a:gradFill rotWithShape="1">
            <a:gsLst>
              <a:gs pos="0">
                <a:srgbClr val="F37324">
                  <a:alpha val="22000"/>
                </a:srgbClr>
              </a:gs>
              <a:gs pos="100000">
                <a:srgbClr val="F37324">
                  <a:alpha val="6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0" name="Text 141"/>
          <p:cNvSpPr/>
          <p:nvPr/>
        </p:nvSpPr>
        <p:spPr>
          <a:xfrm>
            <a:off x="6067425" y="915739"/>
            <a:ext cx="2724150" cy="9525"/>
          </a:xfrm>
          <a:prstGeom prst="rect">
            <a:avLst/>
          </a:prstGeom>
          <a:solidFill>
            <a:srgbClr val="F37324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1" name="Text 142"/>
          <p:cNvSpPr/>
          <p:nvPr/>
        </p:nvSpPr>
        <p:spPr>
          <a:xfrm>
            <a:off x="6153745" y="744885"/>
            <a:ext cx="19612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 &amp; USER BEHAVIOR</a:t>
            </a:r>
            <a:endParaRPr lang="en-US" sz="620" dirty="0"/>
          </a:p>
        </p:txBody>
      </p:sp>
      <p:sp>
        <p:nvSpPr>
          <p:cNvPr id="152" name="Text 143"/>
          <p:cNvSpPr/>
          <p:nvPr/>
        </p:nvSpPr>
        <p:spPr>
          <a:xfrm>
            <a:off x="8048327" y="741611"/>
            <a:ext cx="656927" cy="137190"/>
          </a:xfrm>
          <a:prstGeom prst="roundRect">
            <a:avLst>
              <a:gd name="adj" fmla="val 41658"/>
            </a:avLst>
          </a:prstGeom>
          <a:solidFill>
            <a:srgbClr val="F37324">
              <a:alpha val="18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</a:t>
            </a:r>
            <a:endParaRPr lang="en-US" sz="510" dirty="0"/>
          </a:p>
        </p:txBody>
      </p:sp>
      <p:sp>
        <p:nvSpPr>
          <p:cNvPr id="153" name="Text 144"/>
          <p:cNvSpPr/>
          <p:nvPr/>
        </p:nvSpPr>
        <p:spPr>
          <a:xfrm>
            <a:off x="6067425" y="4617541"/>
            <a:ext cx="2778633" cy="15969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lIns="71120" tIns="35560" rIns="71120" bIns="35560" rtlCol="0" anchor="t"/>
          <a:lstStyle/>
          <a:p>
            <a:pPr marL="0" indent="0" algn="l">
              <a:buNone/>
            </a:pPr>
            <a:r>
              <a:rPr lang="en-US" sz="48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8.</a:t>
            </a:r>
            <a:r>
              <a:rPr lang="en-US" sz="4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Insights &amp; User Behavior Dashboards (Zimmerman-Gibson, 2026).</a:t>
            </a:r>
            <a:endParaRPr lang="en-US" sz="480" dirty="0"/>
          </a:p>
        </p:txBody>
      </p:sp>
      <p:sp>
        <p:nvSpPr>
          <p:cNvPr id="154" name="Text 145"/>
          <p:cNvSpPr/>
          <p:nvPr/>
        </p:nvSpPr>
        <p:spPr>
          <a:xfrm>
            <a:off x="6067425" y="4617541"/>
            <a:ext cx="2724150" cy="9525"/>
          </a:xfrm>
          <a:prstGeom prst="rect">
            <a:avLst/>
          </a:prstGeom>
          <a:solidFill>
            <a:srgbClr val="F37324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5" name="Text 146"/>
          <p:cNvSpPr/>
          <p:nvPr/>
        </p:nvSpPr>
        <p:spPr>
          <a:xfrm>
            <a:off x="342900" y="4822180"/>
            <a:ext cx="466608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built in Tableau using a star-schema data model (Zimmerman-Gibson, 2026). </a:t>
            </a:r>
            <a:endParaRPr lang="en-US" sz="560" dirty="0"/>
          </a:p>
        </p:txBody>
      </p:sp>
      <p:sp>
        <p:nvSpPr>
          <p:cNvPr id="156" name="Text 147"/>
          <p:cNvSpPr/>
          <p:nvPr/>
        </p:nvSpPr>
        <p:spPr>
          <a:xfrm>
            <a:off x="6342757" y="4822180"/>
            <a:ext cx="270417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Interactive filters applied for Department, Aisle, and Product dimensions.</a:t>
            </a:r>
            <a:endParaRPr lang="en-US" sz="560" dirty="0"/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670CC7B0-A9CC-874E-2B38-90AC8CBBB5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089" y="936685"/>
            <a:ext cx="2712678" cy="3601531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86BEA743-9A4C-C0FA-A011-0F6ED32C11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9926" y="934793"/>
            <a:ext cx="2724150" cy="3682748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0BA14770-8769-D85D-DEC6-8E99B3FC9E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60162" y="932457"/>
            <a:ext cx="2740938" cy="36850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78197"/>
          </a:xfrm>
          <a:prstGeom prst="rect">
            <a:avLst/>
          </a:prstGeom>
          <a:solidFill>
            <a:srgbClr val="0D1F3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28141"/>
            <a:ext cx="1305181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35"/>
              </a:lnSpc>
              <a:buNone/>
            </a:pPr>
            <a:r>
              <a:rPr lang="en-US" sz="1690" kern="0" spc="34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</a:t>
            </a:r>
            <a:r>
              <a:rPr lang="en-US" sz="1690" kern="0" spc="34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Insights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1706166" y="261491"/>
            <a:ext cx="234892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EDA, Modeling &amp; Dashboard Analysis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228600" y="706338"/>
            <a:ext cx="2828627" cy="200203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8600" y="706338"/>
            <a:ext cx="28575" cy="2002036"/>
          </a:xfrm>
          <a:custGeom>
            <a:avLst/>
            <a:gdLst/>
            <a:ahLst/>
            <a:cxnLst/>
            <a:rect l="l" t="t" r="r" b="b"/>
            <a:pathLst>
              <a:path w="28575" h="2002036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987907"/>
                </a:lnTo>
                <a:lnTo>
                  <a:pt x="25003" y="1985057"/>
                </a:lnTo>
                <a:lnTo>
                  <a:pt x="21431" y="1981799"/>
                </a:lnTo>
                <a:lnTo>
                  <a:pt x="17859" y="1978047"/>
                </a:lnTo>
                <a:lnTo>
                  <a:pt x="14288" y="1973672"/>
                </a:lnTo>
                <a:lnTo>
                  <a:pt x="10716" y="1968457"/>
                </a:lnTo>
                <a:lnTo>
                  <a:pt x="7144" y="1961982"/>
                </a:lnTo>
                <a:lnTo>
                  <a:pt x="3572" y="1953171"/>
                </a:lnTo>
                <a:lnTo>
                  <a:pt x="0" y="1930916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1475" y="816173"/>
            <a:ext cx="200620" cy="220682"/>
          </a:xfrm>
          <a:prstGeom prst="ellipse">
            <a:avLst/>
          </a:prstGeom>
          <a:solidFill>
            <a:srgbClr val="F37324"/>
          </a:solidFill>
          <a:ln/>
          <a:effectLst>
            <a:outerShdw blurRad="43180" dist="13970" dir="5400000" algn="bl" rotWithShape="0">
              <a:srgbClr val="F37324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73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028" y="850115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698" y="853976"/>
            <a:ext cx="131885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Peak Shopping Window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371475" y="1066205"/>
            <a:ext cx="2613166" cy="162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Instacart orders occur between </a:t>
            </a:r>
            <a:r>
              <a:rPr lang="en-US" sz="68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and 6 PM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clear weekday vs. weekend variation. Sunday and Monday show elevated order volumes (Zimmerman-Gibson, 2026).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3157538" y="706338"/>
            <a:ext cx="2828776" cy="200203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157538" y="706338"/>
            <a:ext cx="28575" cy="2002036"/>
          </a:xfrm>
          <a:custGeom>
            <a:avLst/>
            <a:gdLst/>
            <a:ahLst/>
            <a:cxnLst/>
            <a:rect l="l" t="t" r="r" b="b"/>
            <a:pathLst>
              <a:path w="28575" h="2002036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987907"/>
                </a:lnTo>
                <a:lnTo>
                  <a:pt x="25003" y="1985057"/>
                </a:lnTo>
                <a:lnTo>
                  <a:pt x="21431" y="1981799"/>
                </a:lnTo>
                <a:lnTo>
                  <a:pt x="17859" y="1978047"/>
                </a:lnTo>
                <a:lnTo>
                  <a:pt x="14288" y="1973672"/>
                </a:lnTo>
                <a:lnTo>
                  <a:pt x="10716" y="1968457"/>
                </a:lnTo>
                <a:lnTo>
                  <a:pt x="7144" y="1961982"/>
                </a:lnTo>
                <a:lnTo>
                  <a:pt x="3572" y="1953171"/>
                </a:lnTo>
                <a:lnTo>
                  <a:pt x="0" y="1930916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300413" y="816173"/>
            <a:ext cx="200620" cy="220682"/>
          </a:xfrm>
          <a:prstGeom prst="ellipse">
            <a:avLst/>
          </a:prstGeom>
          <a:solidFill>
            <a:srgbClr val="F37324"/>
          </a:solidFill>
          <a:ln/>
          <a:effectLst>
            <a:outerShdw blurRad="43180" dist="13970" dir="5400000" algn="bl" rotWithShape="0">
              <a:srgbClr val="F37324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73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5966" y="850115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3635" y="853976"/>
            <a:ext cx="1107013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Reorder Dominance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3300413" y="1066205"/>
            <a:ext cx="2613318" cy="162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items in the training set are reorders, confirming that habitual purchasing is the primary behavior driver. This imbalance must be addressed in model evaluation (Zimmerman-Gibson, 2026).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6086624" y="706338"/>
            <a:ext cx="2828627" cy="2002036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086624" y="706338"/>
            <a:ext cx="28575" cy="2002036"/>
          </a:xfrm>
          <a:custGeom>
            <a:avLst/>
            <a:gdLst/>
            <a:ahLst/>
            <a:cxnLst/>
            <a:rect l="l" t="t" r="r" b="b"/>
            <a:pathLst>
              <a:path w="28575" h="2002036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987907"/>
                </a:lnTo>
                <a:lnTo>
                  <a:pt x="25003" y="1985057"/>
                </a:lnTo>
                <a:lnTo>
                  <a:pt x="21431" y="1981799"/>
                </a:lnTo>
                <a:lnTo>
                  <a:pt x="17859" y="1978047"/>
                </a:lnTo>
                <a:lnTo>
                  <a:pt x="14288" y="1973672"/>
                </a:lnTo>
                <a:lnTo>
                  <a:pt x="10716" y="1968457"/>
                </a:lnTo>
                <a:lnTo>
                  <a:pt x="7144" y="1961982"/>
                </a:lnTo>
                <a:lnTo>
                  <a:pt x="3572" y="1953171"/>
                </a:lnTo>
                <a:lnTo>
                  <a:pt x="0" y="1930916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29499" y="816173"/>
            <a:ext cx="200620" cy="220682"/>
          </a:xfrm>
          <a:prstGeom prst="ellipse">
            <a:avLst/>
          </a:prstGeom>
          <a:solidFill>
            <a:srgbClr val="F37324"/>
          </a:solidFill>
          <a:ln/>
          <a:effectLst>
            <a:outerShdw blurRad="43180" dist="13970" dir="5400000" algn="bl" rotWithShape="0">
              <a:srgbClr val="F37324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73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5052" y="850115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72721" y="853976"/>
            <a:ext cx="105855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Aisle-Level Loyalty</a:t>
            </a:r>
            <a:endParaRPr lang="en-US" sz="820" dirty="0"/>
          </a:p>
        </p:txBody>
      </p:sp>
      <p:sp>
        <p:nvSpPr>
          <p:cNvPr id="23" name="Text 18"/>
          <p:cNvSpPr/>
          <p:nvPr/>
        </p:nvSpPr>
        <p:spPr>
          <a:xfrm>
            <a:off x="6229499" y="1066205"/>
            <a:ext cx="2613166" cy="1623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Dairy, produce, and beverage aisles exhibit reorder rates exceeding </a:t>
            </a:r>
            <a:r>
              <a:rPr lang="en-US" sz="68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Milk, yogurt, and egg aisles are the stickiest product categories (Zimmerman-Gibson, 2026).</a:t>
            </a:r>
            <a:endParaRPr lang="en-US" sz="680" dirty="0"/>
          </a:p>
        </p:txBody>
      </p:sp>
      <p:sp>
        <p:nvSpPr>
          <p:cNvPr id="24" name="Text 19"/>
          <p:cNvSpPr/>
          <p:nvPr/>
        </p:nvSpPr>
        <p:spPr>
          <a:xfrm>
            <a:off x="228600" y="2808684"/>
            <a:ext cx="2828627" cy="2002185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228600" y="2808684"/>
            <a:ext cx="28575" cy="2002185"/>
          </a:xfrm>
          <a:custGeom>
            <a:avLst/>
            <a:gdLst/>
            <a:ahLst/>
            <a:cxnLst/>
            <a:rect l="l" t="t" r="r" b="b"/>
            <a:pathLst>
              <a:path w="28575" h="200218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988056"/>
                </a:lnTo>
                <a:lnTo>
                  <a:pt x="25003" y="1985206"/>
                </a:lnTo>
                <a:lnTo>
                  <a:pt x="21431" y="1981948"/>
                </a:lnTo>
                <a:lnTo>
                  <a:pt x="17859" y="1978196"/>
                </a:lnTo>
                <a:lnTo>
                  <a:pt x="14288" y="1973821"/>
                </a:lnTo>
                <a:lnTo>
                  <a:pt x="10716" y="1968606"/>
                </a:lnTo>
                <a:lnTo>
                  <a:pt x="7144" y="1962131"/>
                </a:lnTo>
                <a:lnTo>
                  <a:pt x="3572" y="1953320"/>
                </a:lnTo>
                <a:lnTo>
                  <a:pt x="0" y="1931065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371475" y="2918520"/>
            <a:ext cx="200620" cy="220682"/>
          </a:xfrm>
          <a:prstGeom prst="ellipse">
            <a:avLst/>
          </a:prstGeom>
          <a:solidFill>
            <a:srgbClr val="F37324"/>
          </a:solidFill>
          <a:ln/>
          <a:effectLst>
            <a:outerShdw blurRad="43180" dist="13970" dir="5400000" algn="bl" rotWithShape="0">
              <a:srgbClr val="F37324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73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7028" y="2952461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698" y="2956322"/>
            <a:ext cx="121309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 Predicts Drop-off</a:t>
            </a:r>
            <a:endParaRPr lang="en-US" sz="820" dirty="0"/>
          </a:p>
        </p:txBody>
      </p:sp>
      <p:sp>
        <p:nvSpPr>
          <p:cNvPr id="29" name="Text 23"/>
          <p:cNvSpPr/>
          <p:nvPr/>
        </p:nvSpPr>
        <p:spPr>
          <a:xfrm>
            <a:off x="371475" y="3168551"/>
            <a:ext cx="2613166" cy="1623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20" dirty="0">
                <a:solidFill>
                  <a:srgbClr val="1A3A52"/>
                </a:solidFill>
                <a:highlight>
                  <a:srgbClr val="EEF2F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days_since_prior_order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negatively correlates with reorder probability. Customers who wait </a:t>
            </a:r>
            <a:r>
              <a:rPr lang="en-US" sz="68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21 days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significantly less likely to reorder the same items (Zimmerman-Gibson, 2026).</a:t>
            </a:r>
            <a:endParaRPr lang="en-US" sz="680" dirty="0"/>
          </a:p>
        </p:txBody>
      </p:sp>
      <p:sp>
        <p:nvSpPr>
          <p:cNvPr id="30" name="Text 24"/>
          <p:cNvSpPr/>
          <p:nvPr/>
        </p:nvSpPr>
        <p:spPr>
          <a:xfrm>
            <a:off x="3157538" y="2808684"/>
            <a:ext cx="2828776" cy="2002185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157538" y="2808684"/>
            <a:ext cx="28575" cy="2002185"/>
          </a:xfrm>
          <a:custGeom>
            <a:avLst/>
            <a:gdLst/>
            <a:ahLst/>
            <a:cxnLst/>
            <a:rect l="l" t="t" r="r" b="b"/>
            <a:pathLst>
              <a:path w="28575" h="200218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988056"/>
                </a:lnTo>
                <a:lnTo>
                  <a:pt x="25003" y="1985206"/>
                </a:lnTo>
                <a:lnTo>
                  <a:pt x="21431" y="1981948"/>
                </a:lnTo>
                <a:lnTo>
                  <a:pt x="17859" y="1978196"/>
                </a:lnTo>
                <a:lnTo>
                  <a:pt x="14288" y="1973821"/>
                </a:lnTo>
                <a:lnTo>
                  <a:pt x="10716" y="1968606"/>
                </a:lnTo>
                <a:lnTo>
                  <a:pt x="7144" y="1962131"/>
                </a:lnTo>
                <a:lnTo>
                  <a:pt x="3572" y="1953320"/>
                </a:lnTo>
                <a:lnTo>
                  <a:pt x="0" y="1931065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3300413" y="2918520"/>
            <a:ext cx="200620" cy="220682"/>
          </a:xfrm>
          <a:prstGeom prst="ellipse">
            <a:avLst/>
          </a:prstGeom>
          <a:solidFill>
            <a:srgbClr val="F37324"/>
          </a:solidFill>
          <a:ln/>
          <a:effectLst>
            <a:outerShdw blurRad="43180" dist="13970" dir="5400000" algn="bl" rotWithShape="0">
              <a:srgbClr val="F37324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73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5966" y="2952461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43635" y="2956322"/>
            <a:ext cx="2110234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Non-linearity Justifies Neural Network</a:t>
            </a:r>
            <a:endParaRPr lang="en-US" sz="820" dirty="0"/>
          </a:p>
        </p:txBody>
      </p:sp>
      <p:sp>
        <p:nvSpPr>
          <p:cNvPr id="35" name="Text 28"/>
          <p:cNvSpPr/>
          <p:nvPr/>
        </p:nvSpPr>
        <p:spPr>
          <a:xfrm>
            <a:off x="3300413" y="3168551"/>
            <a:ext cx="2613318" cy="1623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linear correlations among features mean logistic regression alone is insufficient. Neural networks capture the </a:t>
            </a:r>
            <a:r>
              <a:rPr lang="en-US" sz="680" b="1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interactions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driving reorder decisions (Zimmerman-Gibson, 2026).</a:t>
            </a:r>
            <a:endParaRPr lang="en-US" sz="680" dirty="0"/>
          </a:p>
        </p:txBody>
      </p:sp>
      <p:sp>
        <p:nvSpPr>
          <p:cNvPr id="36" name="Text 29"/>
          <p:cNvSpPr/>
          <p:nvPr/>
        </p:nvSpPr>
        <p:spPr>
          <a:xfrm>
            <a:off x="6086624" y="2808684"/>
            <a:ext cx="2828627" cy="2002185"/>
          </a:xfrm>
          <a:prstGeom prst="roundRect">
            <a:avLst>
              <a:gd name="adj" fmla="val 3552"/>
            </a:avLst>
          </a:prstGeom>
          <a:solidFill>
            <a:srgbClr val="FFFFFF"/>
          </a:solidFill>
          <a:ln/>
          <a:effectLst>
            <a:outerShdw blurRad="5715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6086624" y="2808684"/>
            <a:ext cx="28575" cy="2002185"/>
          </a:xfrm>
          <a:custGeom>
            <a:avLst/>
            <a:gdLst/>
            <a:ahLst/>
            <a:cxnLst/>
            <a:rect l="l" t="t" r="r" b="b"/>
            <a:pathLst>
              <a:path w="28575" h="2002185">
                <a:moveTo>
                  <a:pt x="0" y="71120"/>
                </a:moveTo>
                <a:lnTo>
                  <a:pt x="3572" y="48865"/>
                </a:lnTo>
                <a:lnTo>
                  <a:pt x="7144" y="40054"/>
                </a:lnTo>
                <a:lnTo>
                  <a:pt x="10716" y="33579"/>
                </a:lnTo>
                <a:lnTo>
                  <a:pt x="14288" y="28363"/>
                </a:lnTo>
                <a:lnTo>
                  <a:pt x="17859" y="23989"/>
                </a:lnTo>
                <a:lnTo>
                  <a:pt x="21431" y="20237"/>
                </a:lnTo>
                <a:lnTo>
                  <a:pt x="25003" y="16979"/>
                </a:lnTo>
                <a:lnTo>
                  <a:pt x="28575" y="14129"/>
                </a:lnTo>
                <a:lnTo>
                  <a:pt x="28575" y="1988056"/>
                </a:lnTo>
                <a:lnTo>
                  <a:pt x="25003" y="1985206"/>
                </a:lnTo>
                <a:lnTo>
                  <a:pt x="21431" y="1981948"/>
                </a:lnTo>
                <a:lnTo>
                  <a:pt x="17859" y="1978196"/>
                </a:lnTo>
                <a:lnTo>
                  <a:pt x="14288" y="1973821"/>
                </a:lnTo>
                <a:lnTo>
                  <a:pt x="10716" y="1968606"/>
                </a:lnTo>
                <a:lnTo>
                  <a:pt x="7144" y="1962131"/>
                </a:lnTo>
                <a:lnTo>
                  <a:pt x="3572" y="1953320"/>
                </a:lnTo>
                <a:lnTo>
                  <a:pt x="0" y="1931065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229499" y="2918520"/>
            <a:ext cx="200620" cy="220682"/>
          </a:xfrm>
          <a:prstGeom prst="ellipse">
            <a:avLst/>
          </a:prstGeom>
          <a:solidFill>
            <a:srgbClr val="F37324"/>
          </a:solidFill>
          <a:ln/>
          <a:effectLst>
            <a:outerShdw blurRad="43180" dist="13970" dir="5400000" algn="bl" rotWithShape="0">
              <a:srgbClr val="F37324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73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52" y="2952461"/>
            <a:ext cx="132588" cy="13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772721" y="2956322"/>
            <a:ext cx="178526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kern="0" spc="8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Engineering Adds Value</a:t>
            </a:r>
            <a:endParaRPr lang="en-US" sz="820" dirty="0"/>
          </a:p>
        </p:txBody>
      </p:sp>
      <p:sp>
        <p:nvSpPr>
          <p:cNvPr id="41" name="Text 33"/>
          <p:cNvSpPr/>
          <p:nvPr/>
        </p:nvSpPr>
        <p:spPr>
          <a:xfrm>
            <a:off x="6229499" y="3168551"/>
            <a:ext cx="2613166" cy="1623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such as </a:t>
            </a:r>
            <a:r>
              <a:rPr lang="en-US" sz="620" dirty="0">
                <a:solidFill>
                  <a:srgbClr val="1A3A52"/>
                </a:solidFill>
                <a:highlight>
                  <a:srgbClr val="EEF2F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order_size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620" dirty="0">
                <a:solidFill>
                  <a:srgbClr val="1A3A52"/>
                </a:solidFill>
                <a:highlight>
                  <a:srgbClr val="EEF2F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reorder_rate_by_product</a:t>
            </a: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meaningfully improve predictive accuracy beyond raw input features (Zimmerman-Gibson, 2026).</a:t>
            </a:r>
            <a:endParaRPr lang="en-US" sz="680" dirty="0"/>
          </a:p>
        </p:txBody>
      </p:sp>
      <p:sp>
        <p:nvSpPr>
          <p:cNvPr id="42" name="Text 34"/>
          <p:cNvSpPr/>
          <p:nvPr/>
        </p:nvSpPr>
        <p:spPr>
          <a:xfrm>
            <a:off x="0" y="4911179"/>
            <a:ext cx="9144000" cy="232321"/>
          </a:xfrm>
          <a:prstGeom prst="rect">
            <a:avLst/>
          </a:prstGeom>
          <a:solidFill>
            <a:srgbClr val="0D1F33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342900" y="5009555"/>
            <a:ext cx="35421" cy="35421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64641" y="4968329"/>
            <a:ext cx="38950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Insights derived from Python EDA and Tableau dashboard analysis (Zimmerman-Gibson, 2026).</a:t>
            </a:r>
            <a:endParaRPr lang="en-US" sz="620" dirty="0"/>
          </a:p>
        </p:txBody>
      </p:sp>
      <p:sp>
        <p:nvSpPr>
          <p:cNvPr id="45" name="Text 37"/>
          <p:cNvSpPr/>
          <p:nvPr/>
        </p:nvSpPr>
        <p:spPr>
          <a:xfrm>
            <a:off x="2618480" y="715863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0" y="0"/>
                </a:moveTo>
                <a:lnTo>
                  <a:pt x="358100" y="0"/>
                </a:lnTo>
                <a:lnTo>
                  <a:pt x="358100" y="0"/>
                </a:lnTo>
                <a:lnTo>
                  <a:pt x="371975" y="1367"/>
                </a:lnTo>
                <a:lnTo>
                  <a:pt x="385317" y="5414"/>
                </a:lnTo>
                <a:lnTo>
                  <a:pt x="397612" y="11986"/>
                </a:lnTo>
                <a:lnTo>
                  <a:pt x="408390" y="20831"/>
                </a:lnTo>
                <a:lnTo>
                  <a:pt x="417234" y="31608"/>
                </a:lnTo>
                <a:lnTo>
                  <a:pt x="423807" y="43904"/>
                </a:lnTo>
                <a:lnTo>
                  <a:pt x="427854" y="57245"/>
                </a:lnTo>
                <a:lnTo>
                  <a:pt x="429220" y="71120"/>
                </a:lnTo>
                <a:lnTo>
                  <a:pt x="429220" y="429220"/>
                </a:lnTo>
                <a:lnTo>
                  <a:pt x="429260" y="429220"/>
                </a:lnTo>
                <a:lnTo>
                  <a:pt x="0" y="0"/>
                </a:lnTo>
                <a:lnTo>
                  <a:pt x="8248" y="83705"/>
                </a:lnTo>
                <a:lnTo>
                  <a:pt x="32675" y="164231"/>
                </a:lnTo>
                <a:lnTo>
                  <a:pt x="72343" y="238444"/>
                </a:lnTo>
                <a:lnTo>
                  <a:pt x="125727" y="303493"/>
                </a:lnTo>
                <a:lnTo>
                  <a:pt x="190776" y="356877"/>
                </a:lnTo>
                <a:lnTo>
                  <a:pt x="264990" y="396545"/>
                </a:lnTo>
                <a:lnTo>
                  <a:pt x="345516" y="420972"/>
                </a:lnTo>
                <a:lnTo>
                  <a:pt x="429220" y="429220"/>
                </a:lnTo>
                <a:close/>
              </a:path>
            </a:pathLst>
          </a:custGeom>
          <a:solidFill>
            <a:srgbClr val="FFF4ED">
              <a:alpha val="6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5547570" y="715863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0" y="0"/>
                </a:moveTo>
                <a:lnTo>
                  <a:pt x="358100" y="0"/>
                </a:lnTo>
                <a:lnTo>
                  <a:pt x="358100" y="0"/>
                </a:lnTo>
                <a:lnTo>
                  <a:pt x="371975" y="1367"/>
                </a:lnTo>
                <a:lnTo>
                  <a:pt x="385317" y="5414"/>
                </a:lnTo>
                <a:lnTo>
                  <a:pt x="397612" y="11986"/>
                </a:lnTo>
                <a:lnTo>
                  <a:pt x="408390" y="20831"/>
                </a:lnTo>
                <a:lnTo>
                  <a:pt x="417234" y="31608"/>
                </a:lnTo>
                <a:lnTo>
                  <a:pt x="423807" y="43904"/>
                </a:lnTo>
                <a:lnTo>
                  <a:pt x="427854" y="57245"/>
                </a:lnTo>
                <a:lnTo>
                  <a:pt x="429220" y="71120"/>
                </a:lnTo>
                <a:lnTo>
                  <a:pt x="429220" y="429220"/>
                </a:lnTo>
                <a:lnTo>
                  <a:pt x="429260" y="429220"/>
                </a:lnTo>
                <a:lnTo>
                  <a:pt x="0" y="0"/>
                </a:lnTo>
                <a:lnTo>
                  <a:pt x="8248" y="83705"/>
                </a:lnTo>
                <a:lnTo>
                  <a:pt x="32675" y="164231"/>
                </a:lnTo>
                <a:lnTo>
                  <a:pt x="72343" y="238444"/>
                </a:lnTo>
                <a:lnTo>
                  <a:pt x="125727" y="303493"/>
                </a:lnTo>
                <a:lnTo>
                  <a:pt x="190776" y="356877"/>
                </a:lnTo>
                <a:lnTo>
                  <a:pt x="264990" y="396545"/>
                </a:lnTo>
                <a:lnTo>
                  <a:pt x="345516" y="420972"/>
                </a:lnTo>
                <a:lnTo>
                  <a:pt x="429220" y="429220"/>
                </a:lnTo>
                <a:close/>
              </a:path>
            </a:pathLst>
          </a:custGeom>
          <a:solidFill>
            <a:srgbClr val="FFF4ED">
              <a:alpha val="6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8476503" y="715863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0" y="0"/>
                </a:moveTo>
                <a:lnTo>
                  <a:pt x="358100" y="0"/>
                </a:lnTo>
                <a:lnTo>
                  <a:pt x="358100" y="0"/>
                </a:lnTo>
                <a:lnTo>
                  <a:pt x="371975" y="1367"/>
                </a:lnTo>
                <a:lnTo>
                  <a:pt x="385317" y="5414"/>
                </a:lnTo>
                <a:lnTo>
                  <a:pt x="397612" y="11986"/>
                </a:lnTo>
                <a:lnTo>
                  <a:pt x="408390" y="20831"/>
                </a:lnTo>
                <a:lnTo>
                  <a:pt x="417234" y="31608"/>
                </a:lnTo>
                <a:lnTo>
                  <a:pt x="423807" y="43904"/>
                </a:lnTo>
                <a:lnTo>
                  <a:pt x="427854" y="57245"/>
                </a:lnTo>
                <a:lnTo>
                  <a:pt x="429220" y="71120"/>
                </a:lnTo>
                <a:lnTo>
                  <a:pt x="429220" y="429220"/>
                </a:lnTo>
                <a:lnTo>
                  <a:pt x="429260" y="429220"/>
                </a:lnTo>
                <a:lnTo>
                  <a:pt x="0" y="0"/>
                </a:lnTo>
                <a:lnTo>
                  <a:pt x="8248" y="83705"/>
                </a:lnTo>
                <a:lnTo>
                  <a:pt x="32675" y="164231"/>
                </a:lnTo>
                <a:lnTo>
                  <a:pt x="72343" y="238444"/>
                </a:lnTo>
                <a:lnTo>
                  <a:pt x="125727" y="303493"/>
                </a:lnTo>
                <a:lnTo>
                  <a:pt x="190776" y="356877"/>
                </a:lnTo>
                <a:lnTo>
                  <a:pt x="264990" y="396545"/>
                </a:lnTo>
                <a:lnTo>
                  <a:pt x="345516" y="420972"/>
                </a:lnTo>
                <a:lnTo>
                  <a:pt x="429220" y="429220"/>
                </a:lnTo>
                <a:close/>
              </a:path>
            </a:pathLst>
          </a:custGeom>
          <a:solidFill>
            <a:srgbClr val="FFF4ED">
              <a:alpha val="6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2618480" y="2818209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0" y="0"/>
                </a:moveTo>
                <a:lnTo>
                  <a:pt x="358100" y="0"/>
                </a:lnTo>
                <a:lnTo>
                  <a:pt x="358100" y="0"/>
                </a:lnTo>
                <a:lnTo>
                  <a:pt x="371975" y="1367"/>
                </a:lnTo>
                <a:lnTo>
                  <a:pt x="385317" y="5414"/>
                </a:lnTo>
                <a:lnTo>
                  <a:pt x="397612" y="11986"/>
                </a:lnTo>
                <a:lnTo>
                  <a:pt x="408390" y="20831"/>
                </a:lnTo>
                <a:lnTo>
                  <a:pt x="417234" y="31608"/>
                </a:lnTo>
                <a:lnTo>
                  <a:pt x="423807" y="43904"/>
                </a:lnTo>
                <a:lnTo>
                  <a:pt x="427854" y="57245"/>
                </a:lnTo>
                <a:lnTo>
                  <a:pt x="429220" y="71120"/>
                </a:lnTo>
                <a:lnTo>
                  <a:pt x="429220" y="429220"/>
                </a:lnTo>
                <a:lnTo>
                  <a:pt x="429260" y="429220"/>
                </a:lnTo>
                <a:lnTo>
                  <a:pt x="0" y="0"/>
                </a:lnTo>
                <a:lnTo>
                  <a:pt x="8248" y="83705"/>
                </a:lnTo>
                <a:lnTo>
                  <a:pt x="32675" y="164231"/>
                </a:lnTo>
                <a:lnTo>
                  <a:pt x="72343" y="238444"/>
                </a:lnTo>
                <a:lnTo>
                  <a:pt x="125727" y="303493"/>
                </a:lnTo>
                <a:lnTo>
                  <a:pt x="190776" y="356877"/>
                </a:lnTo>
                <a:lnTo>
                  <a:pt x="264990" y="396545"/>
                </a:lnTo>
                <a:lnTo>
                  <a:pt x="345516" y="420972"/>
                </a:lnTo>
                <a:lnTo>
                  <a:pt x="429220" y="429220"/>
                </a:lnTo>
                <a:close/>
              </a:path>
            </a:pathLst>
          </a:custGeom>
          <a:solidFill>
            <a:srgbClr val="FFF4ED">
              <a:alpha val="6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1"/>
          <p:cNvSpPr/>
          <p:nvPr/>
        </p:nvSpPr>
        <p:spPr>
          <a:xfrm>
            <a:off x="5547570" y="2818209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0" y="0"/>
                </a:moveTo>
                <a:lnTo>
                  <a:pt x="358100" y="0"/>
                </a:lnTo>
                <a:lnTo>
                  <a:pt x="358100" y="0"/>
                </a:lnTo>
                <a:lnTo>
                  <a:pt x="371975" y="1367"/>
                </a:lnTo>
                <a:lnTo>
                  <a:pt x="385317" y="5414"/>
                </a:lnTo>
                <a:lnTo>
                  <a:pt x="397612" y="11986"/>
                </a:lnTo>
                <a:lnTo>
                  <a:pt x="408390" y="20831"/>
                </a:lnTo>
                <a:lnTo>
                  <a:pt x="417234" y="31608"/>
                </a:lnTo>
                <a:lnTo>
                  <a:pt x="423807" y="43904"/>
                </a:lnTo>
                <a:lnTo>
                  <a:pt x="427854" y="57245"/>
                </a:lnTo>
                <a:lnTo>
                  <a:pt x="429220" y="71120"/>
                </a:lnTo>
                <a:lnTo>
                  <a:pt x="429220" y="429220"/>
                </a:lnTo>
                <a:lnTo>
                  <a:pt x="429260" y="429220"/>
                </a:lnTo>
                <a:lnTo>
                  <a:pt x="0" y="0"/>
                </a:lnTo>
                <a:lnTo>
                  <a:pt x="8248" y="83705"/>
                </a:lnTo>
                <a:lnTo>
                  <a:pt x="32675" y="164231"/>
                </a:lnTo>
                <a:lnTo>
                  <a:pt x="72343" y="238444"/>
                </a:lnTo>
                <a:lnTo>
                  <a:pt x="125727" y="303493"/>
                </a:lnTo>
                <a:lnTo>
                  <a:pt x="190776" y="356877"/>
                </a:lnTo>
                <a:lnTo>
                  <a:pt x="264990" y="396545"/>
                </a:lnTo>
                <a:lnTo>
                  <a:pt x="345516" y="420972"/>
                </a:lnTo>
                <a:lnTo>
                  <a:pt x="429220" y="429220"/>
                </a:lnTo>
                <a:close/>
              </a:path>
            </a:pathLst>
          </a:custGeom>
          <a:solidFill>
            <a:srgbClr val="FFF4ED">
              <a:alpha val="6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8476503" y="2818209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0" y="0"/>
                </a:moveTo>
                <a:lnTo>
                  <a:pt x="358100" y="0"/>
                </a:lnTo>
                <a:lnTo>
                  <a:pt x="358100" y="0"/>
                </a:lnTo>
                <a:lnTo>
                  <a:pt x="371975" y="1367"/>
                </a:lnTo>
                <a:lnTo>
                  <a:pt x="385317" y="5414"/>
                </a:lnTo>
                <a:lnTo>
                  <a:pt x="397612" y="11986"/>
                </a:lnTo>
                <a:lnTo>
                  <a:pt x="408390" y="20831"/>
                </a:lnTo>
                <a:lnTo>
                  <a:pt x="417234" y="31608"/>
                </a:lnTo>
                <a:lnTo>
                  <a:pt x="423807" y="43904"/>
                </a:lnTo>
                <a:lnTo>
                  <a:pt x="427854" y="57245"/>
                </a:lnTo>
                <a:lnTo>
                  <a:pt x="429220" y="71120"/>
                </a:lnTo>
                <a:lnTo>
                  <a:pt x="429220" y="429220"/>
                </a:lnTo>
                <a:lnTo>
                  <a:pt x="429260" y="429220"/>
                </a:lnTo>
                <a:lnTo>
                  <a:pt x="0" y="0"/>
                </a:lnTo>
                <a:lnTo>
                  <a:pt x="8248" y="83705"/>
                </a:lnTo>
                <a:lnTo>
                  <a:pt x="32675" y="164231"/>
                </a:lnTo>
                <a:lnTo>
                  <a:pt x="72343" y="238444"/>
                </a:lnTo>
                <a:lnTo>
                  <a:pt x="125727" y="303493"/>
                </a:lnTo>
                <a:lnTo>
                  <a:pt x="190776" y="356877"/>
                </a:lnTo>
                <a:lnTo>
                  <a:pt x="264990" y="396545"/>
                </a:lnTo>
                <a:lnTo>
                  <a:pt x="345516" y="420972"/>
                </a:lnTo>
                <a:lnTo>
                  <a:pt x="429220" y="429220"/>
                </a:lnTo>
                <a:close/>
              </a:path>
            </a:pathLst>
          </a:custGeom>
          <a:solidFill>
            <a:srgbClr val="FFF4ED">
              <a:alpha val="6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gradFill rotWithShape="1">
            <a:gsLst>
              <a:gs pos="0">
                <a:srgbClr val="0A1A2B"/>
              </a:gs>
              <a:gs pos="60000">
                <a:srgbClr val="11274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19125"/>
            <a:ext cx="9144000" cy="9525"/>
          </a:xfrm>
          <a:prstGeom prst="rect">
            <a:avLst/>
          </a:prstGeom>
          <a:solidFill>
            <a:srgbClr val="F37324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59693"/>
            <a:ext cx="299591" cy="299591"/>
          </a:xfrm>
          <a:prstGeom prst="roundRect">
            <a:avLst>
              <a:gd name="adj" fmla="val 23739"/>
            </a:avLst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552" y="243194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951" y="195263"/>
            <a:ext cx="20802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kern="0" spc="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58124" y="240060"/>
            <a:ext cx="229440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Based on Analytical Findings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400050" y="619125"/>
            <a:ext cx="1286470" cy="13841"/>
          </a:xfrm>
          <a:prstGeom prst="rect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2900" y="742950"/>
            <a:ext cx="4168080" cy="3886200"/>
          </a:xfrm>
          <a:prstGeom prst="roundRect">
            <a:avLst>
              <a:gd name="adj" fmla="val 2222"/>
            </a:avLst>
          </a:prstGeom>
          <a:gradFill rotWithShape="1">
            <a:gsLst>
              <a:gs pos="0">
                <a:srgbClr val="1A3A5C">
                  <a:alpha val="55000"/>
                </a:srgbClr>
              </a:gs>
              <a:gs pos="100000">
                <a:srgbClr val="112740">
                  <a:alpha val="70000"/>
                </a:srgbClr>
              </a:gs>
            </a:gsLst>
            <a:lin ang="4200000" scaled="1"/>
          </a:gradFill>
          <a:ln w="9525">
            <a:solidFill>
              <a:srgbClr val="F37324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0566" y="852785"/>
            <a:ext cx="1897261" cy="220355"/>
          </a:xfrm>
          <a:prstGeom prst="roundRect">
            <a:avLst>
              <a:gd name="adj" fmla="val 13256"/>
            </a:avLst>
          </a:prstGeom>
          <a:solidFill>
            <a:srgbClr val="F37324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RECOMMENDATIONS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480566" y="852785"/>
            <a:ext cx="19050" cy="200323"/>
          </a:xfrm>
          <a:custGeom>
            <a:avLst/>
            <a:gdLst/>
            <a:ahLst/>
            <a:cxnLst/>
            <a:rect l="l" t="t" r="r" b="b"/>
            <a:pathLst>
              <a:path w="19050" h="200323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198499"/>
                </a:lnTo>
                <a:lnTo>
                  <a:pt x="16669" y="197493"/>
                </a:lnTo>
                <a:lnTo>
                  <a:pt x="14288" y="196223"/>
                </a:lnTo>
                <a:lnTo>
                  <a:pt x="11906" y="194646"/>
                </a:lnTo>
                <a:lnTo>
                  <a:pt x="9525" y="192693"/>
                </a:lnTo>
                <a:lnTo>
                  <a:pt x="7144" y="190252"/>
                </a:lnTo>
                <a:lnTo>
                  <a:pt x="4763" y="187098"/>
                </a:lnTo>
                <a:lnTo>
                  <a:pt x="2381" y="182664"/>
                </a:lnTo>
                <a:lnTo>
                  <a:pt x="0" y="171113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064" y="886578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566" y="1195090"/>
            <a:ext cx="3892748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61082" y="1269355"/>
            <a:ext cx="242441" cy="242441"/>
          </a:xfrm>
          <a:prstGeom prst="ellipse">
            <a:avLst/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934" y="1324207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4514" y="1261765"/>
            <a:ext cx="3486650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push notifications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peak hours (10 AM–4 PM) and Sunday/Monday windows to maximize reorder conversions.</a:t>
            </a:r>
            <a:endParaRPr lang="en-US" sz="820" dirty="0"/>
          </a:p>
        </p:txBody>
      </p:sp>
      <p:sp>
        <p:nvSpPr>
          <p:cNvPr id="17" name="Text 12"/>
          <p:cNvSpPr/>
          <p:nvPr/>
        </p:nvSpPr>
        <p:spPr>
          <a:xfrm>
            <a:off x="480566" y="1673721"/>
            <a:ext cx="3892748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61082" y="1747986"/>
            <a:ext cx="242441" cy="242441"/>
          </a:xfrm>
          <a:prstGeom prst="ellipse">
            <a:avLst/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34" y="1802838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4514" y="1740396"/>
            <a:ext cx="3486650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personalized reorder reminders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dairy, produce, and beverage aisles — highest stickiness categories (&gt;70% reorder rate).</a:t>
            </a:r>
            <a:endParaRPr lang="en-US" sz="820" dirty="0"/>
          </a:p>
        </p:txBody>
      </p:sp>
      <p:sp>
        <p:nvSpPr>
          <p:cNvPr id="21" name="Text 15"/>
          <p:cNvSpPr/>
          <p:nvPr/>
        </p:nvSpPr>
        <p:spPr>
          <a:xfrm>
            <a:off x="480566" y="2152352"/>
            <a:ext cx="3892748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61082" y="2226618"/>
            <a:ext cx="242441" cy="242441"/>
          </a:xfrm>
          <a:prstGeom prst="ellipse">
            <a:avLst/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934" y="2281470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4514" y="2219027"/>
            <a:ext cx="3486650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re-engagement campaigns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users whose inter-order gap exceeds 14 days — predictive churn prevention before drop-off.</a:t>
            </a:r>
            <a:endParaRPr lang="en-US" sz="820" dirty="0"/>
          </a:p>
        </p:txBody>
      </p:sp>
      <p:sp>
        <p:nvSpPr>
          <p:cNvPr id="25" name="Text 18"/>
          <p:cNvSpPr/>
          <p:nvPr/>
        </p:nvSpPr>
        <p:spPr>
          <a:xfrm>
            <a:off x="480566" y="2630984"/>
            <a:ext cx="3892748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561082" y="2705249"/>
            <a:ext cx="242441" cy="242441"/>
          </a:xfrm>
          <a:prstGeom prst="ellipse">
            <a:avLst/>
          </a:prstGeom>
          <a:solidFill>
            <a:srgbClr val="F37324">
              <a:alpha val="15000"/>
            </a:srgbClr>
          </a:solidFill>
          <a:ln w="9525">
            <a:solidFill>
              <a:srgbClr val="F37324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34" y="2760101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4514" y="2697659"/>
            <a:ext cx="3486650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product co-purchase data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basket recommendation engines — Hypothesis 3 (dairy/produce co-buying) validated by EDA.</a:t>
            </a:r>
            <a:endParaRPr lang="en-US" sz="820" dirty="0"/>
          </a:p>
        </p:txBody>
      </p:sp>
      <p:sp>
        <p:nvSpPr>
          <p:cNvPr id="29" name="Text 21"/>
          <p:cNvSpPr/>
          <p:nvPr/>
        </p:nvSpPr>
        <p:spPr>
          <a:xfrm>
            <a:off x="480566" y="4306937"/>
            <a:ext cx="3892748" cy="241697"/>
          </a:xfrm>
          <a:prstGeom prst="roundRect">
            <a:avLst>
              <a:gd name="adj" fmla="val 17865"/>
            </a:avLst>
          </a:prstGeom>
          <a:solidFill>
            <a:srgbClr val="F37324">
              <a:alpha val="8000"/>
            </a:srgbClr>
          </a:solidFill>
          <a:ln w="9525">
            <a:solidFill>
              <a:srgbClr val="F37324">
                <a:alpha val="1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539" y="4361417"/>
            <a:ext cx="132588" cy="13258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7735" y="4365873"/>
            <a:ext cx="286379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i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1, 2 &amp; 3 validated — business actions are evidence-based.</a:t>
            </a:r>
            <a:endParaRPr lang="en-US" sz="650" dirty="0"/>
          </a:p>
        </p:txBody>
      </p:sp>
      <p:sp>
        <p:nvSpPr>
          <p:cNvPr id="32" name="Text 23"/>
          <p:cNvSpPr/>
          <p:nvPr/>
        </p:nvSpPr>
        <p:spPr>
          <a:xfrm>
            <a:off x="4568130" y="742950"/>
            <a:ext cx="7590" cy="3886200"/>
          </a:xfrm>
          <a:prstGeom prst="rect">
            <a:avLst/>
          </a:prstGeom>
          <a:solidFill>
            <a:srgbClr val="94AFC8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4632871" y="742950"/>
            <a:ext cx="4168229" cy="3886200"/>
          </a:xfrm>
          <a:prstGeom prst="roundRect">
            <a:avLst>
              <a:gd name="adj" fmla="val 2222"/>
            </a:avLst>
          </a:prstGeom>
          <a:gradFill rotWithShape="1">
            <a:gsLst>
              <a:gs pos="0">
                <a:srgbClr val="0F2D47">
                  <a:alpha val="55000"/>
                </a:srgbClr>
              </a:gs>
              <a:gs pos="100000">
                <a:srgbClr val="0A1A2B">
                  <a:alpha val="70000"/>
                </a:srgbClr>
              </a:gs>
            </a:gsLst>
            <a:lin ang="4200000" scaled="1"/>
          </a:gradFill>
          <a:ln w="9525">
            <a:solidFill>
              <a:srgbClr val="56C8F0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5"/>
          <p:cNvSpPr/>
          <p:nvPr/>
        </p:nvSpPr>
        <p:spPr>
          <a:xfrm>
            <a:off x="4770537" y="852785"/>
            <a:ext cx="2611041" cy="220355"/>
          </a:xfrm>
          <a:prstGeom prst="roundRect">
            <a:avLst>
              <a:gd name="adj" fmla="val 13256"/>
            </a:avLst>
          </a:prstGeom>
          <a:solidFill>
            <a:srgbClr val="38BDF8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56C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/ MODELING RECOMMENDATIONS</a:t>
            </a:r>
            <a:endParaRPr lang="en-US" sz="680" dirty="0"/>
          </a:p>
        </p:txBody>
      </p:sp>
      <p:sp>
        <p:nvSpPr>
          <p:cNvPr id="35" name="Text 26"/>
          <p:cNvSpPr/>
          <p:nvPr/>
        </p:nvSpPr>
        <p:spPr>
          <a:xfrm>
            <a:off x="4770537" y="852785"/>
            <a:ext cx="19050" cy="200323"/>
          </a:xfrm>
          <a:custGeom>
            <a:avLst/>
            <a:gdLst/>
            <a:ahLst/>
            <a:cxnLst/>
            <a:rect l="l" t="t" r="r" b="b"/>
            <a:pathLst>
              <a:path w="19050" h="200323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198499"/>
                </a:lnTo>
                <a:lnTo>
                  <a:pt x="16669" y="197493"/>
                </a:lnTo>
                <a:lnTo>
                  <a:pt x="14288" y="196223"/>
                </a:lnTo>
                <a:lnTo>
                  <a:pt x="11906" y="194646"/>
                </a:lnTo>
                <a:lnTo>
                  <a:pt x="9525" y="192693"/>
                </a:lnTo>
                <a:lnTo>
                  <a:pt x="7144" y="190252"/>
                </a:lnTo>
                <a:lnTo>
                  <a:pt x="4763" y="187098"/>
                </a:lnTo>
                <a:lnTo>
                  <a:pt x="2381" y="182664"/>
                </a:lnTo>
                <a:lnTo>
                  <a:pt x="0" y="171113"/>
                </a:lnTo>
                <a:close/>
              </a:path>
            </a:pathLst>
          </a:custGeom>
          <a:solidFill>
            <a:srgbClr val="56C8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9035" y="886578"/>
            <a:ext cx="132588" cy="132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770537" y="1195090"/>
            <a:ext cx="3892897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4851053" y="1269355"/>
            <a:ext cx="242441" cy="242441"/>
          </a:xfrm>
          <a:prstGeom prst="ellipse">
            <a:avLst/>
          </a:prstGeom>
          <a:solidFill>
            <a:srgbClr val="56C8F0">
              <a:alpha val="10000"/>
            </a:srgbClr>
          </a:solidFill>
          <a:ln w="9525">
            <a:solidFill>
              <a:srgbClr val="56C8F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5905" y="1324207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164485" y="1261765"/>
            <a:ext cx="348680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7D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class-weight balancing or SMOTE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address the 59% reorder imbalance during neural network training for fairer evaluation.</a:t>
            </a:r>
            <a:endParaRPr lang="en-US" sz="820" dirty="0"/>
          </a:p>
        </p:txBody>
      </p:sp>
      <p:sp>
        <p:nvSpPr>
          <p:cNvPr id="41" name="Text 30"/>
          <p:cNvSpPr/>
          <p:nvPr/>
        </p:nvSpPr>
        <p:spPr>
          <a:xfrm>
            <a:off x="4770537" y="1673721"/>
            <a:ext cx="3892897" cy="586532"/>
          </a:xfrm>
          <a:prstGeom prst="roundRect">
            <a:avLst>
              <a:gd name="adj" fmla="val 974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4851053" y="1747986"/>
            <a:ext cx="242441" cy="242441"/>
          </a:xfrm>
          <a:prstGeom prst="ellipse">
            <a:avLst/>
          </a:prstGeom>
          <a:solidFill>
            <a:srgbClr val="56C8F0">
              <a:alpha val="10000"/>
            </a:srgbClr>
          </a:solidFill>
          <a:ln w="9525">
            <a:solidFill>
              <a:srgbClr val="56C8F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5905" y="1802838"/>
            <a:ext cx="132588" cy="13258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164485" y="1740396"/>
            <a:ext cx="3486802" cy="475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7D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 engineering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customer-level reorder rates, product-level frequency, and recency scores (RFM framework) to boost signal strength.</a:t>
            </a:r>
            <a:endParaRPr lang="en-US" sz="820" dirty="0"/>
          </a:p>
        </p:txBody>
      </p:sp>
      <p:sp>
        <p:nvSpPr>
          <p:cNvPr id="45" name="Text 33"/>
          <p:cNvSpPr/>
          <p:nvPr/>
        </p:nvSpPr>
        <p:spPr>
          <a:xfrm>
            <a:off x="4770537" y="2303413"/>
            <a:ext cx="3892897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4"/>
          <p:cNvSpPr/>
          <p:nvPr/>
        </p:nvSpPr>
        <p:spPr>
          <a:xfrm>
            <a:off x="4851053" y="2377678"/>
            <a:ext cx="242441" cy="242441"/>
          </a:xfrm>
          <a:prstGeom prst="ellipse">
            <a:avLst/>
          </a:prstGeom>
          <a:solidFill>
            <a:srgbClr val="56C8F0">
              <a:alpha val="10000"/>
            </a:srgbClr>
          </a:solidFill>
          <a:ln w="9525">
            <a:solidFill>
              <a:srgbClr val="56C8F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05905" y="2432530"/>
            <a:ext cx="132588" cy="1325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164485" y="2370088"/>
            <a:ext cx="348680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7D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approaches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gradient boosting + neural network stacking — to further improve AUC-ROC above the 0.80 threshold.</a:t>
            </a:r>
            <a:endParaRPr lang="en-US" sz="820" dirty="0"/>
          </a:p>
        </p:txBody>
      </p:sp>
      <p:sp>
        <p:nvSpPr>
          <p:cNvPr id="49" name="Text 36"/>
          <p:cNvSpPr/>
          <p:nvPr/>
        </p:nvSpPr>
        <p:spPr>
          <a:xfrm>
            <a:off x="4770537" y="2782044"/>
            <a:ext cx="3892897" cy="435471"/>
          </a:xfrm>
          <a:prstGeom prst="roundRect">
            <a:avLst>
              <a:gd name="adj" fmla="val 13124"/>
            </a:avLst>
          </a:prstGeom>
          <a:noFill/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7"/>
          <p:cNvSpPr/>
          <p:nvPr/>
        </p:nvSpPr>
        <p:spPr>
          <a:xfrm>
            <a:off x="4851053" y="2856309"/>
            <a:ext cx="242441" cy="242441"/>
          </a:xfrm>
          <a:prstGeom prst="ellipse">
            <a:avLst/>
          </a:prstGeom>
          <a:solidFill>
            <a:srgbClr val="56C8F0">
              <a:alpha val="10000"/>
            </a:srgbClr>
          </a:solidFill>
          <a:ln w="9525">
            <a:solidFill>
              <a:srgbClr val="56C8F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05905" y="2911161"/>
            <a:ext cx="132588" cy="13258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164485" y="2848719"/>
            <a:ext cx="348680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b="1" dirty="0">
                <a:solidFill>
                  <a:srgbClr val="7D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demographic or household data</a:t>
            </a:r>
            <a:r>
              <a:rPr lang="en-US" sz="82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(if available) to enable deeper customer segmentation analysis and personalization layers.</a:t>
            </a:r>
            <a:endParaRPr lang="en-US" sz="820" dirty="0"/>
          </a:p>
        </p:txBody>
      </p:sp>
      <p:sp>
        <p:nvSpPr>
          <p:cNvPr id="53" name="Text 39"/>
          <p:cNvSpPr/>
          <p:nvPr/>
        </p:nvSpPr>
        <p:spPr>
          <a:xfrm>
            <a:off x="4770537" y="4306937"/>
            <a:ext cx="3892897" cy="241697"/>
          </a:xfrm>
          <a:prstGeom prst="roundRect">
            <a:avLst>
              <a:gd name="adj" fmla="val 17865"/>
            </a:avLst>
          </a:prstGeom>
          <a:solidFill>
            <a:srgbClr val="56C8F0">
              <a:alpha val="6000"/>
            </a:srgbClr>
          </a:solidFill>
          <a:ln w="9525">
            <a:solidFill>
              <a:srgbClr val="56C8F0">
                <a:alpha val="1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19510" y="4361417"/>
            <a:ext cx="132588" cy="132588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4977705" y="4365873"/>
            <a:ext cx="314603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i="1" dirty="0">
                <a:solidFill>
                  <a:srgbClr val="7D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data unavailable in this dataset iteration — noted as future work.</a:t>
            </a:r>
            <a:endParaRPr lang="en-US" sz="650" dirty="0"/>
          </a:p>
        </p:txBody>
      </p:sp>
      <p:sp>
        <p:nvSpPr>
          <p:cNvPr id="56" name="Text 41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gradFill rotWithShape="1">
            <a:gsLst>
              <a:gs pos="0">
                <a:srgbClr val="08111C"/>
              </a:gs>
              <a:gs pos="50000">
                <a:srgbClr val="0D1F33"/>
              </a:gs>
              <a:gs pos="100000">
                <a:srgbClr val="08111C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2"/>
          <p:cNvSpPr/>
          <p:nvPr/>
        </p:nvSpPr>
        <p:spPr>
          <a:xfrm>
            <a:off x="0" y="4901059"/>
            <a:ext cx="9144000" cy="9525"/>
          </a:xfrm>
          <a:prstGeom prst="rect">
            <a:avLst/>
          </a:prstGeom>
          <a:solidFill>
            <a:srgbClr val="94AFC8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3"/>
          <p:cNvSpPr/>
          <p:nvPr/>
        </p:nvSpPr>
        <p:spPr>
          <a:xfrm>
            <a:off x="400050" y="5012382"/>
            <a:ext cx="29170" cy="29170"/>
          </a:xfrm>
          <a:prstGeom prst="ellipse">
            <a:avLst/>
          </a:prstGeom>
          <a:solidFill>
            <a:srgbClr val="F37324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4"/>
          <p:cNvSpPr/>
          <p:nvPr/>
        </p:nvSpPr>
        <p:spPr>
          <a:xfrm>
            <a:off x="472380" y="4968032"/>
            <a:ext cx="616404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Recommendations follow data-driven decision-making frameworks (Zimmerman-Gibson, 2026). Demographic data was unavailable in this dataset iteration.</a:t>
            </a:r>
            <a:endParaRPr lang="en-US" sz="620" dirty="0"/>
          </a:p>
        </p:txBody>
      </p:sp>
      <p:sp>
        <p:nvSpPr>
          <p:cNvPr id="60" name="Text 45"/>
          <p:cNvSpPr/>
          <p:nvPr/>
        </p:nvSpPr>
        <p:spPr>
          <a:xfrm>
            <a:off x="352425" y="752475"/>
            <a:ext cx="4149033" cy="13841"/>
          </a:xfrm>
          <a:custGeom>
            <a:avLst/>
            <a:gdLst/>
            <a:ahLst/>
            <a:cxnLst/>
            <a:rect l="l" t="t" r="r" b="b"/>
            <a:pathLst>
              <a:path w="4149033" h="13841">
                <a:moveTo>
                  <a:pt x="86360" y="0"/>
                </a:moveTo>
                <a:lnTo>
                  <a:pt x="4062673" y="0"/>
                </a:lnTo>
                <a:lnTo>
                  <a:pt x="4079873" y="1730"/>
                </a:lnTo>
                <a:lnTo>
                  <a:pt x="4086874" y="3460"/>
                </a:lnTo>
                <a:lnTo>
                  <a:pt x="4092161" y="5190"/>
                </a:lnTo>
                <a:lnTo>
                  <a:pt x="4096546" y="6920"/>
                </a:lnTo>
                <a:lnTo>
                  <a:pt x="4100346" y="8651"/>
                </a:lnTo>
                <a:lnTo>
                  <a:pt x="4103724" y="10381"/>
                </a:lnTo>
                <a:lnTo>
                  <a:pt x="4106776" y="12111"/>
                </a:lnTo>
                <a:lnTo>
                  <a:pt x="4109567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F3732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6"/>
          <p:cNvSpPr/>
          <p:nvPr/>
        </p:nvSpPr>
        <p:spPr>
          <a:xfrm>
            <a:off x="4642396" y="752475"/>
            <a:ext cx="4149176" cy="13841"/>
          </a:xfrm>
          <a:custGeom>
            <a:avLst/>
            <a:gdLst/>
            <a:ahLst/>
            <a:cxnLst/>
            <a:rect l="l" t="t" r="r" b="b"/>
            <a:pathLst>
              <a:path w="4149176" h="13841">
                <a:moveTo>
                  <a:pt x="86360" y="0"/>
                </a:moveTo>
                <a:lnTo>
                  <a:pt x="4062816" y="0"/>
                </a:lnTo>
                <a:lnTo>
                  <a:pt x="4080015" y="1730"/>
                </a:lnTo>
                <a:lnTo>
                  <a:pt x="4087017" y="3460"/>
                </a:lnTo>
                <a:lnTo>
                  <a:pt x="4092304" y="5190"/>
                </a:lnTo>
                <a:lnTo>
                  <a:pt x="4096689" y="6920"/>
                </a:lnTo>
                <a:lnTo>
                  <a:pt x="4100489" y="8651"/>
                </a:lnTo>
                <a:lnTo>
                  <a:pt x="4103867" y="10381"/>
                </a:lnTo>
                <a:lnTo>
                  <a:pt x="4106919" y="12111"/>
                </a:lnTo>
                <a:lnTo>
                  <a:pt x="4109710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56C8F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7"/>
          <p:cNvSpPr/>
          <p:nvPr/>
        </p:nvSpPr>
        <p:spPr>
          <a:xfrm>
            <a:off x="7000284" y="0"/>
            <a:ext cx="2143716" cy="2143716"/>
          </a:xfrm>
          <a:prstGeom prst="ellipse">
            <a:avLst/>
          </a:prstGeom>
          <a:gradFill rotWithShape="1">
            <a:gsLst>
              <a:gs pos="0">
                <a:srgbClr val="F3732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0" y="3571284"/>
            <a:ext cx="1572216" cy="1572216"/>
          </a:xfrm>
          <a:prstGeom prst="ellipse">
            <a:avLst/>
          </a:prstGeom>
          <a:gradFill rotWithShape="1">
            <a:gsLst>
              <a:gs pos="0">
                <a:srgbClr val="112740">
                  <a:alpha val="8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316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60000">
                <a:srgbClr val="F9A05A"/>
              </a:gs>
              <a:gs pos="100000">
                <a:srgbClr val="F5F7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312688"/>
            <a:ext cx="57150" cy="57150"/>
          </a:xfrm>
          <a:prstGeom prst="ellipse">
            <a:avLst/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271760"/>
            <a:ext cx="9220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1638300" y="337393"/>
            <a:ext cx="6991350" cy="7590"/>
          </a:xfrm>
          <a:prstGeom prst="rect">
            <a:avLst/>
          </a:prstGeom>
          <a:gradFill rotWithShape="1">
            <a:gsLst>
              <a:gs pos="0">
                <a:srgbClr val="DDE4E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4825" y="538907"/>
            <a:ext cx="514350" cy="29170"/>
          </a:xfrm>
          <a:prstGeom prst="roundRect">
            <a:avLst>
              <a:gd name="adj" fmla="val 47892"/>
            </a:avLst>
          </a:pr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74420" y="711547"/>
            <a:ext cx="6995160" cy="84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17"/>
              </a:lnSpc>
              <a:buNone/>
            </a:pPr>
            <a:r>
              <a:rPr lang="en-US" sz="146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Instacart Scenario Analysis demonstrates that </a:t>
            </a:r>
            <a:r>
              <a:rPr lang="en-US" sz="14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r>
              <a:rPr lang="en-US" sz="146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particularly </a:t>
            </a:r>
            <a:r>
              <a:rPr lang="en-US" sz="14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r>
              <a:rPr lang="en-US" sz="146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can meaningfully predict customer reorder behavior, uncovering actionable patterns in </a:t>
            </a:r>
            <a:r>
              <a:rPr lang="en-US" sz="14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million+ orders</a:t>
            </a:r>
            <a:r>
              <a:rPr lang="en-US" sz="1460" dirty="0">
                <a:solidFill>
                  <a:srgbClr val="0D1F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514350" y="1689348"/>
            <a:ext cx="2609404" cy="1809006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1689348"/>
            <a:ext cx="2609404" cy="28575"/>
          </a:xfrm>
          <a:custGeom>
            <a:avLst/>
            <a:gdLst/>
            <a:ahLst/>
            <a:cxnLst/>
            <a:rect l="l" t="t" r="r" b="b"/>
            <a:pathLst>
              <a:path w="2609404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587222" y="28575"/>
                </a:lnTo>
                <a:lnTo>
                  <a:pt x="2583817" y="25003"/>
                </a:lnTo>
                <a:lnTo>
                  <a:pt x="2579985" y="21431"/>
                </a:lnTo>
                <a:lnTo>
                  <a:pt x="2575634" y="17859"/>
                </a:lnTo>
                <a:lnTo>
                  <a:pt x="2570621" y="14288"/>
                </a:lnTo>
                <a:lnTo>
                  <a:pt x="2564709" y="10716"/>
                </a:lnTo>
                <a:lnTo>
                  <a:pt x="2557436" y="7144"/>
                </a:lnTo>
                <a:lnTo>
                  <a:pt x="2547623" y="3572"/>
                </a:lnTo>
                <a:lnTo>
                  <a:pt x="2523043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187538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FF4E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966" y="1966549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290614"/>
            <a:ext cx="249315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Discovery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2484834"/>
            <a:ext cx="2311834" cy="492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5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strong temporal patterns, aisle-level loyalty (&gt;70% reorder rates), and non-linear feature relationships that inform model design.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685800" y="3167063"/>
            <a:ext cx="791206" cy="187821"/>
          </a:xfrm>
          <a:prstGeom prst="roundRect">
            <a:avLst>
              <a:gd name="adj" fmla="val 76408"/>
            </a:avLst>
          </a:prstGeom>
          <a:solidFill>
            <a:srgbClr val="FFF4EC"/>
          </a:solidFill>
          <a:ln/>
        </p:spPr>
        <p:txBody>
          <a:bodyPr wrap="none" lIns="71120" tIns="29210" rIns="7112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Patterns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3267224" y="1689348"/>
            <a:ext cx="2609552" cy="1809006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67224" y="1689348"/>
            <a:ext cx="2609552" cy="28575"/>
          </a:xfrm>
          <a:custGeom>
            <a:avLst/>
            <a:gdLst/>
            <a:ahLst/>
            <a:cxnLst/>
            <a:rect l="l" t="t" r="r" b="b"/>
            <a:pathLst>
              <a:path w="2609552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587371" y="28575"/>
                </a:lnTo>
                <a:lnTo>
                  <a:pt x="2583966" y="25003"/>
                </a:lnTo>
                <a:lnTo>
                  <a:pt x="2580134" y="21431"/>
                </a:lnTo>
                <a:lnTo>
                  <a:pt x="2575782" y="17859"/>
                </a:lnTo>
                <a:lnTo>
                  <a:pt x="2570770" y="14288"/>
                </a:lnTo>
                <a:lnTo>
                  <a:pt x="2564857" y="10716"/>
                </a:lnTo>
                <a:lnTo>
                  <a:pt x="2557585" y="7144"/>
                </a:lnTo>
                <a:lnTo>
                  <a:pt x="2547772" y="3572"/>
                </a:lnTo>
                <a:lnTo>
                  <a:pt x="2523192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38674" y="187538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FF4E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9840" y="1966549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38674" y="2290614"/>
            <a:ext cx="249331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Progression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38674" y="2484834"/>
            <a:ext cx="2311985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5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logistic regression to a multi-layer neural network improved predictive power, justified by weak linear correlations and high-dimensional encoded features.</a:t>
            </a:r>
            <a:endParaRPr lang="en-US" sz="820" dirty="0"/>
          </a:p>
        </p:txBody>
      </p:sp>
      <p:sp>
        <p:nvSpPr>
          <p:cNvPr id="21" name="Text 17"/>
          <p:cNvSpPr/>
          <p:nvPr/>
        </p:nvSpPr>
        <p:spPr>
          <a:xfrm>
            <a:off x="3438674" y="3167063"/>
            <a:ext cx="1076143" cy="187821"/>
          </a:xfrm>
          <a:prstGeom prst="roundRect">
            <a:avLst>
              <a:gd name="adj" fmla="val 76408"/>
            </a:avLst>
          </a:prstGeom>
          <a:solidFill>
            <a:srgbClr val="FFF4EC"/>
          </a:solidFill>
          <a:ln/>
        </p:spPr>
        <p:txBody>
          <a:bodyPr wrap="none" lIns="71120" tIns="29210" rIns="7112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Neural Networks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6020246" y="1689348"/>
            <a:ext cx="2609404" cy="1809006"/>
          </a:xfrm>
          <a:prstGeom prst="roundRect">
            <a:avLst>
              <a:gd name="adj" fmla="val 4774"/>
            </a:avLst>
          </a:prstGeom>
          <a:solidFill>
            <a:srgbClr val="FFFFFF"/>
          </a:solidFill>
          <a:ln/>
          <a:effectLst>
            <a:outerShdw blurRad="86360" dist="13970" dir="5400000" algn="bl" rotWithShape="0">
              <a:srgbClr val="0D1F33">
                <a:alpha val="7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20246" y="1689348"/>
            <a:ext cx="2609404" cy="28575"/>
          </a:xfrm>
          <a:custGeom>
            <a:avLst/>
            <a:gdLst/>
            <a:ahLst/>
            <a:cxnLst/>
            <a:rect l="l" t="t" r="r" b="b"/>
            <a:pathLst>
              <a:path w="2609404" h="28575">
                <a:moveTo>
                  <a:pt x="86360" y="0"/>
                </a:moveTo>
                <a:lnTo>
                  <a:pt x="61780" y="3572"/>
                </a:lnTo>
                <a:lnTo>
                  <a:pt x="51968" y="7144"/>
                </a:lnTo>
                <a:lnTo>
                  <a:pt x="44695" y="10716"/>
                </a:lnTo>
                <a:lnTo>
                  <a:pt x="38783" y="14288"/>
                </a:lnTo>
                <a:lnTo>
                  <a:pt x="33770" y="17859"/>
                </a:lnTo>
                <a:lnTo>
                  <a:pt x="29419" y="21431"/>
                </a:lnTo>
                <a:lnTo>
                  <a:pt x="25587" y="25003"/>
                </a:lnTo>
                <a:lnTo>
                  <a:pt x="22181" y="28575"/>
                </a:lnTo>
                <a:lnTo>
                  <a:pt x="2587222" y="28575"/>
                </a:lnTo>
                <a:lnTo>
                  <a:pt x="2583817" y="25003"/>
                </a:lnTo>
                <a:lnTo>
                  <a:pt x="2579985" y="21431"/>
                </a:lnTo>
                <a:lnTo>
                  <a:pt x="2575634" y="17859"/>
                </a:lnTo>
                <a:lnTo>
                  <a:pt x="2570621" y="14288"/>
                </a:lnTo>
                <a:lnTo>
                  <a:pt x="2564709" y="10716"/>
                </a:lnTo>
                <a:lnTo>
                  <a:pt x="2557436" y="7144"/>
                </a:lnTo>
                <a:lnTo>
                  <a:pt x="2547623" y="3572"/>
                </a:lnTo>
                <a:lnTo>
                  <a:pt x="2523043" y="0"/>
                </a:lnTo>
                <a:close/>
              </a:path>
            </a:pathLst>
          </a:custGeom>
          <a:solidFill>
            <a:srgbClr val="F3732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191696" y="1875383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FFF4EC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2863" y="1966549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91696" y="2290614"/>
            <a:ext cx="2493154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D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Impact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191696" y="2484834"/>
            <a:ext cx="2311834" cy="65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0"/>
              </a:lnSpc>
              <a:buNone/>
            </a:pPr>
            <a:r>
              <a:rPr lang="en-US" sz="820" dirty="0">
                <a:solidFill>
                  <a:srgbClr val="5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and Tableau dashboards translate statistical findings into business-ready insights: smarter notifications, targeted promotions, and inventory planning.</a:t>
            </a:r>
            <a:endParaRPr lang="en-US" sz="820" dirty="0"/>
          </a:p>
        </p:txBody>
      </p:sp>
      <p:sp>
        <p:nvSpPr>
          <p:cNvPr id="28" name="Text 23"/>
          <p:cNvSpPr/>
          <p:nvPr/>
        </p:nvSpPr>
        <p:spPr>
          <a:xfrm>
            <a:off x="6191696" y="3167063"/>
            <a:ext cx="1043657" cy="187821"/>
          </a:xfrm>
          <a:prstGeom prst="roundRect">
            <a:avLst>
              <a:gd name="adj" fmla="val 76408"/>
            </a:avLst>
          </a:prstGeom>
          <a:solidFill>
            <a:srgbClr val="FFF4EC"/>
          </a:solidFill>
          <a:ln/>
        </p:spPr>
        <p:txBody>
          <a:bodyPr wrap="none" lIns="71120" tIns="29210" rIns="71120" bIns="2921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680" dirty="0"/>
          </a:p>
        </p:txBody>
      </p:sp>
      <p:sp>
        <p:nvSpPr>
          <p:cNvPr id="29" name="Text 24"/>
          <p:cNvSpPr/>
          <p:nvPr/>
        </p:nvSpPr>
        <p:spPr>
          <a:xfrm>
            <a:off x="514350" y="3641824"/>
            <a:ext cx="8115300" cy="7590"/>
          </a:xfrm>
          <a:prstGeom prst="rect">
            <a:avLst/>
          </a:prstGeom>
          <a:solidFill>
            <a:srgbClr val="DDE4E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14350" y="3902125"/>
            <a:ext cx="228600" cy="7590"/>
          </a:xfrm>
          <a:prstGeom prst="rect">
            <a:avLst/>
          </a:prstGeom>
          <a:solidFill>
            <a:srgbClr val="F3732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1292715" y="3749725"/>
            <a:ext cx="6558570" cy="328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30"/>
              </a:lnSpc>
              <a:buNone/>
            </a:pPr>
            <a:r>
              <a:rPr lang="en-US" sz="820" i="1" dirty="0">
                <a:solidFill>
                  <a:srgbClr val="5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represents an applied synthesis of data analytics, machine learning, and business intelligence — core competencies of the ECPI AI/ML &amp; Data Analytics concentration.</a:t>
            </a:r>
            <a:endParaRPr lang="en-US" sz="820" dirty="0"/>
          </a:p>
        </p:txBody>
      </p:sp>
      <p:sp>
        <p:nvSpPr>
          <p:cNvPr id="32" name="Text 27"/>
          <p:cNvSpPr/>
          <p:nvPr/>
        </p:nvSpPr>
        <p:spPr>
          <a:xfrm>
            <a:off x="8401050" y="3902125"/>
            <a:ext cx="228600" cy="7590"/>
          </a:xfrm>
          <a:prstGeom prst="rect">
            <a:avLst/>
          </a:prstGeom>
          <a:solidFill>
            <a:srgbClr val="F37324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14350" y="4176564"/>
            <a:ext cx="8115300" cy="9525"/>
          </a:xfrm>
          <a:prstGeom prst="rect">
            <a:avLst/>
          </a:prstGeom>
          <a:solidFill>
            <a:srgbClr val="DDE4E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09987" y="4257080"/>
            <a:ext cx="449599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94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 (2026). Instacart scenario analysis [Course project]. ECPI University, SDC 486L.</a:t>
            </a:r>
            <a:endParaRPr lang="en-US" sz="680" dirty="0"/>
          </a:p>
        </p:txBody>
      </p:sp>
      <p:sp>
        <p:nvSpPr>
          <p:cNvPr id="37" name="Text 32"/>
          <p:cNvSpPr/>
          <p:nvPr/>
        </p:nvSpPr>
        <p:spPr>
          <a:xfrm>
            <a:off x="2723704" y="3098304"/>
            <a:ext cx="40005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5476726" y="3098304"/>
            <a:ext cx="40005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8229600" y="3098304"/>
            <a:ext cx="40005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F37324"/>
              </a:gs>
              <a:gs pos="100000">
                <a:srgbClr val="C45A1A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838051"/>
            <a:ext cx="9144000" cy="9525"/>
          </a:xfrm>
          <a:prstGeom prst="rect">
            <a:avLst/>
          </a:prstGeom>
          <a:solidFill>
            <a:srgbClr val="94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00620"/>
            <a:ext cx="317520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kern="0" spc="-30" dirty="0">
                <a:solidFill>
                  <a:srgbClr val="F3732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References</a:t>
            </a:r>
            <a:endParaRPr lang="en-US" sz="2030" dirty="0"/>
          </a:p>
        </p:txBody>
      </p:sp>
      <p:sp>
        <p:nvSpPr>
          <p:cNvPr id="9" name="Text 7"/>
          <p:cNvSpPr/>
          <p:nvPr/>
        </p:nvSpPr>
        <p:spPr>
          <a:xfrm>
            <a:off x="610195" y="1060549"/>
            <a:ext cx="14095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560" dirty="0"/>
          </a:p>
        </p:txBody>
      </p:sp>
      <p:sp>
        <p:nvSpPr>
          <p:cNvPr id="10" name="Text 8"/>
          <p:cNvSpPr/>
          <p:nvPr/>
        </p:nvSpPr>
        <p:spPr>
          <a:xfrm>
            <a:off x="738336" y="1046708"/>
            <a:ext cx="3734851" cy="28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(2017). </a:t>
            </a: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Instacart online grocery shopping dataset 2017.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5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https://www.instacart.com/datasets/grocery-shopping-2017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600670" y="1388120"/>
            <a:ext cx="3799284" cy="7590"/>
          </a:xfrm>
          <a:prstGeom prst="rect">
            <a:avLst/>
          </a:prstGeom>
          <a:solidFill>
            <a:srgbClr val="94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0195" y="1480542"/>
            <a:ext cx="14095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738336" y="1466701"/>
            <a:ext cx="3734851" cy="28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McNeil, A. R.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(n.d.). </a:t>
            </a: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market basket analysis.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Kaggle. </a:t>
            </a:r>
            <a:r>
              <a:rPr lang="en-US" sz="65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https://www.kaggle.com/c/instacart-market-basket-analysis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600670" y="1808113"/>
            <a:ext cx="3799284" cy="7590"/>
          </a:xfrm>
          <a:prstGeom prst="rect">
            <a:avLst/>
          </a:prstGeom>
          <a:solidFill>
            <a:srgbClr val="94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0195" y="1900535"/>
            <a:ext cx="14095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738336" y="1886694"/>
            <a:ext cx="3734851" cy="28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Yasser, H.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(n.d.). </a:t>
            </a: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online grocery basket analysis dataset.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Kaggle. </a:t>
            </a:r>
            <a:r>
              <a:rPr lang="en-US" sz="65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https://www.kaggle.com/datasets/yasserh/instacart-online-grocery-basket-analysis-dataset</a:t>
            </a:r>
            <a:endParaRPr lang="en-US" sz="730" dirty="0"/>
          </a:p>
        </p:txBody>
      </p:sp>
      <p:sp>
        <p:nvSpPr>
          <p:cNvPr id="17" name="Text 15"/>
          <p:cNvSpPr/>
          <p:nvPr/>
        </p:nvSpPr>
        <p:spPr>
          <a:xfrm>
            <a:off x="600670" y="2228106"/>
            <a:ext cx="3799284" cy="7590"/>
          </a:xfrm>
          <a:prstGeom prst="rect">
            <a:avLst/>
          </a:prstGeom>
          <a:solidFill>
            <a:srgbClr val="94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1195" y="1048048"/>
            <a:ext cx="417921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0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PROJECT REFERENCE</a:t>
            </a:r>
            <a:endParaRPr lang="en-US" sz="560" dirty="0"/>
          </a:p>
        </p:txBody>
      </p:sp>
      <p:sp>
        <p:nvSpPr>
          <p:cNvPr id="24" name="Text 22"/>
          <p:cNvSpPr/>
          <p:nvPr/>
        </p:nvSpPr>
        <p:spPr>
          <a:xfrm>
            <a:off x="4714875" y="1168598"/>
            <a:ext cx="3971925" cy="558998"/>
          </a:xfrm>
          <a:prstGeom prst="rect">
            <a:avLst/>
          </a:prstGeom>
          <a:solidFill>
            <a:srgbClr val="F37324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14875" y="1168598"/>
            <a:ext cx="9525" cy="558998"/>
          </a:xfrm>
          <a:prstGeom prst="rect">
            <a:avLst/>
          </a:prstGeom>
          <a:solidFill>
            <a:srgbClr val="F3732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720" y="1253430"/>
            <a:ext cx="14095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F37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4938861" y="1239589"/>
            <a:ext cx="3734851" cy="43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(2026). </a:t>
            </a: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Instacart scenario analysis: Understanding customer buying behavior in online grocery shopping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[Course project]. ECPI University, SDC 486L AI/ML and Advanced Data Analytics Lab.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4801195" y="1799927"/>
            <a:ext cx="417921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7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REPOSITORY</a:t>
            </a:r>
            <a:endParaRPr lang="en-US" sz="560" dirty="0"/>
          </a:p>
        </p:txBody>
      </p:sp>
      <p:sp>
        <p:nvSpPr>
          <p:cNvPr id="29" name="Text 27"/>
          <p:cNvSpPr/>
          <p:nvPr/>
        </p:nvSpPr>
        <p:spPr>
          <a:xfrm>
            <a:off x="4714875" y="1920478"/>
            <a:ext cx="3971925" cy="671959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14875" y="1920478"/>
            <a:ext cx="9525" cy="671959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10720" y="2005310"/>
            <a:ext cx="140955" cy="10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560" dirty="0"/>
          </a:p>
        </p:txBody>
      </p:sp>
      <p:sp>
        <p:nvSpPr>
          <p:cNvPr id="32" name="Text 30"/>
          <p:cNvSpPr/>
          <p:nvPr/>
        </p:nvSpPr>
        <p:spPr>
          <a:xfrm>
            <a:off x="4938861" y="1991469"/>
            <a:ext cx="3734851" cy="55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560" b="1" kern="0" spc="6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(2026). </a:t>
            </a: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SDC486L AI/ML and advanced data analytics lab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[GitHub repository]. </a:t>
            </a:r>
            <a:r>
              <a:rPr lang="en-US" sz="650" dirty="0">
                <a:solidFill>
                  <a:srgbClr val="7AB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https://github.com/Jepsum30/SDC486L-AI-ML-and-Advanced-Data-Analytics-Lab</a:t>
            </a:r>
            <a:endParaRPr lang="en-US" sz="730" dirty="0"/>
          </a:p>
        </p:txBody>
      </p:sp>
      <p:sp>
        <p:nvSpPr>
          <p:cNvPr id="42" name="Text 39"/>
          <p:cNvSpPr/>
          <p:nvPr/>
        </p:nvSpPr>
        <p:spPr>
          <a:xfrm>
            <a:off x="4838700" y="4594027"/>
            <a:ext cx="3724275" cy="9525"/>
          </a:xfrm>
          <a:prstGeom prst="rect">
            <a:avLst/>
          </a:prstGeom>
          <a:solidFill>
            <a:srgbClr val="94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060880" y="3719067"/>
            <a:ext cx="12139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7AB8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ECPI University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060879" y="3869681"/>
            <a:ext cx="121391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486L · AI/ML &amp; Data Analytics</a:t>
            </a:r>
            <a:endParaRPr lang="en-US" sz="560" dirty="0"/>
          </a:p>
        </p:txBody>
      </p:sp>
      <p:sp>
        <p:nvSpPr>
          <p:cNvPr id="45" name="Text 42"/>
          <p:cNvSpPr/>
          <p:nvPr/>
        </p:nvSpPr>
        <p:spPr>
          <a:xfrm>
            <a:off x="0" y="4885730"/>
            <a:ext cx="9144000" cy="25777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0" y="4885730"/>
            <a:ext cx="9144000" cy="9525"/>
          </a:xfrm>
          <a:prstGeom prst="rect">
            <a:avLst/>
          </a:prstGeom>
          <a:solidFill>
            <a:srgbClr val="94AFC8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529090" y="4960293"/>
            <a:ext cx="231061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Zimmerman-Gibson, J. (2026) · ECPI University · SDC 486L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2882</Words>
  <Application>Microsoft Office PowerPoint</Application>
  <PresentationFormat>On-screen Show (16:9)</PresentationFormat>
  <Paragraphs>447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VB-Zimmerman-Gibson, Joshua (Virginia Beach)</cp:lastModifiedBy>
  <cp:revision>2</cp:revision>
  <dcterms:created xsi:type="dcterms:W3CDTF">2026-06-11T22:44:37Z</dcterms:created>
  <dcterms:modified xsi:type="dcterms:W3CDTF">2026-06-11T23:03:56Z</dcterms:modified>
</cp:coreProperties>
</file>